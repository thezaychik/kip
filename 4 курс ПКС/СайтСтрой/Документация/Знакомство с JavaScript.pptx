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6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8" r:id="rId32"/>
    <p:sldId id="289" r:id="rId33"/>
    <p:sldId id="290" r:id="rId34"/>
    <p:sldId id="287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10" r:id="rId47"/>
    <p:sldId id="311" r:id="rId48"/>
    <p:sldId id="302" r:id="rId49"/>
    <p:sldId id="303" r:id="rId50"/>
    <p:sldId id="304" r:id="rId51"/>
    <p:sldId id="305" r:id="rId52"/>
    <p:sldId id="306" r:id="rId53"/>
    <p:sldId id="307" r:id="rId54"/>
    <p:sldId id="309" r:id="rId5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3" autoAdjust="0"/>
    <p:restoredTop sz="94694"/>
  </p:normalViewPr>
  <p:slideViewPr>
    <p:cSldViewPr snapToGrid="0">
      <p:cViewPr>
        <p:scale>
          <a:sx n="96" d="100"/>
          <a:sy n="96" d="100"/>
        </p:scale>
        <p:origin x="1136" y="68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A11D86-5509-4CA5-89F0-B66C0D78C04D}" type="datetimeFigureOut">
              <a:rPr lang="ru-RU" smtClean="0"/>
              <a:t>24.09.2019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FBDE08-1315-46F9-B21B-8B6CDDC8D1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1209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var1="7"; var2="10"; var3="8"; var4="25"; var5="30";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BDE08-1315-46F9-B21B-8B6CDDC8D15A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2407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 события </a:t>
            </a:r>
            <a:r>
              <a:rPr lang="ru-R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onclick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будет выполнен после того, как пользователь щелкнет на элемент, к которому привязано это событие.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 события </a:t>
            </a:r>
            <a:r>
              <a:rPr lang="ru-R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onload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будет выполнен при полной загрузке страницы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BDE08-1315-46F9-B21B-8B6CDDC8D15A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561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События </a:t>
            </a:r>
            <a:r>
              <a:rPr lang="ru-R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onmouseover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 </a:t>
            </a:r>
            <a:r>
              <a:rPr lang="ru-R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onmouseout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часто используются, чтобы создать "анимированные" кнопки.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 события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onmouseover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будет выполнен, когда на элемент, к которому привязано событие, будет наведен курсор мыши.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 события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onmouseout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будет выполнен при выведении курсора мыши за пределы элемента.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BDE08-1315-46F9-B21B-8B6CDDC8D15A}" type="slidenum">
              <a:rPr lang="ru-RU" smtClean="0"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21731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/>
              <a:t>Для выполнения кода по расписанию в </a:t>
            </a:r>
            <a:r>
              <a:rPr lang="ru-RU" sz="1200" dirty="0" err="1"/>
              <a:t>JavaScript</a:t>
            </a:r>
            <a:r>
              <a:rPr lang="ru-RU" sz="1200" dirty="0"/>
              <a:t> предусмотрено два специальных метода: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BDE08-1315-46F9-B21B-8B6CDDC8D15A}" type="slidenum">
              <a:rPr lang="ru-RU" smtClean="0"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1698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/>
              <a:t>Для выполнения кода по расписанию в </a:t>
            </a:r>
            <a:r>
              <a:rPr lang="ru-RU" sz="1200" dirty="0" err="1"/>
              <a:t>JavaScript</a:t>
            </a:r>
            <a:r>
              <a:rPr lang="ru-RU" sz="1200" dirty="0"/>
              <a:t> предусмотрено два специальных метода: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BDE08-1315-46F9-B21B-8B6CDDC8D15A}" type="slidenum">
              <a:rPr lang="ru-RU" smtClean="0"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29583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Файл</a:t>
            </a:r>
            <a:r>
              <a:rPr lang="ru-RU" baseline="0" dirty="0"/>
              <a:t> </a:t>
            </a:r>
            <a:r>
              <a:rPr lang="en-US" baseline="0" dirty="0"/>
              <a:t>prov_form.html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BDE08-1315-46F9-B21B-8B6CDDC8D15A}" type="slidenum">
              <a:rPr lang="ru-RU" smtClean="0"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8550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2D73511D-1A28-4235-9FA8-636CAEFB47FA}" type="datetimeFigureOut">
              <a:rPr lang="ru-RU" smtClean="0"/>
              <a:t>24.09.2019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6DB4FDC-4CA5-4D26-AA32-CAFC3A0FE828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8721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3511D-1A28-4235-9FA8-636CAEFB47FA}" type="datetimeFigureOut">
              <a:rPr lang="ru-RU" smtClean="0"/>
              <a:t>24.09.2019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4FDC-4CA5-4D26-AA32-CAFC3A0FE8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5133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3511D-1A28-4235-9FA8-636CAEFB47FA}" type="datetimeFigureOut">
              <a:rPr lang="ru-RU" smtClean="0"/>
              <a:t>24.09.2019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4FDC-4CA5-4D26-AA32-CAFC3A0FE828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3798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3511D-1A28-4235-9FA8-636CAEFB47FA}" type="datetimeFigureOut">
              <a:rPr lang="ru-RU" smtClean="0"/>
              <a:t>24.09.2019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4FDC-4CA5-4D26-AA32-CAFC3A0FE8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2903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3511D-1A28-4235-9FA8-636CAEFB47FA}" type="datetimeFigureOut">
              <a:rPr lang="ru-RU" smtClean="0"/>
              <a:t>24.09.2019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4FDC-4CA5-4D26-AA32-CAFC3A0FE828}" type="slidenum">
              <a:rPr lang="ru-RU" smtClean="0"/>
              <a:t>‹#›</a:t>
            </a:fld>
            <a:endParaRPr lang="ru-R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834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3511D-1A28-4235-9FA8-636CAEFB47FA}" type="datetimeFigureOut">
              <a:rPr lang="ru-RU" smtClean="0"/>
              <a:t>24.09.2019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4FDC-4CA5-4D26-AA32-CAFC3A0FE828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4978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3511D-1A28-4235-9FA8-636CAEFB47FA}" type="datetimeFigureOut">
              <a:rPr lang="ru-RU" smtClean="0"/>
              <a:t>24.09.2019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4FDC-4CA5-4D26-AA32-CAFC3A0FE8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2236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3511D-1A28-4235-9FA8-636CAEFB47FA}" type="datetimeFigureOut">
              <a:rPr lang="ru-RU" smtClean="0"/>
              <a:t>24.09.2019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4FDC-4CA5-4D26-AA32-CAFC3A0FE828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8869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3511D-1A28-4235-9FA8-636CAEFB47FA}" type="datetimeFigureOut">
              <a:rPr lang="ru-RU" smtClean="0"/>
              <a:t>24.09.2019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4FDC-4CA5-4D26-AA32-CAFC3A0FE8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874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3511D-1A28-4235-9FA8-636CAEFB47FA}" type="datetimeFigureOut">
              <a:rPr lang="ru-RU" smtClean="0"/>
              <a:t>24.09.2019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4FDC-4CA5-4D26-AA32-CAFC3A0FE8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640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3511D-1A28-4235-9FA8-636CAEFB47FA}" type="datetimeFigureOut">
              <a:rPr lang="ru-RU" smtClean="0"/>
              <a:t>24.09.2019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4FDC-4CA5-4D26-AA32-CAFC3A0FE828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0068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3511D-1A28-4235-9FA8-636CAEFB47FA}" type="datetimeFigureOut">
              <a:rPr lang="ru-RU" smtClean="0"/>
              <a:t>24.09.2019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4FDC-4CA5-4D26-AA32-CAFC3A0FE828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89222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3511D-1A28-4235-9FA8-636CAEFB47FA}" type="datetimeFigureOut">
              <a:rPr lang="ru-RU" smtClean="0"/>
              <a:t>24.09.2019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4FDC-4CA5-4D26-AA32-CAFC3A0FE8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45938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3511D-1A28-4235-9FA8-636CAEFB47FA}" type="datetimeFigureOut">
              <a:rPr lang="ru-RU" smtClean="0"/>
              <a:t>24.09.2019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4FDC-4CA5-4D26-AA32-CAFC3A0FE828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1472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3511D-1A28-4235-9FA8-636CAEFB47FA}" type="datetimeFigureOut">
              <a:rPr lang="ru-RU" smtClean="0"/>
              <a:t>24.09.2019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4FDC-4CA5-4D26-AA32-CAFC3A0FE828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80919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3511D-1A28-4235-9FA8-636CAEFB47FA}" type="datetimeFigureOut">
              <a:rPr lang="ru-RU" smtClean="0"/>
              <a:t>24.09.2019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4FDC-4CA5-4D26-AA32-CAFC3A0FE828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16094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3511D-1A28-4235-9FA8-636CAEFB47FA}" type="datetimeFigureOut">
              <a:rPr lang="ru-RU" smtClean="0"/>
              <a:t>24.09.2019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B4FDC-4CA5-4D26-AA32-CAFC3A0FE828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2539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D73511D-1A28-4235-9FA8-636CAEFB47FA}" type="datetimeFigureOut">
              <a:rPr lang="ru-RU" smtClean="0"/>
              <a:t>24.09.2019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6DB4FDC-4CA5-4D26-AA32-CAFC3A0FE8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1337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Знакомство с </a:t>
            </a:r>
            <a:r>
              <a:rPr lang="ru-RU" b="1" dirty="0" err="1"/>
              <a:t>JavaScript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Пестов А.И.</a:t>
            </a:r>
          </a:p>
        </p:txBody>
      </p:sp>
    </p:spTree>
    <p:extLst>
      <p:ext uri="{BB962C8B-B14F-4D97-AF65-F5344CB8AC3E}">
        <p14:creationId xmlns:p14="http://schemas.microsoft.com/office/powerpoint/2010/main" val="461233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Интерактивные веб-страницы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err="1"/>
              <a:t>function</a:t>
            </a:r>
            <a:r>
              <a:rPr lang="ru-RU" dirty="0"/>
              <a:t> fun1(){</a:t>
            </a:r>
          </a:p>
          <a:p>
            <a:r>
              <a:rPr lang="ru-RU" dirty="0" err="1"/>
              <a:t>alert</a:t>
            </a:r>
            <a:r>
              <a:rPr lang="ru-RU" dirty="0"/>
              <a:t>("Данное сообщение было выведено с помощью </a:t>
            </a:r>
            <a:r>
              <a:rPr lang="ru-RU" dirty="0" err="1"/>
              <a:t>JavaScript</a:t>
            </a:r>
            <a:r>
              <a:rPr lang="ru-RU" dirty="0"/>
              <a:t>.");</a:t>
            </a:r>
          </a:p>
          <a:p>
            <a:r>
              <a:rPr lang="ru-RU" dirty="0"/>
              <a:t>}</a:t>
            </a:r>
          </a:p>
          <a:p>
            <a:r>
              <a:rPr lang="ru-RU" dirty="0" err="1"/>
              <a:t>function</a:t>
            </a:r>
            <a:r>
              <a:rPr lang="ru-RU" dirty="0"/>
              <a:t> fun2(){</a:t>
            </a:r>
          </a:p>
          <a:p>
            <a:r>
              <a:rPr lang="ru-RU" dirty="0" err="1"/>
              <a:t>document.getElementById</a:t>
            </a:r>
            <a:r>
              <a:rPr lang="ru-RU" dirty="0"/>
              <a:t>("par1").</a:t>
            </a:r>
            <a:r>
              <a:rPr lang="ru-RU" dirty="0" err="1"/>
              <a:t>innerHTML</a:t>
            </a:r>
            <a:r>
              <a:rPr lang="ru-RU" dirty="0"/>
              <a:t>="Содержимое данного элемента "+</a:t>
            </a:r>
          </a:p>
          <a:p>
            <a:r>
              <a:rPr lang="ru-RU" dirty="0"/>
              <a:t>"было изменено с помощью </a:t>
            </a:r>
            <a:r>
              <a:rPr lang="ru-RU" dirty="0" err="1"/>
              <a:t>JavaScript</a:t>
            </a:r>
            <a:r>
              <a:rPr lang="ru-RU" dirty="0"/>
              <a:t>.";</a:t>
            </a:r>
          </a:p>
          <a:p>
            <a:r>
              <a:rPr lang="ru-RU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84624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Что можно делать с помощью </a:t>
            </a:r>
            <a:r>
              <a:rPr lang="ru-RU" b="1" dirty="0" err="1"/>
              <a:t>JavaScript</a:t>
            </a:r>
            <a:r>
              <a:rPr lang="ru-RU" b="1" dirty="0"/>
              <a:t>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ru-RU" dirty="0"/>
              <a:t>Динамически изменять содержимое веб-страниц;</a:t>
            </a:r>
          </a:p>
          <a:p>
            <a:pPr lvl="0"/>
            <a:r>
              <a:rPr lang="ru-RU" dirty="0"/>
              <a:t>Привязывать к элементам обработчики событий (функции которые выполнят свой код только после того, как совершатся определенные действия);</a:t>
            </a:r>
          </a:p>
          <a:p>
            <a:pPr lvl="0"/>
            <a:r>
              <a:rPr lang="ru-RU" dirty="0"/>
              <a:t>Выполнять код через заданные промежутки времени;</a:t>
            </a:r>
          </a:p>
          <a:p>
            <a:pPr lvl="0"/>
            <a:r>
              <a:rPr lang="ru-RU" dirty="0"/>
              <a:t>Управлять поведением браузера (</a:t>
            </a:r>
            <a:r>
              <a:rPr lang="ru-RU" i="1" dirty="0"/>
              <a:t>открывать новые окна, загружать указанные документы и т.д.</a:t>
            </a:r>
            <a:r>
              <a:rPr lang="ru-RU" dirty="0"/>
              <a:t>);</a:t>
            </a:r>
          </a:p>
          <a:p>
            <a:pPr lvl="0"/>
            <a:r>
              <a:rPr lang="ru-RU" dirty="0"/>
              <a:t>Создавать и считывать </a:t>
            </a:r>
            <a:r>
              <a:rPr lang="ru-RU" dirty="0" err="1"/>
              <a:t>cookies</a:t>
            </a:r>
            <a:r>
              <a:rPr lang="ru-RU" dirty="0"/>
              <a:t>;</a:t>
            </a:r>
          </a:p>
          <a:p>
            <a:pPr lvl="0"/>
            <a:r>
              <a:rPr lang="ru-RU" dirty="0"/>
              <a:t>Определять, какой браузер использует пользователь (</a:t>
            </a:r>
            <a:r>
              <a:rPr lang="ru-RU" i="1" dirty="0"/>
              <a:t>также можно определить ОС, разрешение экрана, предыдущие страницы, которые посещал пользователь и т.д.</a:t>
            </a:r>
            <a:r>
              <a:rPr lang="ru-RU" dirty="0"/>
              <a:t>);</a:t>
            </a:r>
          </a:p>
          <a:p>
            <a:pPr lvl="0"/>
            <a:r>
              <a:rPr lang="ru-RU" dirty="0"/>
              <a:t>Проверять данные форм перед отправкой их на сервер и многое другое.</a:t>
            </a:r>
          </a:p>
        </p:txBody>
      </p:sp>
    </p:spTree>
    <p:extLst>
      <p:ext uri="{BB962C8B-B14F-4D97-AF65-F5344CB8AC3E}">
        <p14:creationId xmlns:p14="http://schemas.microsoft.com/office/powerpoint/2010/main" val="9261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Добавление </a:t>
            </a:r>
            <a:r>
              <a:rPr lang="ru-RU" b="1" dirty="0" err="1"/>
              <a:t>JavaScript</a:t>
            </a:r>
            <a:r>
              <a:rPr lang="ru-RU" b="1" dirty="0"/>
              <a:t> на веб-страницы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&lt;script type="text/</a:t>
            </a:r>
            <a:r>
              <a:rPr lang="en-US" dirty="0" err="1"/>
              <a:t>javascript</a:t>
            </a:r>
            <a:r>
              <a:rPr lang="en-US" dirty="0"/>
              <a:t>"&gt;</a:t>
            </a:r>
            <a:endParaRPr lang="ru-RU" dirty="0"/>
          </a:p>
          <a:p>
            <a:r>
              <a:rPr lang="ru-RU" dirty="0" err="1"/>
              <a:t>document.write</a:t>
            </a:r>
            <a:r>
              <a:rPr lang="ru-RU" dirty="0"/>
              <a:t>("Данный текст выведен на страницу с помощью </a:t>
            </a:r>
            <a:r>
              <a:rPr lang="ru-RU" dirty="0" err="1"/>
              <a:t>JavaScript</a:t>
            </a:r>
            <a:r>
              <a:rPr lang="ru-RU" dirty="0"/>
              <a:t>.");</a:t>
            </a:r>
          </a:p>
          <a:p>
            <a:r>
              <a:rPr lang="ru-RU" dirty="0"/>
              <a:t>&lt;/</a:t>
            </a:r>
            <a:r>
              <a:rPr lang="ru-RU" dirty="0" err="1"/>
              <a:t>script</a:t>
            </a:r>
            <a:r>
              <a:rPr lang="ru-RU" dirty="0"/>
              <a:t>&gt;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8603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Комментарии к примеру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ru-RU" dirty="0"/>
              <a:t>Атрибут </a:t>
            </a:r>
            <a:r>
              <a:rPr lang="ru-RU" b="1" dirty="0" err="1"/>
              <a:t>type</a:t>
            </a:r>
            <a:r>
              <a:rPr lang="ru-RU" dirty="0"/>
              <a:t> тэга &lt;</a:t>
            </a:r>
            <a:r>
              <a:rPr lang="ru-RU" dirty="0" err="1"/>
              <a:t>script</a:t>
            </a:r>
            <a:r>
              <a:rPr lang="ru-RU" dirty="0"/>
              <a:t>&gt; указывает браузеру какой скриптовый язык мы встраиваем. В случае если это </a:t>
            </a:r>
            <a:r>
              <a:rPr lang="ru-RU" dirty="0" err="1"/>
              <a:t>JavaScript</a:t>
            </a:r>
            <a:r>
              <a:rPr lang="ru-RU" dirty="0"/>
              <a:t> атрибут </a:t>
            </a:r>
            <a:r>
              <a:rPr lang="ru-RU" dirty="0" err="1"/>
              <a:t>type</a:t>
            </a:r>
            <a:r>
              <a:rPr lang="ru-RU" dirty="0"/>
              <a:t> должен иметь значение </a:t>
            </a:r>
            <a:r>
              <a:rPr lang="ru-RU" b="1" dirty="0" err="1"/>
              <a:t>text</a:t>
            </a:r>
            <a:r>
              <a:rPr lang="ru-RU" b="1" dirty="0"/>
              <a:t>/</a:t>
            </a:r>
            <a:r>
              <a:rPr lang="ru-RU" b="1" dirty="0" err="1"/>
              <a:t>javascript</a:t>
            </a:r>
            <a:r>
              <a:rPr lang="ru-RU" dirty="0"/>
              <a:t>;</a:t>
            </a:r>
          </a:p>
          <a:p>
            <a:pPr lvl="0"/>
            <a:r>
              <a:rPr lang="ru-RU" b="1" dirty="0" err="1"/>
              <a:t>document.write</a:t>
            </a:r>
            <a:r>
              <a:rPr lang="ru-RU" b="1" dirty="0"/>
              <a:t>()</a:t>
            </a:r>
            <a:r>
              <a:rPr lang="ru-RU" dirty="0"/>
              <a:t> - это команда </a:t>
            </a:r>
            <a:r>
              <a:rPr lang="ru-RU" dirty="0" err="1"/>
              <a:t>JavaScript</a:t>
            </a:r>
            <a:r>
              <a:rPr lang="ru-RU" dirty="0"/>
              <a:t> позволяющая выводить произвольное содержимое на страницу;</a:t>
            </a:r>
          </a:p>
          <a:p>
            <a:pPr lvl="0"/>
            <a:r>
              <a:rPr lang="ru-RU" dirty="0"/>
              <a:t>Разместив </a:t>
            </a:r>
            <a:r>
              <a:rPr lang="ru-RU" dirty="0" err="1"/>
              <a:t>document.write</a:t>
            </a:r>
            <a:r>
              <a:rPr lang="ru-RU" dirty="0"/>
              <a:t>() между тэгами &lt;</a:t>
            </a:r>
            <a:r>
              <a:rPr lang="ru-RU" dirty="0" err="1"/>
              <a:t>script</a:t>
            </a:r>
            <a:r>
              <a:rPr lang="ru-RU" dirty="0"/>
              <a:t>&gt; и &lt;/</a:t>
            </a:r>
            <a:r>
              <a:rPr lang="ru-RU" dirty="0" err="1"/>
              <a:t>script</a:t>
            </a:r>
            <a:r>
              <a:rPr lang="ru-RU" dirty="0"/>
              <a:t>&gt; мы сообщаем браузеру обрабатывать ее как команду </a:t>
            </a:r>
            <a:r>
              <a:rPr lang="ru-RU" dirty="0" err="1"/>
              <a:t>JavaScript</a:t>
            </a:r>
            <a:r>
              <a:rPr lang="ru-RU" dirty="0"/>
              <a:t>, поэтому после загрузки страницы браузер выведет: </a:t>
            </a:r>
            <a:r>
              <a:rPr lang="ru-RU" i="1" dirty="0"/>
              <a:t>"Данный текст выведен на страницу с помощью </a:t>
            </a:r>
            <a:r>
              <a:rPr lang="ru-RU" i="1" dirty="0" err="1"/>
              <a:t>JavaScript</a:t>
            </a:r>
            <a:r>
              <a:rPr lang="ru-RU" i="1" dirty="0"/>
              <a:t>."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512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Задание 1.</a:t>
            </a:r>
            <a:r>
              <a:rPr lang="ru-RU" dirty="0"/>
              <a:t> 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Выведите следующие строчки текста на страницу с помощью </a:t>
            </a:r>
            <a:r>
              <a:rPr lang="ru-RU" dirty="0" err="1"/>
              <a:t>JavaScript</a:t>
            </a:r>
            <a:r>
              <a:rPr lang="ru-RU" dirty="0"/>
              <a:t>: </a:t>
            </a:r>
            <a:br>
              <a:rPr lang="ru-RU" dirty="0"/>
            </a:br>
            <a:r>
              <a:rPr lang="ru-RU" dirty="0"/>
              <a:t>1. Лес — часть поверхности Земного шара, покрытая древесными растениями. </a:t>
            </a:r>
            <a:br>
              <a:rPr lang="ru-RU" dirty="0"/>
            </a:br>
            <a:r>
              <a:rPr lang="ru-RU" dirty="0"/>
              <a:t>2. В настоящее время леса занимают около трети площади суши.</a:t>
            </a:r>
            <a:br>
              <a:rPr lang="ru-RU" dirty="0"/>
            </a:br>
            <a:r>
              <a:rPr lang="ru-RU" dirty="0"/>
              <a:t>3. Площадь леса в России составляет 8 млн </a:t>
            </a:r>
            <a:r>
              <a:rPr lang="ru-RU" dirty="0" err="1"/>
              <a:t>кв.км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0491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err="1"/>
              <a:t>JavaScript</a:t>
            </a:r>
            <a:r>
              <a:rPr lang="ru-RU" b="1" dirty="0"/>
              <a:t> в &lt;</a:t>
            </a:r>
            <a:r>
              <a:rPr lang="ru-RU" b="1" dirty="0" err="1"/>
              <a:t>head</a:t>
            </a:r>
            <a:r>
              <a:rPr lang="ru-RU" b="1" dirty="0"/>
              <a:t>&gt;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634006"/>
          </a:xfrm>
        </p:spPr>
        <p:txBody>
          <a:bodyPr>
            <a:noAutofit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dirty="0"/>
              <a:t>&lt;html&gt;</a:t>
            </a:r>
            <a:endParaRPr lang="ru-RU" sz="1600" dirty="0"/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dirty="0"/>
              <a:t>&lt;head&gt;</a:t>
            </a:r>
            <a:endParaRPr lang="ru-RU" sz="1600" dirty="0"/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dirty="0"/>
              <a:t>&lt;script type='text/</a:t>
            </a:r>
            <a:r>
              <a:rPr lang="en-US" sz="1600" dirty="0" err="1"/>
              <a:t>javascript</a:t>
            </a:r>
            <a:r>
              <a:rPr lang="en-US" sz="1600" dirty="0"/>
              <a:t>'&gt;</a:t>
            </a:r>
            <a:endParaRPr lang="ru-RU" sz="1600" dirty="0"/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sz="1600" dirty="0" err="1"/>
              <a:t>function</a:t>
            </a:r>
            <a:r>
              <a:rPr lang="ru-RU" sz="1600" dirty="0"/>
              <a:t> </a:t>
            </a:r>
            <a:r>
              <a:rPr lang="ru-RU" sz="1600" dirty="0" err="1"/>
              <a:t>example</a:t>
            </a:r>
            <a:r>
              <a:rPr lang="ru-RU" sz="1600" dirty="0"/>
              <a:t>(){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sz="1600" dirty="0"/>
              <a:t>   </a:t>
            </a:r>
            <a:r>
              <a:rPr lang="ru-RU" sz="1600" dirty="0" err="1"/>
              <a:t>alert</a:t>
            </a:r>
            <a:r>
              <a:rPr lang="ru-RU" sz="1600" dirty="0"/>
              <a:t>('Если Вы видите это сообщение, значит страница была полностью загружена.');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dirty="0"/>
              <a:t>}</a:t>
            </a:r>
            <a:endParaRPr lang="ru-RU" sz="1600" dirty="0"/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dirty="0"/>
              <a:t>&lt;/script&gt;</a:t>
            </a:r>
            <a:endParaRPr lang="ru-RU" sz="1600" dirty="0"/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dirty="0"/>
              <a:t>&lt;/head&gt;</a:t>
            </a:r>
            <a:endParaRPr lang="ru-RU" sz="1600" dirty="0"/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dirty="0"/>
              <a:t>&lt;body </a:t>
            </a:r>
            <a:r>
              <a:rPr lang="en-US" sz="1600" dirty="0" err="1"/>
              <a:t>onload</a:t>
            </a:r>
            <a:r>
              <a:rPr lang="en-US" sz="1600" dirty="0"/>
              <a:t>='example()'&gt;</a:t>
            </a:r>
            <a:endParaRPr lang="ru-RU" sz="1600" dirty="0"/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sz="1600" dirty="0"/>
              <a:t>&lt;/</a:t>
            </a:r>
            <a:r>
              <a:rPr lang="ru-RU" sz="1600" dirty="0" err="1"/>
              <a:t>body</a:t>
            </a:r>
            <a:r>
              <a:rPr lang="ru-RU" sz="1600" dirty="0"/>
              <a:t>&gt;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sz="1600" dirty="0"/>
              <a:t>&lt;/</a:t>
            </a:r>
            <a:r>
              <a:rPr lang="ru-RU" sz="1600" dirty="0" err="1"/>
              <a:t>html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100109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JavaScript</a:t>
            </a:r>
            <a:r>
              <a:rPr lang="ru-RU" b="1" dirty="0"/>
              <a:t> в &lt;</a:t>
            </a:r>
            <a:r>
              <a:rPr lang="ru-RU" b="1" dirty="0" err="1"/>
              <a:t>body</a:t>
            </a:r>
            <a:r>
              <a:rPr lang="ru-RU" b="1" dirty="0"/>
              <a:t>&gt;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&lt;</a:t>
            </a:r>
            <a:r>
              <a:rPr lang="ru-RU" dirty="0" err="1"/>
              <a:t>html</a:t>
            </a:r>
            <a:r>
              <a:rPr lang="ru-RU" dirty="0"/>
              <a:t>&gt;</a:t>
            </a:r>
          </a:p>
          <a:p>
            <a:pPr marL="0" indent="0">
              <a:buNone/>
            </a:pPr>
            <a:r>
              <a:rPr lang="ru-RU" dirty="0"/>
              <a:t>&lt;</a:t>
            </a:r>
            <a:r>
              <a:rPr lang="ru-RU" dirty="0" err="1"/>
              <a:t>body</a:t>
            </a:r>
            <a:r>
              <a:rPr lang="ru-RU" dirty="0"/>
              <a:t>&gt;</a:t>
            </a:r>
          </a:p>
          <a:p>
            <a:pPr marL="0" indent="0">
              <a:buNone/>
            </a:pPr>
            <a:r>
              <a:rPr lang="ru-RU" dirty="0"/>
              <a:t>&lt;p&gt;Данный текст присутствовал на странице.&lt;/p&gt;</a:t>
            </a:r>
          </a:p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err="1"/>
              <a:t>hr</a:t>
            </a:r>
            <a:r>
              <a:rPr lang="en-US" dirty="0"/>
              <a:t> /&gt;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&lt;script type='text/</a:t>
            </a:r>
            <a:r>
              <a:rPr lang="en-US" dirty="0" err="1"/>
              <a:t>javascript</a:t>
            </a:r>
            <a:r>
              <a:rPr lang="en-US" dirty="0"/>
              <a:t>'&gt;</a:t>
            </a:r>
            <a:endParaRPr lang="ru-RU" dirty="0"/>
          </a:p>
          <a:p>
            <a:pPr marL="0" indent="0">
              <a:buNone/>
            </a:pPr>
            <a:r>
              <a:rPr lang="ru-RU" dirty="0" err="1"/>
              <a:t>document.write</a:t>
            </a:r>
            <a:r>
              <a:rPr lang="ru-RU" dirty="0"/>
              <a:t>('Данный текст выведен на страницу с помощью </a:t>
            </a:r>
            <a:r>
              <a:rPr lang="en-US" dirty="0"/>
              <a:t>JavaScript.');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&lt;/script&gt;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&lt;/body&gt;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&lt;/html&gt;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4124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Подключение внешних скриптов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&lt;!-- Содержимое файла ex.js: '</a:t>
            </a:r>
            <a:r>
              <a:rPr lang="ru-RU" dirty="0" err="1"/>
              <a:t>document.write</a:t>
            </a:r>
            <a:r>
              <a:rPr lang="ru-RU" dirty="0"/>
              <a:t>("Данный текст был выведен на страницу с помощью </a:t>
            </a:r>
            <a:r>
              <a:rPr lang="ru-RU" dirty="0" err="1"/>
              <a:t>JavaScript</a:t>
            </a:r>
            <a:r>
              <a:rPr lang="ru-RU" dirty="0"/>
              <a:t>.")' --&gt;</a:t>
            </a:r>
          </a:p>
          <a:p>
            <a:pPr marL="0" indent="0">
              <a:buNone/>
            </a:pPr>
            <a:r>
              <a:rPr lang="en-US" dirty="0"/>
              <a:t>&lt;script type="text/</a:t>
            </a:r>
            <a:r>
              <a:rPr lang="en-US" dirty="0" err="1"/>
              <a:t>javascript</a:t>
            </a:r>
            <a:r>
              <a:rPr lang="en-US" dirty="0"/>
              <a:t>" </a:t>
            </a:r>
            <a:r>
              <a:rPr lang="en-US" dirty="0" err="1"/>
              <a:t>src</a:t>
            </a:r>
            <a:r>
              <a:rPr lang="en-US" dirty="0"/>
              <a:t>="ex.js"&gt;&lt;/script&gt;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642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Задание 2.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Во внешнем файле secred.js задан скрипт, который выводит на страницу секретный код. Подключите файл к странице и узнайте код.</a:t>
            </a:r>
          </a:p>
        </p:txBody>
      </p:sp>
    </p:spTree>
    <p:extLst>
      <p:ext uri="{BB962C8B-B14F-4D97-AF65-F5344CB8AC3E}">
        <p14:creationId xmlns:p14="http://schemas.microsoft.com/office/powerpoint/2010/main" val="2601592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Обратите внимание:</a:t>
            </a:r>
            <a:r>
              <a:rPr lang="ru-RU" dirty="0"/>
              <a:t> 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</a:t>
            </a:r>
            <a:r>
              <a:rPr lang="ru-RU" dirty="0" err="1"/>
              <a:t>JavaScript</a:t>
            </a:r>
            <a:r>
              <a:rPr lang="ru-RU" dirty="0"/>
              <a:t> необязательно явно указывать точку запятой после каждой команды</a:t>
            </a:r>
          </a:p>
          <a:p>
            <a:r>
              <a:rPr lang="ru-RU" dirty="0"/>
              <a:t>В отличие от HTML </a:t>
            </a:r>
            <a:r>
              <a:rPr lang="ru-RU" dirty="0" err="1"/>
              <a:t>JavaScript</a:t>
            </a:r>
            <a:r>
              <a:rPr lang="ru-RU" dirty="0"/>
              <a:t> чувствителен к регистру букв</a:t>
            </a:r>
          </a:p>
          <a:p>
            <a:r>
              <a:rPr lang="ru-RU" dirty="0"/>
              <a:t>Команды исполняются браузером сверху вниз</a:t>
            </a:r>
          </a:p>
          <a:p>
            <a:r>
              <a:rPr lang="ru-RU" dirty="0" err="1"/>
              <a:t>JavaScript</a:t>
            </a:r>
            <a:r>
              <a:rPr lang="ru-RU" dirty="0"/>
              <a:t> команды могут объединяться в блоки </a:t>
            </a:r>
            <a:r>
              <a:rPr lang="en-US" dirty="0"/>
              <a:t>{}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39551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JavaScript</a:t>
            </a:r>
            <a:r>
              <a:rPr lang="ru-RU" b="1" dirty="0"/>
              <a:t> комментарии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Короткие комментарии</a:t>
            </a:r>
            <a:r>
              <a:rPr lang="ru-RU" dirty="0"/>
              <a:t> - это комментарии, длина которых не превышает длину строки. Все что находится после символа </a:t>
            </a:r>
            <a:r>
              <a:rPr lang="ru-RU" b="1" dirty="0"/>
              <a:t>//</a:t>
            </a:r>
            <a:r>
              <a:rPr lang="ru-RU" dirty="0"/>
              <a:t> до конца строки будет являться коротким комментарием.</a:t>
            </a:r>
          </a:p>
          <a:p>
            <a:r>
              <a:rPr lang="ru-RU" b="1" dirty="0"/>
              <a:t>Многострочные комментарии</a:t>
            </a:r>
            <a:r>
              <a:rPr lang="ru-RU" dirty="0"/>
              <a:t> - это комментарии, длина которых может превышать длину строки. Многострочные комментарии начинаются с </a:t>
            </a:r>
            <a:r>
              <a:rPr lang="ru-RU" b="1" dirty="0"/>
              <a:t>/*</a:t>
            </a:r>
            <a:r>
              <a:rPr lang="ru-RU" dirty="0"/>
              <a:t> и заканчиваются </a:t>
            </a:r>
            <a:r>
              <a:rPr lang="ru-RU" b="1" dirty="0"/>
              <a:t>*/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3354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Переменные </a:t>
            </a:r>
            <a:r>
              <a:rPr lang="ru-RU" b="1" dirty="0" err="1"/>
              <a:t>JavaScript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//Создаем переменную с именем ex1 </a:t>
            </a:r>
            <a:br>
              <a:rPr lang="ru-RU" dirty="0"/>
            </a:br>
            <a:r>
              <a:rPr lang="ru-RU" b="1" dirty="0" err="1"/>
              <a:t>var</a:t>
            </a:r>
            <a:r>
              <a:rPr lang="ru-RU" b="1" dirty="0"/>
              <a:t> ex1;</a:t>
            </a:r>
          </a:p>
          <a:p>
            <a:r>
              <a:rPr lang="ru-RU" dirty="0"/>
              <a:t>//Создаем переменную с именем ex1 содержащую значение 4</a:t>
            </a:r>
          </a:p>
          <a:p>
            <a:r>
              <a:rPr lang="ru-RU" b="1" dirty="0" err="1"/>
              <a:t>var</a:t>
            </a:r>
            <a:r>
              <a:rPr lang="ru-RU" b="1" dirty="0"/>
              <a:t> ex1=4</a:t>
            </a:r>
            <a:r>
              <a:rPr lang="ru-RU" dirty="0"/>
              <a:t>;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2314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Пример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95401" y="2473377"/>
            <a:ext cx="9601196" cy="3717561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dirty="0"/>
              <a:t>//Запишем число 4 в переменную ex1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dirty="0" err="1"/>
              <a:t>var</a:t>
            </a:r>
            <a:r>
              <a:rPr lang="ru-RU" dirty="0"/>
              <a:t> ex1=4;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dirty="0"/>
              <a:t>//Запишем число 5 в переменную ex2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dirty="0" err="1"/>
              <a:t>var</a:t>
            </a:r>
            <a:r>
              <a:rPr lang="ru-RU" dirty="0"/>
              <a:t> ex2=5;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dirty="0"/>
              <a:t>//Выведем содержимое переменной ex1 на страницу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 err="1"/>
              <a:t>document.write</a:t>
            </a:r>
            <a:r>
              <a:rPr lang="en-US" dirty="0"/>
              <a:t>(ex1+'&lt;</a:t>
            </a:r>
            <a:r>
              <a:rPr lang="en-US" dirty="0" err="1"/>
              <a:t>br</a:t>
            </a:r>
            <a:r>
              <a:rPr lang="en-US" dirty="0"/>
              <a:t> /&gt;');</a:t>
            </a:r>
            <a:endParaRPr lang="ru-RU" dirty="0"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dirty="0"/>
              <a:t>//Выведем содержимое переменной ex2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dirty="0" err="1"/>
              <a:t>document.write</a:t>
            </a:r>
            <a:r>
              <a:rPr lang="ru-RU" dirty="0"/>
              <a:t>(ex2+'&lt;</a:t>
            </a:r>
            <a:r>
              <a:rPr lang="ru-RU" dirty="0" err="1"/>
              <a:t>br</a:t>
            </a:r>
            <a:r>
              <a:rPr lang="ru-RU" dirty="0"/>
              <a:t> /&gt;');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dirty="0"/>
              <a:t>//Изменим содержимое переменной ex2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dirty="0"/>
              <a:t>ex2=200;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dirty="0"/>
              <a:t>//Выведем новое содержимое переменной ex2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dirty="0" err="1"/>
              <a:t>document.write</a:t>
            </a:r>
            <a:r>
              <a:rPr lang="ru-RU" dirty="0"/>
              <a:t>(ex2);</a:t>
            </a:r>
          </a:p>
        </p:txBody>
      </p:sp>
    </p:spTree>
    <p:extLst>
      <p:ext uri="{BB962C8B-B14F-4D97-AF65-F5344CB8AC3E}">
        <p14:creationId xmlns:p14="http://schemas.microsoft.com/office/powerpoint/2010/main" val="4272554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Строковые переменные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//Запишем в переменную </a:t>
            </a:r>
            <a:r>
              <a:rPr lang="ru-RU" dirty="0" err="1"/>
              <a:t>ex</a:t>
            </a:r>
            <a:r>
              <a:rPr lang="ru-RU" dirty="0"/>
              <a:t> строку 'Привет всем!'</a:t>
            </a:r>
          </a:p>
          <a:p>
            <a:pPr marL="0" indent="0">
              <a:buNone/>
            </a:pPr>
            <a:r>
              <a:rPr lang="ru-RU" b="1" dirty="0" err="1"/>
              <a:t>var</a:t>
            </a:r>
            <a:r>
              <a:rPr lang="ru-RU" b="1" dirty="0"/>
              <a:t> </a:t>
            </a:r>
            <a:r>
              <a:rPr lang="ru-RU" b="1" dirty="0" err="1"/>
              <a:t>ex</a:t>
            </a:r>
            <a:r>
              <a:rPr lang="ru-RU" b="1" dirty="0"/>
              <a:t>='Привет всем!';</a:t>
            </a:r>
          </a:p>
          <a:p>
            <a:pPr marL="0" indent="0">
              <a:buNone/>
            </a:pPr>
            <a:r>
              <a:rPr lang="ru-RU" dirty="0"/>
              <a:t>//Выведем значение переменной </a:t>
            </a:r>
            <a:r>
              <a:rPr lang="ru-RU" dirty="0" err="1"/>
              <a:t>ex</a:t>
            </a:r>
            <a:r>
              <a:rPr lang="ru-RU" dirty="0"/>
              <a:t> на страницу</a:t>
            </a:r>
          </a:p>
          <a:p>
            <a:pPr marL="0" indent="0">
              <a:buNone/>
            </a:pPr>
            <a:r>
              <a:rPr lang="ru-RU" b="1" dirty="0" err="1"/>
              <a:t>document.write</a:t>
            </a:r>
            <a:r>
              <a:rPr lang="ru-RU" b="1" dirty="0"/>
              <a:t>(</a:t>
            </a:r>
            <a:r>
              <a:rPr lang="ru-RU" b="1" dirty="0" err="1"/>
              <a:t>ex</a:t>
            </a:r>
            <a:r>
              <a:rPr lang="ru-RU" b="1" dirty="0"/>
              <a:t>);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55216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Определение переменных с </a:t>
            </a:r>
            <a:r>
              <a:rPr lang="ru-RU" b="1" dirty="0" err="1"/>
              <a:t>var</a:t>
            </a:r>
            <a:r>
              <a:rPr lang="ru-RU" b="1" dirty="0"/>
              <a:t> и без него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//Создадим новую переменную с </a:t>
            </a:r>
            <a:r>
              <a:rPr lang="ru-RU" dirty="0" err="1"/>
              <a:t>var</a:t>
            </a:r>
            <a:endParaRPr lang="ru-RU" dirty="0"/>
          </a:p>
          <a:p>
            <a:pPr marL="0" indent="0">
              <a:buNone/>
            </a:pPr>
            <a:r>
              <a:rPr lang="ru-RU" b="1" dirty="0" err="1"/>
              <a:t>var</a:t>
            </a:r>
            <a:r>
              <a:rPr lang="ru-RU" b="1" dirty="0"/>
              <a:t> </a:t>
            </a:r>
            <a:r>
              <a:rPr lang="ru-RU" b="1" dirty="0" err="1"/>
              <a:t>ex</a:t>
            </a:r>
            <a:r>
              <a:rPr lang="ru-RU" b="1" dirty="0"/>
              <a:t>=123;</a:t>
            </a:r>
          </a:p>
          <a:p>
            <a:pPr marL="0" indent="0">
              <a:buNone/>
            </a:pPr>
            <a:r>
              <a:rPr lang="ru-RU" dirty="0"/>
              <a:t>//Создадим новую переменную без </a:t>
            </a:r>
            <a:r>
              <a:rPr lang="ru-RU" dirty="0" err="1"/>
              <a:t>var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ex2=20;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14380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Об удалении и переопределении переменных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66398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var</a:t>
            </a:r>
            <a:r>
              <a:rPr lang="en-US" dirty="0"/>
              <a:t> ex=123;</a:t>
            </a:r>
            <a:endParaRPr lang="ru-RU" dirty="0"/>
          </a:p>
          <a:p>
            <a:pPr marL="0" indent="0">
              <a:buNone/>
            </a:pPr>
            <a:r>
              <a:rPr lang="en-US" dirty="0" err="1"/>
              <a:t>var</a:t>
            </a:r>
            <a:r>
              <a:rPr lang="en-US" dirty="0"/>
              <a:t> ex;</a:t>
            </a:r>
            <a:endParaRPr lang="ru-RU" dirty="0"/>
          </a:p>
          <a:p>
            <a:pPr marL="0" indent="0">
              <a:buNone/>
            </a:pPr>
            <a:r>
              <a:rPr lang="en-US" dirty="0" err="1"/>
              <a:t>document.write</a:t>
            </a:r>
            <a:r>
              <a:rPr lang="en-US" dirty="0"/>
              <a:t>(ex); // </a:t>
            </a:r>
            <a:r>
              <a:rPr lang="ru-RU" dirty="0"/>
              <a:t>Выведет</a:t>
            </a:r>
            <a:r>
              <a:rPr lang="en-US" dirty="0"/>
              <a:t> 123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-----------------------------</a:t>
            </a:r>
          </a:p>
          <a:p>
            <a:pPr marL="0" indent="0">
              <a:buNone/>
            </a:pPr>
            <a:r>
              <a:rPr lang="ru-RU" dirty="0" err="1"/>
              <a:t>ex</a:t>
            </a:r>
            <a:r>
              <a:rPr lang="ru-RU" dirty="0"/>
              <a:t>=123;</a:t>
            </a:r>
          </a:p>
          <a:p>
            <a:pPr marL="0" indent="0">
              <a:buNone/>
            </a:pPr>
            <a:r>
              <a:rPr lang="ru-RU" dirty="0" err="1"/>
              <a:t>delete</a:t>
            </a:r>
            <a:r>
              <a:rPr lang="ru-RU" dirty="0"/>
              <a:t> </a:t>
            </a:r>
            <a:r>
              <a:rPr lang="ru-RU" dirty="0" err="1"/>
              <a:t>ex</a:t>
            </a:r>
            <a:r>
              <a:rPr lang="ru-RU" dirty="0"/>
              <a:t>;</a:t>
            </a:r>
          </a:p>
          <a:p>
            <a:pPr marL="0" indent="0">
              <a:buNone/>
            </a:pPr>
            <a:r>
              <a:rPr lang="ru-RU" dirty="0"/>
              <a:t>-----------------------------</a:t>
            </a:r>
          </a:p>
          <a:p>
            <a:pPr marL="0" indent="0">
              <a:buNone/>
            </a:pPr>
            <a:r>
              <a:rPr lang="en-US" dirty="0" err="1"/>
              <a:t>var</a:t>
            </a:r>
            <a:r>
              <a:rPr lang="en-US" dirty="0"/>
              <a:t> ex</a:t>
            </a:r>
            <a:r>
              <a:rPr lang="ru-RU" dirty="0"/>
              <a:t>=123;</a:t>
            </a:r>
          </a:p>
          <a:p>
            <a:pPr marL="0" indent="0">
              <a:buNone/>
            </a:pPr>
            <a:r>
              <a:rPr lang="en-US" dirty="0"/>
              <a:t>ex</a:t>
            </a:r>
            <a:r>
              <a:rPr lang="ru-RU" dirty="0"/>
              <a:t>=</a:t>
            </a:r>
            <a:r>
              <a:rPr lang="en-US" dirty="0"/>
              <a:t>null</a:t>
            </a:r>
            <a:r>
              <a:rPr lang="ru-RU" dirty="0"/>
              <a:t>;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24362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Задание 3.1 </a:t>
            </a:r>
            <a:r>
              <a:rPr lang="ru-RU" dirty="0"/>
              <a:t>Исправьте ошибки 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95401" y="2488367"/>
            <a:ext cx="9601196" cy="3732551"/>
          </a:xfrm>
        </p:spPr>
        <p:txBody>
          <a:bodyPr>
            <a:normAutofit fontScale="70000" lnSpcReduction="20000"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/>
              <a:t>&lt;script type="text/</a:t>
            </a:r>
            <a:r>
              <a:rPr lang="en-US" dirty="0" err="1"/>
              <a:t>javascript</a:t>
            </a:r>
            <a:r>
              <a:rPr lang="en-US" dirty="0"/>
              <a:t>"&gt;</a:t>
            </a:r>
            <a:endParaRPr lang="ru-RU" dirty="0"/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 err="1"/>
              <a:t>var</a:t>
            </a:r>
            <a:r>
              <a:rPr lang="en-US" dirty="0"/>
              <a:t> 33var=33;</a:t>
            </a:r>
            <a:endParaRPr lang="ru-RU" dirty="0"/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 err="1"/>
              <a:t>document.write</a:t>
            </a:r>
            <a:r>
              <a:rPr lang="en-US" dirty="0"/>
              <a:t>(33var);</a:t>
            </a:r>
            <a:endParaRPr lang="ru-RU" dirty="0"/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 err="1"/>
              <a:t>document.write</a:t>
            </a:r>
            <a:r>
              <a:rPr lang="en-US" dirty="0"/>
              <a:t>('&lt;</a:t>
            </a:r>
            <a:r>
              <a:rPr lang="en-US" dirty="0" err="1"/>
              <a:t>br</a:t>
            </a:r>
            <a:r>
              <a:rPr lang="en-US" dirty="0"/>
              <a:t> /&gt;');</a:t>
            </a:r>
            <a:endParaRPr lang="ru-RU" dirty="0"/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/>
              <a:t> </a:t>
            </a:r>
            <a:endParaRPr lang="ru-RU" dirty="0"/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 err="1"/>
              <a:t>var</a:t>
            </a:r>
            <a:r>
              <a:rPr lang="en-US" dirty="0"/>
              <a:t> str1=</a:t>
            </a:r>
            <a:r>
              <a:rPr lang="ru-RU" dirty="0"/>
              <a:t>Привет всем</a:t>
            </a:r>
            <a:r>
              <a:rPr lang="en-US" dirty="0"/>
              <a:t>!;</a:t>
            </a:r>
            <a:endParaRPr lang="ru-RU" dirty="0"/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 err="1"/>
              <a:t>document.write</a:t>
            </a:r>
            <a:r>
              <a:rPr lang="en-US" dirty="0"/>
              <a:t>(str1);</a:t>
            </a:r>
            <a:endParaRPr lang="ru-RU" dirty="0"/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 err="1"/>
              <a:t>document.write</a:t>
            </a:r>
            <a:r>
              <a:rPr lang="en-US" dirty="0"/>
              <a:t>('&lt;</a:t>
            </a:r>
            <a:r>
              <a:rPr lang="en-US" dirty="0" err="1"/>
              <a:t>br</a:t>
            </a:r>
            <a:r>
              <a:rPr lang="en-US" dirty="0"/>
              <a:t> /&gt;');</a:t>
            </a:r>
            <a:endParaRPr lang="ru-RU" dirty="0"/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/>
              <a:t> </a:t>
            </a:r>
            <a:endParaRPr lang="ru-RU" dirty="0"/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dirty="0" err="1"/>
              <a:t>var</a:t>
            </a:r>
            <a:r>
              <a:rPr lang="ru-RU" dirty="0"/>
              <a:t> </a:t>
            </a:r>
            <a:r>
              <a:rPr lang="ru-RU" dirty="0" err="1"/>
              <a:t>vaR</a:t>
            </a:r>
            <a:r>
              <a:rPr lang="ru-RU" dirty="0"/>
              <a:t> = 288;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 err="1"/>
              <a:t>document.write</a:t>
            </a:r>
            <a:r>
              <a:rPr lang="en-US" dirty="0"/>
              <a:t>(</a:t>
            </a:r>
            <a:r>
              <a:rPr lang="en-US" dirty="0" err="1"/>
              <a:t>var</a:t>
            </a:r>
            <a:r>
              <a:rPr lang="en-US" dirty="0"/>
              <a:t>);</a:t>
            </a:r>
            <a:endParaRPr lang="ru-RU" dirty="0"/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 err="1"/>
              <a:t>document.write</a:t>
            </a:r>
            <a:r>
              <a:rPr lang="en-US" dirty="0"/>
              <a:t>('&lt;</a:t>
            </a:r>
            <a:r>
              <a:rPr lang="en-US" dirty="0" err="1"/>
              <a:t>br</a:t>
            </a:r>
            <a:r>
              <a:rPr lang="en-US" dirty="0"/>
              <a:t> /&gt;');</a:t>
            </a:r>
            <a:endParaRPr lang="ru-RU" dirty="0"/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dirty="0"/>
              <a:t>&lt;/</a:t>
            </a:r>
            <a:r>
              <a:rPr lang="ru-RU" dirty="0" err="1"/>
              <a:t>script</a:t>
            </a:r>
            <a:r>
              <a:rPr lang="ru-RU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8400478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Задание 3.2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 Во внешнем файле secred1.js содержится переменные sec1, sec2, sec3 и sec4, которые содержат буквы кодового слова (не по порядку). Подключите внешний файл и узнайте кодовое слово путем вывода значений переменных на страницу.</a:t>
            </a:r>
          </a:p>
        </p:txBody>
      </p:sp>
    </p:spTree>
    <p:extLst>
      <p:ext uri="{BB962C8B-B14F-4D97-AF65-F5344CB8AC3E}">
        <p14:creationId xmlns:p14="http://schemas.microsoft.com/office/powerpoint/2010/main" val="27949150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Арифметические операторы </a:t>
            </a:r>
            <a:r>
              <a:rPr lang="ru-RU" b="1" dirty="0" err="1"/>
              <a:t>JavaScript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74371"/>
              </p:ext>
            </p:extLst>
          </p:nvPr>
        </p:nvGraphicFramePr>
        <p:xfrm>
          <a:off x="886918" y="2152727"/>
          <a:ext cx="10418164" cy="387554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49114">
                  <a:extLst>
                    <a:ext uri="{9D8B030D-6E8A-4147-A177-3AD203B41FA5}">
                      <a16:colId xmlns:a16="http://schemas.microsoft.com/office/drawing/2014/main" val="1964785635"/>
                    </a:ext>
                  </a:extLst>
                </a:gridCol>
                <a:gridCol w="5831174">
                  <a:extLst>
                    <a:ext uri="{9D8B030D-6E8A-4147-A177-3AD203B41FA5}">
                      <a16:colId xmlns:a16="http://schemas.microsoft.com/office/drawing/2014/main" val="2773230989"/>
                    </a:ext>
                  </a:extLst>
                </a:gridCol>
                <a:gridCol w="1439056">
                  <a:extLst>
                    <a:ext uri="{9D8B030D-6E8A-4147-A177-3AD203B41FA5}">
                      <a16:colId xmlns:a16="http://schemas.microsoft.com/office/drawing/2014/main" val="2972871414"/>
                    </a:ext>
                  </a:extLst>
                </a:gridCol>
                <a:gridCol w="1798820">
                  <a:extLst>
                    <a:ext uri="{9D8B030D-6E8A-4147-A177-3AD203B41FA5}">
                      <a16:colId xmlns:a16="http://schemas.microsoft.com/office/drawing/2014/main" val="2995215175"/>
                    </a:ext>
                  </a:extLst>
                </a:gridCol>
              </a:tblGrid>
              <a:tr h="1960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Оператор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976" marR="28976" marT="28976" marB="289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 dirty="0">
                          <a:effectLst/>
                        </a:rPr>
                        <a:t>Описание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976" marR="28976" marT="28976" marB="289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Пример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976" marR="28976" marT="28976" marB="289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Результат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976" marR="28976" marT="28976" marB="28976" anchor="ctr"/>
                </a:tc>
                <a:extLst>
                  <a:ext uri="{0D108BD9-81ED-4DB2-BD59-A6C34878D82A}">
                    <a16:rowId xmlns:a16="http://schemas.microsoft.com/office/drawing/2014/main" val="83707468"/>
                  </a:ext>
                </a:extLst>
              </a:tr>
              <a:tr h="3297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+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976" marR="28976" marT="28976" marB="289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Выполняет сложение чисел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976" marR="28976" marT="28976" marB="289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y=x+10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976" marR="28976" marT="28976" marB="289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y=17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976" marR="28976" marT="28976" marB="28976" anchor="ctr"/>
                </a:tc>
                <a:extLst>
                  <a:ext uri="{0D108BD9-81ED-4DB2-BD59-A6C34878D82A}">
                    <a16:rowId xmlns:a16="http://schemas.microsoft.com/office/drawing/2014/main" val="1154332714"/>
                  </a:ext>
                </a:extLst>
              </a:tr>
              <a:tr h="3297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-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976" marR="28976" marT="28976" marB="289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Выполняет вычитание чисел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976" marR="28976" marT="28976" marB="289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y=x-3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976" marR="28976" marT="28976" marB="289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y=4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976" marR="28976" marT="28976" marB="28976" anchor="ctr"/>
                </a:tc>
                <a:extLst>
                  <a:ext uri="{0D108BD9-81ED-4DB2-BD59-A6C34878D82A}">
                    <a16:rowId xmlns:a16="http://schemas.microsoft.com/office/drawing/2014/main" val="76597222"/>
                  </a:ext>
                </a:extLst>
              </a:tr>
              <a:tr h="3297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*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976" marR="28976" marT="28976" marB="289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Выполняет умножение чисел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976" marR="28976" marT="28976" marB="289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y=x*4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976" marR="28976" marT="28976" marB="289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y=28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976" marR="28976" marT="28976" marB="28976" anchor="ctr"/>
                </a:tc>
                <a:extLst>
                  <a:ext uri="{0D108BD9-81ED-4DB2-BD59-A6C34878D82A}">
                    <a16:rowId xmlns:a16="http://schemas.microsoft.com/office/drawing/2014/main" val="3742863188"/>
                  </a:ext>
                </a:extLst>
              </a:tr>
              <a:tr h="3297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/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976" marR="28976" marT="28976" marB="289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Выполняет деление чисел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976" marR="28976" marT="28976" marB="289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y=x/2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976" marR="28976" marT="28976" marB="289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y=3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976" marR="28976" marT="28976" marB="28976" anchor="ctr"/>
                </a:tc>
                <a:extLst>
                  <a:ext uri="{0D108BD9-81ED-4DB2-BD59-A6C34878D82A}">
                    <a16:rowId xmlns:a16="http://schemas.microsoft.com/office/drawing/2014/main" val="721683964"/>
                  </a:ext>
                </a:extLst>
              </a:tr>
              <a:tr h="3297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%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976" marR="28976" marT="28976" marB="289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Вычисляет остаток от деления чисел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976" marR="28976" marT="28976" marB="289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y=x%2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976" marR="28976" marT="28976" marB="289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y=1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976" marR="28976" marT="28976" marB="28976" anchor="ctr"/>
                </a:tc>
                <a:extLst>
                  <a:ext uri="{0D108BD9-81ED-4DB2-BD59-A6C34878D82A}">
                    <a16:rowId xmlns:a16="http://schemas.microsoft.com/office/drawing/2014/main" val="2137410960"/>
                  </a:ext>
                </a:extLst>
              </a:tr>
              <a:tr h="8643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++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976" marR="28976" marT="28976" marB="289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Увеличивает значение на 1 и возвращает новое значение </a:t>
                      </a:r>
                      <a:br>
                        <a:rPr lang="ru-RU" sz="1800">
                          <a:effectLst/>
                        </a:rPr>
                      </a:br>
                      <a:r>
                        <a:rPr lang="ru-RU" sz="1800">
                          <a:effectLst/>
                        </a:rPr>
                        <a:t>Увеличивает значение на 1 и возвращает старое значение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976" marR="28976" marT="28976" marB="289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y=++x </a:t>
                      </a:r>
                      <a:br>
                        <a:rPr lang="ru-RU" sz="1800">
                          <a:effectLst/>
                        </a:rPr>
                      </a:br>
                      <a:r>
                        <a:rPr lang="ru-RU" sz="1800">
                          <a:effectLst/>
                        </a:rPr>
                        <a:t>y=x++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976" marR="28976" marT="28976" marB="289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y=8, x=8 </a:t>
                      </a:r>
                      <a:br>
                        <a:rPr lang="ru-RU" sz="1800">
                          <a:effectLst/>
                        </a:rPr>
                      </a:br>
                      <a:r>
                        <a:rPr lang="ru-RU" sz="1800">
                          <a:effectLst/>
                        </a:rPr>
                        <a:t>y=7, x=8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976" marR="28976" marT="28976" marB="28976" anchor="ctr"/>
                </a:tc>
                <a:extLst>
                  <a:ext uri="{0D108BD9-81ED-4DB2-BD59-A6C34878D82A}">
                    <a16:rowId xmlns:a16="http://schemas.microsoft.com/office/drawing/2014/main" val="2025436679"/>
                  </a:ext>
                </a:extLst>
              </a:tr>
              <a:tr h="8643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--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976" marR="28976" marT="28976" marB="289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 dirty="0">
                          <a:effectLst/>
                        </a:rPr>
                        <a:t>Уменьшает значение на 1 и возвращает новое значение </a:t>
                      </a:r>
                      <a:br>
                        <a:rPr lang="ru-RU" sz="1800" dirty="0">
                          <a:effectLst/>
                        </a:rPr>
                      </a:br>
                      <a:r>
                        <a:rPr lang="ru-RU" sz="1800" dirty="0">
                          <a:effectLst/>
                        </a:rPr>
                        <a:t>Уменьшает значение на 1 и возвращает старое значение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976" marR="28976" marT="28976" marB="289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y=--x </a:t>
                      </a:r>
                      <a:br>
                        <a:rPr lang="ru-RU" sz="1800">
                          <a:effectLst/>
                        </a:rPr>
                      </a:br>
                      <a:r>
                        <a:rPr lang="ru-RU" sz="1800">
                          <a:effectLst/>
                        </a:rPr>
                        <a:t>y=x--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976" marR="28976" marT="28976" marB="289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 dirty="0">
                          <a:effectLst/>
                        </a:rPr>
                        <a:t>y=6, x=6 </a:t>
                      </a:r>
                      <a:br>
                        <a:rPr lang="ru-RU" sz="1800" dirty="0">
                          <a:effectLst/>
                        </a:rPr>
                      </a:br>
                      <a:r>
                        <a:rPr lang="ru-RU" sz="1800" dirty="0">
                          <a:effectLst/>
                        </a:rPr>
                        <a:t>y=7, x=6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976" marR="28976" marT="28976" marB="28976" anchor="ctr"/>
                </a:tc>
                <a:extLst>
                  <a:ext uri="{0D108BD9-81ED-4DB2-BD59-A6C34878D82A}">
                    <a16:rowId xmlns:a16="http://schemas.microsoft.com/office/drawing/2014/main" val="1527423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48439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Пример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738937"/>
          </a:xfrm>
        </p:spPr>
        <p:txBody>
          <a:bodyPr>
            <a:normAutofit fontScale="77500" lnSpcReduction="20000"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dirty="0"/>
              <a:t>//Объявим переменные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b="1" dirty="0" err="1"/>
              <a:t>var</a:t>
            </a:r>
            <a:r>
              <a:rPr lang="ru-RU" b="1" dirty="0"/>
              <a:t> x=6;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b="1" dirty="0" err="1"/>
              <a:t>var</a:t>
            </a:r>
            <a:r>
              <a:rPr lang="ru-RU" b="1" dirty="0"/>
              <a:t> y=7;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dirty="0"/>
              <a:t>//Выполним сложение переменных и выведем результат на страницу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b="1" dirty="0"/>
              <a:t>z</a:t>
            </a:r>
            <a:r>
              <a:rPr lang="ru-RU" b="1" dirty="0"/>
              <a:t>=</a:t>
            </a:r>
            <a:r>
              <a:rPr lang="en-US" b="1" dirty="0"/>
              <a:t>x</a:t>
            </a:r>
            <a:r>
              <a:rPr lang="ru-RU" b="1" dirty="0"/>
              <a:t>+</a:t>
            </a:r>
            <a:r>
              <a:rPr lang="en-US" b="1" dirty="0"/>
              <a:t>y</a:t>
            </a:r>
            <a:r>
              <a:rPr lang="ru-RU" b="1" dirty="0"/>
              <a:t>;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b="1" dirty="0"/>
              <a:t>document</a:t>
            </a:r>
            <a:r>
              <a:rPr lang="ru-RU" b="1" dirty="0"/>
              <a:t>.</a:t>
            </a:r>
            <a:r>
              <a:rPr lang="en-US" b="1" dirty="0"/>
              <a:t>write</a:t>
            </a:r>
            <a:r>
              <a:rPr lang="ru-RU" b="1" dirty="0"/>
              <a:t>(</a:t>
            </a:r>
            <a:r>
              <a:rPr lang="en-US" b="1" dirty="0"/>
              <a:t>z</a:t>
            </a:r>
            <a:r>
              <a:rPr lang="ru-RU" b="1" dirty="0"/>
              <a:t>);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dirty="0"/>
              <a:t>//Выполним умножение и выведем результат на страницу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b="1" dirty="0"/>
              <a:t>g</a:t>
            </a:r>
            <a:r>
              <a:rPr lang="ru-RU" b="1" dirty="0"/>
              <a:t>=</a:t>
            </a:r>
            <a:r>
              <a:rPr lang="en-US" b="1" dirty="0"/>
              <a:t>x</a:t>
            </a:r>
            <a:r>
              <a:rPr lang="ru-RU" b="1" dirty="0"/>
              <a:t>*</a:t>
            </a:r>
            <a:r>
              <a:rPr lang="en-US" b="1" dirty="0"/>
              <a:t>y</a:t>
            </a:r>
            <a:r>
              <a:rPr lang="ru-RU" b="1" dirty="0"/>
              <a:t>;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b="1" dirty="0"/>
              <a:t>document</a:t>
            </a:r>
            <a:r>
              <a:rPr lang="ru-RU" b="1" dirty="0"/>
              <a:t>.</a:t>
            </a:r>
            <a:r>
              <a:rPr lang="en-US" b="1" dirty="0"/>
              <a:t>write</a:t>
            </a:r>
            <a:r>
              <a:rPr lang="ru-RU" b="1" dirty="0"/>
              <a:t>(</a:t>
            </a:r>
            <a:r>
              <a:rPr lang="en-US" b="1" dirty="0"/>
              <a:t>g</a:t>
            </a:r>
            <a:r>
              <a:rPr lang="ru-RU" b="1" dirty="0"/>
              <a:t>);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dirty="0"/>
              <a:t>//Выполним вычитание и выведем результат на страницу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b="1" dirty="0"/>
              <a:t>t</a:t>
            </a:r>
            <a:r>
              <a:rPr lang="ru-RU" b="1" dirty="0"/>
              <a:t>=</a:t>
            </a:r>
            <a:r>
              <a:rPr lang="en-US" b="1" dirty="0"/>
              <a:t>y</a:t>
            </a:r>
            <a:r>
              <a:rPr lang="ru-RU" b="1" dirty="0"/>
              <a:t>-</a:t>
            </a:r>
            <a:r>
              <a:rPr lang="en-US" b="1" dirty="0"/>
              <a:t>x</a:t>
            </a:r>
            <a:r>
              <a:rPr lang="ru-RU" b="1" dirty="0"/>
              <a:t>;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b="1" dirty="0"/>
              <a:t>document</a:t>
            </a:r>
            <a:r>
              <a:rPr lang="ru-RU" b="1" dirty="0"/>
              <a:t>.</a:t>
            </a:r>
            <a:r>
              <a:rPr lang="en-US" b="1" dirty="0"/>
              <a:t>write</a:t>
            </a:r>
            <a:r>
              <a:rPr lang="ru-RU" b="1" dirty="0"/>
              <a:t>(</a:t>
            </a:r>
            <a:r>
              <a:rPr lang="en-US" b="1" dirty="0"/>
              <a:t>t</a:t>
            </a:r>
            <a:r>
              <a:rPr lang="ru-RU" b="1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123887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Сокращенная запись арифметических операторов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204096"/>
              </p:ext>
            </p:extLst>
          </p:nvPr>
        </p:nvGraphicFramePr>
        <p:xfrm>
          <a:off x="989352" y="2488364"/>
          <a:ext cx="10193312" cy="36875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48328">
                  <a:extLst>
                    <a:ext uri="{9D8B030D-6E8A-4147-A177-3AD203B41FA5}">
                      <a16:colId xmlns:a16="http://schemas.microsoft.com/office/drawing/2014/main" val="3736403784"/>
                    </a:ext>
                  </a:extLst>
                </a:gridCol>
                <a:gridCol w="2548328">
                  <a:extLst>
                    <a:ext uri="{9D8B030D-6E8A-4147-A177-3AD203B41FA5}">
                      <a16:colId xmlns:a16="http://schemas.microsoft.com/office/drawing/2014/main" val="1351485969"/>
                    </a:ext>
                  </a:extLst>
                </a:gridCol>
                <a:gridCol w="2548328">
                  <a:extLst>
                    <a:ext uri="{9D8B030D-6E8A-4147-A177-3AD203B41FA5}">
                      <a16:colId xmlns:a16="http://schemas.microsoft.com/office/drawing/2014/main" val="552678944"/>
                    </a:ext>
                  </a:extLst>
                </a:gridCol>
                <a:gridCol w="2548328">
                  <a:extLst>
                    <a:ext uri="{9D8B030D-6E8A-4147-A177-3AD203B41FA5}">
                      <a16:colId xmlns:a16="http://schemas.microsoft.com/office/drawing/2014/main" val="1654942233"/>
                    </a:ext>
                  </a:extLst>
                </a:gridCol>
              </a:tblGrid>
              <a:tr h="61459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2000">
                          <a:effectLst/>
                        </a:rPr>
                        <a:t>Оператор</a:t>
                      </a:r>
                      <a:endParaRPr lang="ru-RU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2000">
                          <a:effectLst/>
                        </a:rPr>
                        <a:t>Сокращенная запись</a:t>
                      </a:r>
                      <a:endParaRPr lang="ru-RU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2000">
                          <a:effectLst/>
                        </a:rPr>
                        <a:t>Полная запись</a:t>
                      </a:r>
                      <a:endParaRPr lang="ru-RU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2000">
                          <a:effectLst/>
                        </a:rPr>
                        <a:t>Результат</a:t>
                      </a:r>
                      <a:endParaRPr lang="ru-RU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2237023123"/>
                  </a:ext>
                </a:extLst>
              </a:tr>
              <a:tr h="61459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2000">
                          <a:effectLst/>
                        </a:rPr>
                        <a:t>+=</a:t>
                      </a:r>
                      <a:endParaRPr lang="ru-RU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2000">
                          <a:effectLst/>
                        </a:rPr>
                        <a:t>y+=x</a:t>
                      </a:r>
                      <a:endParaRPr lang="ru-RU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2000">
                          <a:effectLst/>
                        </a:rPr>
                        <a:t>y=y+x</a:t>
                      </a:r>
                      <a:endParaRPr lang="ru-RU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2000">
                          <a:effectLst/>
                        </a:rPr>
                        <a:t>y=10</a:t>
                      </a:r>
                      <a:endParaRPr lang="ru-RU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139987651"/>
                  </a:ext>
                </a:extLst>
              </a:tr>
              <a:tr h="61459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2000">
                          <a:effectLst/>
                        </a:rPr>
                        <a:t>-=</a:t>
                      </a:r>
                      <a:endParaRPr lang="ru-RU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2000">
                          <a:effectLst/>
                        </a:rPr>
                        <a:t>y-=x</a:t>
                      </a:r>
                      <a:endParaRPr lang="ru-RU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2000">
                          <a:effectLst/>
                        </a:rPr>
                        <a:t>y=y-x</a:t>
                      </a:r>
                      <a:endParaRPr lang="ru-RU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2000">
                          <a:effectLst/>
                        </a:rPr>
                        <a:t>y=2</a:t>
                      </a:r>
                      <a:endParaRPr lang="ru-RU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1724740195"/>
                  </a:ext>
                </a:extLst>
              </a:tr>
              <a:tr h="61459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2000">
                          <a:effectLst/>
                        </a:rPr>
                        <a:t>*=</a:t>
                      </a:r>
                      <a:endParaRPr lang="ru-RU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2000">
                          <a:effectLst/>
                        </a:rPr>
                        <a:t>y*=x</a:t>
                      </a:r>
                      <a:endParaRPr lang="ru-RU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2000">
                          <a:effectLst/>
                        </a:rPr>
                        <a:t>y=y*x</a:t>
                      </a:r>
                      <a:endParaRPr lang="ru-RU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2000">
                          <a:effectLst/>
                        </a:rPr>
                        <a:t>y=24</a:t>
                      </a:r>
                      <a:endParaRPr lang="ru-RU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3554411583"/>
                  </a:ext>
                </a:extLst>
              </a:tr>
              <a:tr h="61459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2000">
                          <a:effectLst/>
                        </a:rPr>
                        <a:t>/=</a:t>
                      </a:r>
                      <a:endParaRPr lang="ru-RU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2000">
                          <a:effectLst/>
                        </a:rPr>
                        <a:t>y/=x</a:t>
                      </a:r>
                      <a:endParaRPr lang="ru-RU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2000">
                          <a:effectLst/>
                        </a:rPr>
                        <a:t>y=y/x</a:t>
                      </a:r>
                      <a:endParaRPr lang="ru-RU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2000">
                          <a:effectLst/>
                        </a:rPr>
                        <a:t>y=1</a:t>
                      </a:r>
                      <a:endParaRPr lang="ru-RU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4281971683"/>
                  </a:ext>
                </a:extLst>
              </a:tr>
              <a:tr h="61459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2000">
                          <a:effectLst/>
                        </a:rPr>
                        <a:t>%=</a:t>
                      </a:r>
                      <a:endParaRPr lang="ru-RU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2000">
                          <a:effectLst/>
                        </a:rPr>
                        <a:t>y%=x</a:t>
                      </a:r>
                      <a:endParaRPr lang="ru-RU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2000">
                          <a:effectLst/>
                        </a:rPr>
                        <a:t>y=y%x</a:t>
                      </a:r>
                      <a:endParaRPr lang="ru-RU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2000" dirty="0">
                          <a:effectLst/>
                        </a:rPr>
                        <a:t>y=2</a:t>
                      </a:r>
                      <a:endParaRPr lang="ru-RU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1760638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26997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Использование оператора + со строковыми переменными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dirty="0"/>
              <a:t>//Запишем "Привет " в переменную ex1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b="1" dirty="0"/>
              <a:t>ex1="Привет ";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dirty="0"/>
              <a:t>//Запишем "всем" в переменную ex2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b="1" dirty="0"/>
              <a:t>ex2="всем";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dirty="0"/>
              <a:t>/* Соединим значения переменных ex1 и ex2, добавим к ним восклицательный 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dirty="0"/>
              <a:t>знак и затем запишем результат в ex3 */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b="1" dirty="0"/>
              <a:t>ex3=ex1+ex2+"!";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dirty="0"/>
              <a:t>//Выведем содержимое переменной ex3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b="1" dirty="0" err="1"/>
              <a:t>document.write</a:t>
            </a:r>
            <a:r>
              <a:rPr lang="ru-RU" b="1" dirty="0"/>
              <a:t>(ex3);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b="1" dirty="0"/>
              <a:t>&lt;/</a:t>
            </a:r>
            <a:r>
              <a:rPr lang="ru-RU" b="1" dirty="0" err="1"/>
              <a:t>script</a:t>
            </a:r>
            <a:r>
              <a:rPr lang="ru-RU" b="1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9384198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Результатом сложения строки и числа всегда будет строка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634006"/>
          </a:xfrm>
        </p:spPr>
        <p:txBody>
          <a:bodyPr>
            <a:normAutofit fontScale="85000" lnSpcReduction="20000"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dirty="0"/>
              <a:t>//Сложение двух чисел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b="1" dirty="0" err="1"/>
              <a:t>var</a:t>
            </a:r>
            <a:r>
              <a:rPr lang="ru-RU" b="1" dirty="0"/>
              <a:t> ex1=10+5;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b="1" dirty="0" err="1"/>
              <a:t>document.write</a:t>
            </a:r>
            <a:r>
              <a:rPr lang="ru-RU" b="1" dirty="0"/>
              <a:t>(ex1+"&lt;</a:t>
            </a:r>
            <a:r>
              <a:rPr lang="ru-RU" b="1" dirty="0" err="1"/>
              <a:t>br</a:t>
            </a:r>
            <a:r>
              <a:rPr lang="ru-RU" b="1" dirty="0"/>
              <a:t> /&gt;");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dirty="0"/>
              <a:t>//Сложение двух строк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b="1" dirty="0" err="1"/>
              <a:t>var</a:t>
            </a:r>
            <a:r>
              <a:rPr lang="en-US" b="1" dirty="0"/>
              <a:t> ex2="10"+"5"</a:t>
            </a:r>
            <a:endParaRPr lang="ru-RU" b="1" dirty="0"/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b="1" dirty="0" err="1"/>
              <a:t>document.write</a:t>
            </a:r>
            <a:r>
              <a:rPr lang="en-US" b="1" dirty="0"/>
              <a:t>(ex2+"&lt;</a:t>
            </a:r>
            <a:r>
              <a:rPr lang="en-US" b="1" dirty="0" err="1"/>
              <a:t>br</a:t>
            </a:r>
            <a:r>
              <a:rPr lang="en-US" b="1" dirty="0"/>
              <a:t> /&gt;");</a:t>
            </a:r>
            <a:endParaRPr lang="ru-RU" b="1" dirty="0"/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dirty="0"/>
              <a:t>//Сложение строки и числа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b="1" dirty="0" err="1"/>
              <a:t>var</a:t>
            </a:r>
            <a:r>
              <a:rPr lang="ru-RU" b="1" dirty="0"/>
              <a:t> ex3="10"+5;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b="1" dirty="0" err="1"/>
              <a:t>document.write</a:t>
            </a:r>
            <a:r>
              <a:rPr lang="en-US" b="1" dirty="0"/>
              <a:t>(ex3+"&lt;</a:t>
            </a:r>
            <a:r>
              <a:rPr lang="en-US" b="1" dirty="0" err="1"/>
              <a:t>br</a:t>
            </a:r>
            <a:r>
              <a:rPr lang="en-US" b="1" dirty="0"/>
              <a:t> /&gt;");</a:t>
            </a:r>
            <a:endParaRPr lang="ru-RU" b="1" dirty="0"/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b="1" dirty="0" err="1"/>
              <a:t>var</a:t>
            </a:r>
            <a:r>
              <a:rPr lang="en-US" b="1" dirty="0"/>
              <a:t> ex4="5"+10;</a:t>
            </a:r>
            <a:endParaRPr lang="ru-RU" b="1" dirty="0"/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b="1" dirty="0" err="1"/>
              <a:t>document.write</a:t>
            </a:r>
            <a:r>
              <a:rPr lang="ru-RU" b="1" dirty="0"/>
              <a:t>(ex4);</a:t>
            </a:r>
          </a:p>
        </p:txBody>
      </p:sp>
    </p:spTree>
    <p:extLst>
      <p:ext uri="{BB962C8B-B14F-4D97-AF65-F5344CB8AC3E}">
        <p14:creationId xmlns:p14="http://schemas.microsoft.com/office/powerpoint/2010/main" val="8611353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Задание 4.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Используя </a:t>
            </a:r>
            <a:r>
              <a:rPr lang="ru-RU" dirty="0" err="1"/>
              <a:t>JavaScript</a:t>
            </a:r>
            <a:r>
              <a:rPr lang="ru-RU" dirty="0"/>
              <a:t> найдите значение выражения </a:t>
            </a:r>
            <a:r>
              <a:rPr lang="ru-RU" b="1" dirty="0"/>
              <a:t>(35*y+25*x)/5+232</a:t>
            </a:r>
            <a:r>
              <a:rPr lang="ru-RU" dirty="0"/>
              <a:t> при </a:t>
            </a:r>
            <a:r>
              <a:rPr lang="ru-RU" b="1" dirty="0"/>
              <a:t>x=3, y=20</a:t>
            </a:r>
            <a:r>
              <a:rPr lang="ru-RU" dirty="0"/>
              <a:t>, и значение выражения </a:t>
            </a:r>
            <a:r>
              <a:rPr lang="ru-RU" b="1" dirty="0"/>
              <a:t>(188*y/8+25*x/5 - 435)*6</a:t>
            </a:r>
            <a:r>
              <a:rPr lang="ru-RU" dirty="0"/>
              <a:t> при </a:t>
            </a:r>
            <a:r>
              <a:rPr lang="ru-RU" b="1" dirty="0"/>
              <a:t>x=16, y=20</a:t>
            </a:r>
            <a:r>
              <a:rPr lang="ru-RU" dirty="0"/>
              <a:t> и выведите результат на страницу.</a:t>
            </a:r>
          </a:p>
        </p:txBody>
      </p:sp>
    </p:spTree>
    <p:extLst>
      <p:ext uri="{BB962C8B-B14F-4D97-AF65-F5344CB8AC3E}">
        <p14:creationId xmlns:p14="http://schemas.microsoft.com/office/powerpoint/2010/main" val="29480111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JavaScript</a:t>
            </a:r>
            <a:r>
              <a:rPr lang="ru-RU" b="1" dirty="0"/>
              <a:t> операторы сравнения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774829"/>
              </p:ext>
            </p:extLst>
          </p:nvPr>
        </p:nvGraphicFramePr>
        <p:xfrm>
          <a:off x="939384" y="2080733"/>
          <a:ext cx="10313232" cy="407091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49311">
                  <a:extLst>
                    <a:ext uri="{9D8B030D-6E8A-4147-A177-3AD203B41FA5}">
                      <a16:colId xmlns:a16="http://schemas.microsoft.com/office/drawing/2014/main" val="3219359502"/>
                    </a:ext>
                  </a:extLst>
                </a:gridCol>
                <a:gridCol w="6430781">
                  <a:extLst>
                    <a:ext uri="{9D8B030D-6E8A-4147-A177-3AD203B41FA5}">
                      <a16:colId xmlns:a16="http://schemas.microsoft.com/office/drawing/2014/main" val="3977187808"/>
                    </a:ext>
                  </a:extLst>
                </a:gridCol>
                <a:gridCol w="1588957">
                  <a:extLst>
                    <a:ext uri="{9D8B030D-6E8A-4147-A177-3AD203B41FA5}">
                      <a16:colId xmlns:a16="http://schemas.microsoft.com/office/drawing/2014/main" val="1186859212"/>
                    </a:ext>
                  </a:extLst>
                </a:gridCol>
                <a:gridCol w="1244183">
                  <a:extLst>
                    <a:ext uri="{9D8B030D-6E8A-4147-A177-3AD203B41FA5}">
                      <a16:colId xmlns:a16="http://schemas.microsoft.com/office/drawing/2014/main" val="3142179697"/>
                    </a:ext>
                  </a:extLst>
                </a:gridCol>
              </a:tblGrid>
              <a:tr h="1439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600">
                          <a:effectLst/>
                        </a:rPr>
                        <a:t>Оператор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000" marR="20000" marT="20000" marB="2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600">
                          <a:effectLst/>
                        </a:rPr>
                        <a:t>Описание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000" marR="20000" marT="20000" marB="2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600">
                          <a:effectLst/>
                        </a:rPr>
                        <a:t>Пример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000" marR="20000" marT="20000" marB="20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600" dirty="0">
                          <a:effectLst/>
                        </a:rPr>
                        <a:t>Результат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000" marR="20000" marT="20000" marB="20000" anchor="ctr"/>
                </a:tc>
                <a:extLst>
                  <a:ext uri="{0D108BD9-81ED-4DB2-BD59-A6C34878D82A}">
                    <a16:rowId xmlns:a16="http://schemas.microsoft.com/office/drawing/2014/main" val="2834045043"/>
                  </a:ext>
                </a:extLst>
              </a:tr>
              <a:tr h="3343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600">
                          <a:effectLst/>
                        </a:rPr>
                        <a:t>==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000" marR="20000" marT="20000" marB="20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600">
                          <a:effectLst/>
                        </a:rPr>
                        <a:t>Проверяет переменные или значения на равенство.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000" marR="20000" marT="20000" marB="20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600">
                          <a:effectLst/>
                        </a:rPr>
                        <a:t>x==7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000" marR="20000" marT="20000" marB="20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600">
                          <a:effectLst/>
                        </a:rPr>
                        <a:t>true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000" marR="20000" marT="20000" marB="20000" anchor="ctr"/>
                </a:tc>
                <a:extLst>
                  <a:ext uri="{0D108BD9-81ED-4DB2-BD59-A6C34878D82A}">
                    <a16:rowId xmlns:a16="http://schemas.microsoft.com/office/drawing/2014/main" val="2061645515"/>
                  </a:ext>
                </a:extLst>
              </a:tr>
              <a:tr h="5243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600">
                          <a:effectLst/>
                        </a:rPr>
                        <a:t>===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000" marR="20000" marT="20000" marB="20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600">
                          <a:effectLst/>
                        </a:rPr>
                        <a:t>Проверяет переменные или значения на равенство учитывая тип переменной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000" marR="20000" marT="20000" marB="20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600">
                          <a:effectLst/>
                        </a:rPr>
                        <a:t>x===7</a:t>
                      </a:r>
                      <a:br>
                        <a:rPr lang="ru-RU" sz="1600">
                          <a:effectLst/>
                        </a:rPr>
                      </a:br>
                      <a:r>
                        <a:rPr lang="ru-RU" sz="1600">
                          <a:effectLst/>
                        </a:rPr>
                        <a:t>x==="7"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000" marR="20000" marT="20000" marB="20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600">
                          <a:effectLst/>
                        </a:rPr>
                        <a:t>true</a:t>
                      </a:r>
                      <a:br>
                        <a:rPr lang="ru-RU" sz="1600">
                          <a:effectLst/>
                        </a:rPr>
                      </a:br>
                      <a:r>
                        <a:rPr lang="ru-RU" sz="1600">
                          <a:effectLst/>
                        </a:rPr>
                        <a:t>false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000" marR="20000" marT="20000" marB="20000" anchor="ctr"/>
                </a:tc>
                <a:extLst>
                  <a:ext uri="{0D108BD9-81ED-4DB2-BD59-A6C34878D82A}">
                    <a16:rowId xmlns:a16="http://schemas.microsoft.com/office/drawing/2014/main" val="3624256704"/>
                  </a:ext>
                </a:extLst>
              </a:tr>
              <a:tr h="4284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600">
                          <a:effectLst/>
                        </a:rPr>
                        <a:t>!=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000" marR="20000" marT="20000" marB="20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600">
                          <a:effectLst/>
                        </a:rPr>
                        <a:t>Проверяет различаются ли переменные или значения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000" marR="20000" marT="20000" marB="20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600">
                          <a:effectLst/>
                        </a:rPr>
                        <a:t>x!=9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000" marR="20000" marT="20000" marB="20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600">
                          <a:effectLst/>
                        </a:rPr>
                        <a:t>true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000" marR="20000" marT="20000" marB="20000" anchor="ctr"/>
                </a:tc>
                <a:extLst>
                  <a:ext uri="{0D108BD9-81ED-4DB2-BD59-A6C34878D82A}">
                    <a16:rowId xmlns:a16="http://schemas.microsoft.com/office/drawing/2014/main" val="1828182384"/>
                  </a:ext>
                </a:extLst>
              </a:tr>
              <a:tr h="5243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600">
                          <a:effectLst/>
                        </a:rPr>
                        <a:t>&gt; 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000" marR="20000" marT="20000" marB="20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600">
                          <a:effectLst/>
                        </a:rPr>
                        <a:t>Проверяет больше ли переменная или значение стоящее слева, чем стоящее справа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000" marR="20000" marT="20000" marB="20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600">
                          <a:effectLst/>
                        </a:rPr>
                        <a:t>x&gt;13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000" marR="20000" marT="20000" marB="20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600">
                          <a:effectLst/>
                        </a:rPr>
                        <a:t>false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000" marR="20000" marT="20000" marB="20000" anchor="ctr"/>
                </a:tc>
                <a:extLst>
                  <a:ext uri="{0D108BD9-81ED-4DB2-BD59-A6C34878D82A}">
                    <a16:rowId xmlns:a16="http://schemas.microsoft.com/office/drawing/2014/main" val="1795835214"/>
                  </a:ext>
                </a:extLst>
              </a:tr>
              <a:tr h="5243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600">
                          <a:effectLst/>
                        </a:rPr>
                        <a:t>&lt; 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000" marR="20000" marT="20000" marB="20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600">
                          <a:effectLst/>
                        </a:rPr>
                        <a:t>Проверяет меньше ли переменная или значение стоящее слева, чем стоящее справа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000" marR="20000" marT="20000" marB="20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600">
                          <a:effectLst/>
                        </a:rPr>
                        <a:t>x&lt;13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000" marR="20000" marT="20000" marB="20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600">
                          <a:effectLst/>
                        </a:rPr>
                        <a:t>true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000" marR="20000" marT="20000" marB="20000" anchor="ctr"/>
                </a:tc>
                <a:extLst>
                  <a:ext uri="{0D108BD9-81ED-4DB2-BD59-A6C34878D82A}">
                    <a16:rowId xmlns:a16="http://schemas.microsoft.com/office/drawing/2014/main" val="3450359015"/>
                  </a:ext>
                </a:extLst>
              </a:tr>
              <a:tr h="6202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600">
                          <a:effectLst/>
                        </a:rPr>
                        <a:t>&gt;=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000" marR="20000" marT="20000" marB="20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600">
                          <a:effectLst/>
                        </a:rPr>
                        <a:t>Проверяет является ли переменная или значение стоящее слева большим или равным стоящему справа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000" marR="20000" marT="20000" marB="20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600">
                          <a:effectLst/>
                        </a:rPr>
                        <a:t>x&gt;=13</a:t>
                      </a:r>
                      <a:br>
                        <a:rPr lang="ru-RU" sz="1600">
                          <a:effectLst/>
                        </a:rPr>
                      </a:br>
                      <a:r>
                        <a:rPr lang="ru-RU" sz="1600">
                          <a:effectLst/>
                        </a:rPr>
                        <a:t>x&gt;=7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000" marR="20000" marT="20000" marB="20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600">
                          <a:effectLst/>
                        </a:rPr>
                        <a:t>false</a:t>
                      </a:r>
                      <a:br>
                        <a:rPr lang="ru-RU" sz="1600">
                          <a:effectLst/>
                        </a:rPr>
                      </a:br>
                      <a:r>
                        <a:rPr lang="ru-RU" sz="1600">
                          <a:effectLst/>
                        </a:rPr>
                        <a:t>true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000" marR="20000" marT="20000" marB="20000" anchor="ctr"/>
                </a:tc>
                <a:extLst>
                  <a:ext uri="{0D108BD9-81ED-4DB2-BD59-A6C34878D82A}">
                    <a16:rowId xmlns:a16="http://schemas.microsoft.com/office/drawing/2014/main" val="3812279050"/>
                  </a:ext>
                </a:extLst>
              </a:tr>
              <a:tr h="6202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600">
                          <a:effectLst/>
                        </a:rPr>
                        <a:t>&lt;=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000" marR="20000" marT="20000" marB="20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600">
                          <a:effectLst/>
                        </a:rPr>
                        <a:t>Проверяет является ли переменная или значение стоящее слева меньшим или равным стоящему справа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000" marR="20000" marT="20000" marB="20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600">
                          <a:effectLst/>
                        </a:rPr>
                        <a:t>x&lt;=13</a:t>
                      </a:r>
                      <a:br>
                        <a:rPr lang="ru-RU" sz="1600">
                          <a:effectLst/>
                        </a:rPr>
                      </a:br>
                      <a:r>
                        <a:rPr lang="ru-RU" sz="1600">
                          <a:effectLst/>
                        </a:rPr>
                        <a:t>x&lt;=7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000" marR="20000" marT="20000" marB="20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600" dirty="0" err="1">
                          <a:effectLst/>
                        </a:rPr>
                        <a:t>true</a:t>
                      </a:r>
                      <a:br>
                        <a:rPr lang="ru-RU" sz="1600" dirty="0">
                          <a:effectLst/>
                        </a:rPr>
                      </a:br>
                      <a:r>
                        <a:rPr lang="ru-RU" sz="1600" dirty="0" err="1">
                          <a:effectLst/>
                        </a:rPr>
                        <a:t>true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000" marR="20000" marT="20000" marB="20000" anchor="ctr"/>
                </a:tc>
                <a:extLst>
                  <a:ext uri="{0D108BD9-81ED-4DB2-BD59-A6C34878D82A}">
                    <a16:rowId xmlns:a16="http://schemas.microsoft.com/office/drawing/2014/main" val="3156888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1123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Пример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95401" y="2428407"/>
            <a:ext cx="9601196" cy="3807501"/>
          </a:xfrm>
        </p:spPr>
        <p:txBody>
          <a:bodyPr>
            <a:normAutofit fontScale="70000" lnSpcReduction="20000"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dirty="0"/>
              <a:t>//Запишем число 10 в переменную a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b="1" dirty="0" err="1"/>
              <a:t>var</a:t>
            </a:r>
            <a:r>
              <a:rPr lang="ru-RU" b="1" dirty="0"/>
              <a:t> a=10;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dirty="0"/>
              <a:t>//Запишем число 7 в переменную b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b="1" dirty="0" err="1"/>
              <a:t>var</a:t>
            </a:r>
            <a:r>
              <a:rPr lang="ru-RU" b="1" dirty="0"/>
              <a:t> b=7;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dirty="0"/>
              <a:t>//Проверим совпадают ли числа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b="1" dirty="0" err="1"/>
              <a:t>if</a:t>
            </a:r>
            <a:r>
              <a:rPr lang="ru-RU" b="1" dirty="0"/>
              <a:t> (a==b) {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dirty="0"/>
              <a:t>   //Если числа совпадают выведем "Числа совпадают"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dirty="0"/>
              <a:t>  </a:t>
            </a:r>
            <a:r>
              <a:rPr lang="ru-RU" b="1" dirty="0"/>
              <a:t> </a:t>
            </a:r>
            <a:r>
              <a:rPr lang="ru-RU" b="1" dirty="0" err="1"/>
              <a:t>document.write</a:t>
            </a:r>
            <a:r>
              <a:rPr lang="ru-RU" b="1" dirty="0"/>
              <a:t>("Числа совпадают");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b="1" dirty="0"/>
              <a:t>}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b="1" dirty="0" err="1"/>
              <a:t>else</a:t>
            </a:r>
            <a:r>
              <a:rPr lang="ru-RU" b="1" dirty="0"/>
              <a:t> {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dirty="0"/>
              <a:t>   //Если числа не совпадают выведем "Числа не совпадают"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b="1" dirty="0"/>
              <a:t>   </a:t>
            </a:r>
            <a:r>
              <a:rPr lang="ru-RU" b="1" dirty="0" err="1"/>
              <a:t>document.write</a:t>
            </a:r>
            <a:r>
              <a:rPr lang="ru-RU" b="1" dirty="0"/>
              <a:t>("Числа не совпадают");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442745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Логические операторы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789663"/>
              </p:ext>
            </p:extLst>
          </p:nvPr>
        </p:nvGraphicFramePr>
        <p:xfrm>
          <a:off x="2038660" y="2503358"/>
          <a:ext cx="8109680" cy="362761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27420">
                  <a:extLst>
                    <a:ext uri="{9D8B030D-6E8A-4147-A177-3AD203B41FA5}">
                      <a16:colId xmlns:a16="http://schemas.microsoft.com/office/drawing/2014/main" val="3621973236"/>
                    </a:ext>
                  </a:extLst>
                </a:gridCol>
                <a:gridCol w="2027420">
                  <a:extLst>
                    <a:ext uri="{9D8B030D-6E8A-4147-A177-3AD203B41FA5}">
                      <a16:colId xmlns:a16="http://schemas.microsoft.com/office/drawing/2014/main" val="1210099446"/>
                    </a:ext>
                  </a:extLst>
                </a:gridCol>
                <a:gridCol w="2027420">
                  <a:extLst>
                    <a:ext uri="{9D8B030D-6E8A-4147-A177-3AD203B41FA5}">
                      <a16:colId xmlns:a16="http://schemas.microsoft.com/office/drawing/2014/main" val="1207471949"/>
                    </a:ext>
                  </a:extLst>
                </a:gridCol>
                <a:gridCol w="2027420">
                  <a:extLst>
                    <a:ext uri="{9D8B030D-6E8A-4147-A177-3AD203B41FA5}">
                      <a16:colId xmlns:a16="http://schemas.microsoft.com/office/drawing/2014/main" val="765906956"/>
                    </a:ext>
                  </a:extLst>
                </a:gridCol>
              </a:tblGrid>
              <a:tr h="5931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Оператор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Значение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Пример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Результат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3096203565"/>
                  </a:ext>
                </a:extLst>
              </a:tr>
              <a:tr h="10114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&amp;&amp;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И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(x==2 &amp;&amp; y==9)</a:t>
                      </a:r>
                      <a:br>
                        <a:rPr lang="ru-RU" sz="1800">
                          <a:effectLst/>
                        </a:rPr>
                      </a:br>
                      <a:r>
                        <a:rPr lang="ru-RU" sz="1800">
                          <a:effectLst/>
                        </a:rPr>
                        <a:t>(x==3 &amp;&amp; y==9)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true</a:t>
                      </a:r>
                      <a:br>
                        <a:rPr lang="ru-RU" sz="1800">
                          <a:effectLst/>
                        </a:rPr>
                      </a:br>
                      <a:r>
                        <a:rPr lang="ru-RU" sz="1800">
                          <a:effectLst/>
                        </a:rPr>
                        <a:t>false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1931222492"/>
                  </a:ext>
                </a:extLst>
              </a:tr>
              <a:tr h="14298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||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ИЛИ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(x==2 || y==8)</a:t>
                      </a:r>
                      <a:br>
                        <a:rPr lang="ru-RU" sz="1800">
                          <a:effectLst/>
                        </a:rPr>
                      </a:br>
                      <a:r>
                        <a:rPr lang="ru-RU" sz="1800">
                          <a:effectLst/>
                        </a:rPr>
                        <a:t>(x==3 || y==9)</a:t>
                      </a:r>
                      <a:br>
                        <a:rPr lang="ru-RU" sz="1800">
                          <a:effectLst/>
                        </a:rPr>
                      </a:br>
                      <a:r>
                        <a:rPr lang="ru-RU" sz="1800">
                          <a:effectLst/>
                        </a:rPr>
                        <a:t>(x==5 || y==6)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true</a:t>
                      </a:r>
                      <a:br>
                        <a:rPr lang="ru-RU" sz="1800">
                          <a:effectLst/>
                        </a:rPr>
                      </a:br>
                      <a:r>
                        <a:rPr lang="ru-RU" sz="1800">
                          <a:effectLst/>
                        </a:rPr>
                        <a:t>true</a:t>
                      </a:r>
                      <a:br>
                        <a:rPr lang="ru-RU" sz="1800">
                          <a:effectLst/>
                        </a:rPr>
                      </a:br>
                      <a:r>
                        <a:rPr lang="ru-RU" sz="1800">
                          <a:effectLst/>
                        </a:rPr>
                        <a:t>false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1117599115"/>
                  </a:ext>
                </a:extLst>
              </a:tr>
              <a:tr h="5931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!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НЕ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!(x==3)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400"/>
                        </a:spcAft>
                      </a:pPr>
                      <a:r>
                        <a:rPr lang="ru-RU" sz="1800" dirty="0" err="1">
                          <a:effectLst/>
                        </a:rPr>
                        <a:t>true</a:t>
                      </a:r>
                      <a:endParaRPr lang="ru-RU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1798569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58539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Задание 5.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Подберите значения x и y удовлетворяющие заданным в логическом выражении условиям:</a:t>
            </a:r>
          </a:p>
          <a:p>
            <a:pPr marL="0" indent="0">
              <a:buNone/>
            </a:pPr>
            <a:r>
              <a:rPr lang="ru-RU" b="1" dirty="0" err="1"/>
              <a:t>var</a:t>
            </a:r>
            <a:r>
              <a:rPr lang="ru-RU" b="1" dirty="0"/>
              <a:t> x;</a:t>
            </a:r>
          </a:p>
          <a:p>
            <a:pPr marL="0" indent="0">
              <a:buNone/>
            </a:pPr>
            <a:r>
              <a:rPr lang="ru-RU" b="1" dirty="0" err="1"/>
              <a:t>var</a:t>
            </a:r>
            <a:r>
              <a:rPr lang="ru-RU" b="1" dirty="0"/>
              <a:t> y;</a:t>
            </a:r>
          </a:p>
          <a:p>
            <a:pPr marL="0" indent="0">
              <a:buNone/>
            </a:pPr>
            <a:r>
              <a:rPr lang="ru-RU" b="1" dirty="0" err="1"/>
              <a:t>if</a:t>
            </a:r>
            <a:r>
              <a:rPr lang="ru-RU" b="1" dirty="0"/>
              <a:t> ( (x/8 == y) &amp;&amp; (x &gt; 16) &amp;&amp; (y &lt; 5) &amp;&amp; (y != 3)  )</a:t>
            </a:r>
          </a:p>
          <a:p>
            <a:pPr marL="0" indent="0">
              <a:buNone/>
            </a:pPr>
            <a:r>
              <a:rPr lang="ru-RU" b="1" dirty="0" err="1"/>
              <a:t>document.write</a:t>
            </a:r>
            <a:r>
              <a:rPr lang="ru-RU" b="1" dirty="0"/>
              <a:t>('Вы подобрали правильные значения x и y &lt;b&gt;поздравляем&lt;/b&gt;!');</a:t>
            </a:r>
          </a:p>
          <a:p>
            <a:pPr marL="0" indent="0">
              <a:buNone/>
            </a:pPr>
            <a:r>
              <a:rPr lang="ru-RU" b="1" dirty="0" err="1"/>
              <a:t>else</a:t>
            </a:r>
            <a:endParaRPr lang="ru-RU" b="1" dirty="0"/>
          </a:p>
          <a:p>
            <a:pPr marL="0" indent="0">
              <a:buNone/>
            </a:pPr>
            <a:r>
              <a:rPr lang="ru-RU" b="1" dirty="0" err="1"/>
              <a:t>document.write</a:t>
            </a:r>
            <a:r>
              <a:rPr lang="ru-RU" b="1" dirty="0"/>
              <a:t>('Значения x и y не подходят попробуйте еще раз.');</a:t>
            </a:r>
          </a:p>
        </p:txBody>
      </p:sp>
    </p:spTree>
    <p:extLst>
      <p:ext uri="{BB962C8B-B14F-4D97-AF65-F5344CB8AC3E}">
        <p14:creationId xmlns:p14="http://schemas.microsoft.com/office/powerpoint/2010/main" val="18780825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Условные конструкции </a:t>
            </a:r>
            <a:r>
              <a:rPr lang="ru-RU" b="1" dirty="0" err="1"/>
              <a:t>JavaScript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Конструкция </a:t>
            </a:r>
            <a:r>
              <a:rPr lang="ru-RU" b="1" dirty="0" err="1"/>
              <a:t>if</a:t>
            </a:r>
            <a:endParaRPr lang="ru-RU" dirty="0"/>
          </a:p>
          <a:p>
            <a:pPr marL="0" indent="0">
              <a:buNone/>
            </a:pPr>
            <a:r>
              <a:rPr lang="ru-RU" dirty="0" err="1"/>
              <a:t>if</a:t>
            </a:r>
            <a:r>
              <a:rPr lang="ru-RU" dirty="0"/>
              <a:t> (условие) {</a:t>
            </a:r>
          </a:p>
          <a:p>
            <a:pPr marL="0" indent="0">
              <a:buNone/>
            </a:pPr>
            <a:r>
              <a:rPr lang="ru-RU" dirty="0"/>
              <a:t>   //Команды расположенные здесь будут выполнены только если условие истинно</a:t>
            </a:r>
          </a:p>
          <a:p>
            <a:pPr marL="0" indent="0">
              <a:buNone/>
            </a:pPr>
            <a:r>
              <a:rPr lang="ru-RU" dirty="0"/>
              <a:t>}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57304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Условные конструкции </a:t>
            </a:r>
            <a:r>
              <a:rPr lang="ru-RU" b="1" dirty="0" err="1"/>
              <a:t>JavaScript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/>
              <a:t>Конструкция </a:t>
            </a:r>
            <a:r>
              <a:rPr lang="ru-RU" b="1" dirty="0" err="1"/>
              <a:t>if</a:t>
            </a:r>
            <a:r>
              <a:rPr lang="ru-RU" b="1" dirty="0"/>
              <a:t>..</a:t>
            </a:r>
            <a:r>
              <a:rPr lang="ru-RU" b="1" dirty="0" err="1"/>
              <a:t>else</a:t>
            </a:r>
            <a:endParaRPr lang="ru-RU" dirty="0"/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dirty="0" err="1"/>
              <a:t>if</a:t>
            </a:r>
            <a:r>
              <a:rPr lang="ru-RU" dirty="0"/>
              <a:t> (условие) {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dirty="0"/>
              <a:t>   //Команды расположенные здесь будут выполнены только если условие истинно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dirty="0"/>
              <a:t>}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dirty="0" err="1"/>
              <a:t>else</a:t>
            </a:r>
            <a:r>
              <a:rPr lang="ru-RU" dirty="0"/>
              <a:t> {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dirty="0"/>
              <a:t>   //Команды расположенные здесь будут выполнены только если условие ложно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ru-RU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438006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Условные конструкции </a:t>
            </a:r>
            <a:r>
              <a:rPr lang="ru-RU" b="1" dirty="0" err="1"/>
              <a:t>JavaScript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4282" y="2353455"/>
            <a:ext cx="9802315" cy="4062335"/>
          </a:xfrm>
        </p:spPr>
        <p:txBody>
          <a:bodyPr>
            <a:normAutofit fontScale="77500" lnSpcReduction="20000"/>
          </a:bodyPr>
          <a:lstStyle/>
          <a:p>
            <a:r>
              <a:rPr lang="ru-RU" b="1" dirty="0"/>
              <a:t>Конструкция </a:t>
            </a:r>
            <a:r>
              <a:rPr lang="ru-RU" b="1" dirty="0" err="1"/>
              <a:t>if</a:t>
            </a:r>
            <a:r>
              <a:rPr lang="ru-RU" b="1" dirty="0"/>
              <a:t>..</a:t>
            </a:r>
            <a:r>
              <a:rPr lang="ru-RU" b="1" dirty="0" err="1"/>
              <a:t>else</a:t>
            </a:r>
            <a:r>
              <a:rPr lang="ru-RU" b="1" dirty="0"/>
              <a:t> </a:t>
            </a:r>
            <a:r>
              <a:rPr lang="ru-RU" b="1" dirty="0" err="1"/>
              <a:t>if</a:t>
            </a:r>
            <a:r>
              <a:rPr lang="ru-RU" b="1" dirty="0"/>
              <a:t>..</a:t>
            </a:r>
            <a:r>
              <a:rPr lang="ru-RU" b="1" dirty="0" err="1"/>
              <a:t>else</a:t>
            </a:r>
            <a:endParaRPr lang="ru-RU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ru-RU" dirty="0" err="1"/>
              <a:t>if</a:t>
            </a:r>
            <a:r>
              <a:rPr lang="ru-RU" dirty="0"/>
              <a:t> (условие1) {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ru-RU" dirty="0"/>
              <a:t>   //Команды расположенные здесь будут выполнены только если условие1 истинно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ru-RU" dirty="0"/>
              <a:t>}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ru-RU" dirty="0" err="1"/>
              <a:t>else</a:t>
            </a:r>
            <a:r>
              <a:rPr lang="ru-RU" dirty="0"/>
              <a:t> </a:t>
            </a:r>
            <a:r>
              <a:rPr lang="ru-RU" dirty="0" err="1"/>
              <a:t>if</a:t>
            </a:r>
            <a:r>
              <a:rPr lang="ru-RU" dirty="0"/>
              <a:t> (условие2) {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ru-RU" dirty="0"/>
              <a:t>   //Команды расположенные здесь будут выполнены только если условие2 истинно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ru-RU" dirty="0"/>
              <a:t>}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ru-RU" dirty="0"/>
              <a:t>....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ru-RU" dirty="0" err="1"/>
              <a:t>else</a:t>
            </a:r>
            <a:r>
              <a:rPr lang="ru-RU" dirty="0"/>
              <a:t> </a:t>
            </a:r>
            <a:r>
              <a:rPr lang="ru-RU" dirty="0" err="1"/>
              <a:t>if</a:t>
            </a:r>
            <a:r>
              <a:rPr lang="ru-RU" dirty="0"/>
              <a:t> (</a:t>
            </a:r>
            <a:r>
              <a:rPr lang="ru-RU" dirty="0" err="1"/>
              <a:t>условиеN</a:t>
            </a:r>
            <a:r>
              <a:rPr lang="ru-RU" dirty="0"/>
              <a:t>) {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ru-RU" dirty="0"/>
              <a:t>   //Команды расположенные здесь будут выполнены только если </a:t>
            </a:r>
            <a:r>
              <a:rPr lang="ru-RU" dirty="0" err="1"/>
              <a:t>условиеN</a:t>
            </a:r>
            <a:r>
              <a:rPr lang="ru-RU" dirty="0"/>
              <a:t> истинно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ru-RU" dirty="0"/>
              <a:t>}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ru-RU" dirty="0" err="1"/>
              <a:t>else</a:t>
            </a:r>
            <a:r>
              <a:rPr lang="ru-RU" dirty="0"/>
              <a:t> {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ru-RU" dirty="0"/>
              <a:t>   //Команды расположенные здесь будут выполнены если ни одно из условий выше не было истинно</a:t>
            </a:r>
          </a:p>
        </p:txBody>
      </p:sp>
    </p:spTree>
    <p:extLst>
      <p:ext uri="{BB962C8B-B14F-4D97-AF65-F5344CB8AC3E}">
        <p14:creationId xmlns:p14="http://schemas.microsoft.com/office/powerpoint/2010/main" val="16219073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Условные конструкции </a:t>
            </a:r>
            <a:r>
              <a:rPr lang="ru-RU" b="1" dirty="0" err="1"/>
              <a:t>JavaScript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4282" y="2518348"/>
            <a:ext cx="9802315" cy="3642609"/>
          </a:xfrm>
        </p:spPr>
        <p:txBody>
          <a:bodyPr>
            <a:normAutofit/>
          </a:bodyPr>
          <a:lstStyle/>
          <a:p>
            <a:r>
              <a:rPr lang="ru-RU" b="1" dirty="0"/>
              <a:t>Альтернативный синтаксис конструкции </a:t>
            </a:r>
            <a:r>
              <a:rPr lang="ru-RU" b="1" dirty="0" err="1"/>
              <a:t>if</a:t>
            </a:r>
            <a:r>
              <a:rPr lang="ru-RU" b="1" dirty="0"/>
              <a:t>..</a:t>
            </a:r>
            <a:r>
              <a:rPr lang="ru-RU" b="1" dirty="0" err="1"/>
              <a:t>else</a:t>
            </a:r>
            <a:endParaRPr lang="en-US" b="1" dirty="0"/>
          </a:p>
          <a:p>
            <a:pPr marL="0" indent="0">
              <a:buNone/>
            </a:pPr>
            <a:r>
              <a:rPr lang="en-US" b="1" dirty="0" err="1"/>
              <a:t>var</a:t>
            </a:r>
            <a:r>
              <a:rPr lang="en-US" b="1" dirty="0"/>
              <a:t> a</a:t>
            </a:r>
            <a:r>
              <a:rPr lang="ru-RU" b="1" dirty="0"/>
              <a:t>=20;</a:t>
            </a:r>
          </a:p>
          <a:p>
            <a:pPr marL="0" indent="0">
              <a:buNone/>
            </a:pPr>
            <a:r>
              <a:rPr lang="en-US" b="1" dirty="0" err="1"/>
              <a:t>var</a:t>
            </a:r>
            <a:r>
              <a:rPr lang="en-US" b="1" dirty="0"/>
              <a:t> b</a:t>
            </a:r>
            <a:r>
              <a:rPr lang="ru-RU" b="1" dirty="0"/>
              <a:t>=44;</a:t>
            </a:r>
          </a:p>
          <a:p>
            <a:pPr marL="0" indent="0">
              <a:buNone/>
            </a:pPr>
            <a:r>
              <a:rPr lang="ru-RU" dirty="0"/>
              <a:t>//Если переменная a больше переменной b, то переменной с будет присвоено 10, а если нет 20.</a:t>
            </a:r>
          </a:p>
          <a:p>
            <a:pPr marL="0" indent="0">
              <a:buNone/>
            </a:pPr>
            <a:r>
              <a:rPr lang="ru-RU" b="1" dirty="0" err="1"/>
              <a:t>var</a:t>
            </a:r>
            <a:r>
              <a:rPr lang="ru-RU" b="1" dirty="0"/>
              <a:t> c=(a&gt;b)?10:20;</a:t>
            </a:r>
          </a:p>
          <a:p>
            <a:pPr marL="0" indent="0">
              <a:buNone/>
            </a:pPr>
            <a:r>
              <a:rPr lang="ru-RU" dirty="0"/>
              <a:t>//Выведем значение переменной c на страницу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606381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95403" y="982132"/>
            <a:ext cx="3259506" cy="1303867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Конструкция </a:t>
            </a:r>
            <a:br>
              <a:rPr lang="en-US" b="1" dirty="0"/>
            </a:br>
            <a:r>
              <a:rPr lang="ru-RU" b="1" dirty="0" err="1"/>
              <a:t>Switch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973651" y="632389"/>
            <a:ext cx="6323889" cy="5554766"/>
          </a:xfrm>
          <a:solidFill>
            <a:srgbClr val="F9F9F9"/>
          </a:solidFill>
        </p:spPr>
        <p:txBody>
          <a:bodyPr>
            <a:noAutofit/>
          </a:bodyPr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dirty="0"/>
              <a:t>switch </a:t>
            </a:r>
            <a:r>
              <a:rPr lang="ru-RU" sz="1600" dirty="0"/>
              <a:t>(</a:t>
            </a:r>
            <a:r>
              <a:rPr lang="en-US" sz="1600" dirty="0"/>
              <a:t>x</a:t>
            </a:r>
            <a:r>
              <a:rPr lang="ru-RU" sz="1600" dirty="0"/>
              <a:t>) {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1600" dirty="0"/>
              <a:t>   </a:t>
            </a:r>
            <a:r>
              <a:rPr lang="en-US" sz="1600" dirty="0"/>
              <a:t>  case n</a:t>
            </a:r>
            <a:r>
              <a:rPr lang="ru-RU" sz="1600" dirty="0"/>
              <a:t>: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1600" dirty="0"/>
              <a:t>     </a:t>
            </a:r>
            <a:r>
              <a:rPr lang="en-US" sz="1600" dirty="0"/>
              <a:t>  </a:t>
            </a:r>
            <a:r>
              <a:rPr lang="ru-RU" sz="1600" dirty="0"/>
              <a:t> Команды этого блока будут выполнены если x=n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1600" dirty="0"/>
              <a:t>   </a:t>
            </a:r>
            <a:r>
              <a:rPr lang="en-US" sz="1600" dirty="0"/>
              <a:t>  </a:t>
            </a:r>
            <a:r>
              <a:rPr lang="ru-RU" sz="1600" dirty="0" err="1"/>
              <a:t>break</a:t>
            </a:r>
            <a:r>
              <a:rPr lang="ru-RU" sz="1600" dirty="0"/>
              <a:t>;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1600" dirty="0"/>
              <a:t>   </a:t>
            </a:r>
            <a:r>
              <a:rPr lang="en-US" sz="1600" dirty="0"/>
              <a:t>  </a:t>
            </a:r>
            <a:r>
              <a:rPr lang="ru-RU" sz="1600" dirty="0" err="1"/>
              <a:t>case</a:t>
            </a:r>
            <a:r>
              <a:rPr lang="ru-RU" sz="1600" dirty="0"/>
              <a:t> t: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1600" dirty="0"/>
              <a:t>     </a:t>
            </a:r>
            <a:r>
              <a:rPr lang="en-US" sz="1600" dirty="0"/>
              <a:t>  </a:t>
            </a:r>
            <a:r>
              <a:rPr lang="ru-RU" sz="1600" dirty="0"/>
              <a:t> Команды этого блока будут выполнены если x=t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1600" dirty="0"/>
              <a:t>   </a:t>
            </a:r>
            <a:r>
              <a:rPr lang="en-US" sz="1600" dirty="0"/>
              <a:t>  </a:t>
            </a:r>
            <a:r>
              <a:rPr lang="ru-RU" sz="1600" dirty="0" err="1"/>
              <a:t>break</a:t>
            </a:r>
            <a:r>
              <a:rPr lang="ru-RU" sz="1600" dirty="0"/>
              <a:t>;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1600" dirty="0"/>
              <a:t>   </a:t>
            </a:r>
            <a:r>
              <a:rPr lang="en-US" sz="1600" dirty="0"/>
              <a:t>  </a:t>
            </a:r>
            <a:r>
              <a:rPr lang="ru-RU" sz="1600" dirty="0" err="1"/>
              <a:t>case</a:t>
            </a:r>
            <a:r>
              <a:rPr lang="ru-RU" sz="1600" dirty="0"/>
              <a:t> j: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1600" dirty="0"/>
              <a:t>     </a:t>
            </a:r>
            <a:r>
              <a:rPr lang="en-US" sz="1600" dirty="0"/>
              <a:t>  </a:t>
            </a:r>
            <a:r>
              <a:rPr lang="ru-RU" sz="1600" dirty="0"/>
              <a:t> Команды этого блока будут выполнены если x=j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1600" dirty="0"/>
              <a:t>   </a:t>
            </a:r>
            <a:r>
              <a:rPr lang="en-US" sz="1600" dirty="0"/>
              <a:t>  </a:t>
            </a:r>
            <a:r>
              <a:rPr lang="ru-RU" sz="1600" dirty="0" err="1"/>
              <a:t>break</a:t>
            </a:r>
            <a:r>
              <a:rPr lang="ru-RU" sz="1600" dirty="0"/>
              <a:t>;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1600" dirty="0"/>
              <a:t>   </a:t>
            </a:r>
            <a:r>
              <a:rPr lang="en-US" sz="1600" dirty="0"/>
              <a:t>  </a:t>
            </a:r>
            <a:r>
              <a:rPr lang="ru-RU" sz="1600" dirty="0" err="1"/>
              <a:t>default</a:t>
            </a:r>
            <a:r>
              <a:rPr lang="ru-RU" sz="1600" dirty="0"/>
              <a:t>: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1600" dirty="0"/>
              <a:t>     </a:t>
            </a:r>
            <a:r>
              <a:rPr lang="en-US" sz="1600" dirty="0"/>
              <a:t>  </a:t>
            </a:r>
            <a:r>
              <a:rPr lang="ru-RU" sz="1600" dirty="0"/>
              <a:t> Команды этого блока будет выполнены если x не равен n, t и j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1600" dirty="0"/>
              <a:t>}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1600" i="1" dirty="0"/>
              <a:t>/* Если Вы хотите, чтобы при нескольких разных условиях был выполнен один и тот же блок команд просто объедините блоки: */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dirty="0"/>
              <a:t>switch (x){</a:t>
            </a:r>
            <a:endParaRPr lang="ru-RU" sz="16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dirty="0"/>
              <a:t>case n: case t: case j:</a:t>
            </a:r>
            <a:endParaRPr lang="ru-RU" sz="16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dirty="0"/>
              <a:t>   </a:t>
            </a:r>
            <a:r>
              <a:rPr lang="ru-RU" sz="1600" dirty="0"/>
              <a:t>Команды этого блока будут выполнены если x=n или x=t или x=j 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532889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4789204" cy="1303867"/>
          </a:xfrm>
        </p:spPr>
        <p:txBody>
          <a:bodyPr/>
          <a:lstStyle/>
          <a:p>
            <a:r>
              <a:rPr lang="ru-RU" b="1" dirty="0"/>
              <a:t>Задание 6.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857619"/>
              </p:ext>
            </p:extLst>
          </p:nvPr>
        </p:nvGraphicFramePr>
        <p:xfrm>
          <a:off x="5672615" y="854577"/>
          <a:ext cx="5648770" cy="5391471"/>
        </p:xfrm>
        <a:graphic>
          <a:graphicData uri="http://schemas.openxmlformats.org/drawingml/2006/table">
            <a:tbl>
              <a:tblPr/>
              <a:tblGrid>
                <a:gridCol w="704628">
                  <a:extLst>
                    <a:ext uri="{9D8B030D-6E8A-4147-A177-3AD203B41FA5}">
                      <a16:colId xmlns:a16="http://schemas.microsoft.com/office/drawing/2014/main" val="2087880971"/>
                    </a:ext>
                  </a:extLst>
                </a:gridCol>
                <a:gridCol w="4243386">
                  <a:extLst>
                    <a:ext uri="{9D8B030D-6E8A-4147-A177-3AD203B41FA5}">
                      <a16:colId xmlns:a16="http://schemas.microsoft.com/office/drawing/2014/main" val="617261080"/>
                    </a:ext>
                  </a:extLst>
                </a:gridCol>
                <a:gridCol w="700756">
                  <a:extLst>
                    <a:ext uri="{9D8B030D-6E8A-4147-A177-3AD203B41FA5}">
                      <a16:colId xmlns:a16="http://schemas.microsoft.com/office/drawing/2014/main" val="1211146050"/>
                    </a:ext>
                  </a:extLst>
                </a:gridCol>
              </a:tblGrid>
              <a:tr h="246751">
                <a:tc>
                  <a:txBody>
                    <a:bodyPr/>
                    <a:lstStyle/>
                    <a:p>
                      <a:pPr algn="ctr"/>
                      <a:r>
                        <a:rPr lang="ru-RU" sz="1100" b="1">
                          <a:effectLst/>
                        </a:rPr>
                        <a:t>Номер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0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effectLst/>
                        </a:rPr>
                        <a:t>Условие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0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>
                          <a:effectLst/>
                        </a:rPr>
                        <a:t>Буква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0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220081"/>
                  </a:ext>
                </a:extLst>
              </a:tr>
              <a:tr h="246751"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1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Равна ли переменная var1 25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А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2913602"/>
                  </a:ext>
                </a:extLst>
              </a:tr>
              <a:tr h="246751"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2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Больше ли переменная var1 15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Ж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247668"/>
                  </a:ext>
                </a:extLst>
              </a:tr>
              <a:tr h="246751"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3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Меньше ли переменная var1 33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К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4272982"/>
                  </a:ext>
                </a:extLst>
              </a:tr>
              <a:tr h="246751"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4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Равна ли переменная var2 10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А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436653"/>
                  </a:ext>
                </a:extLst>
              </a:tr>
              <a:tr h="300091"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5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effectLst/>
                        </a:rPr>
                        <a:t>Равна ли сумма переменных var1 и var2 30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Д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3667518"/>
                  </a:ext>
                </a:extLst>
              </a:tr>
              <a:tr h="300091"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6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effectLst/>
                        </a:rPr>
                        <a:t>Равна ли разность переменных var2 и var1 7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Ш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6171432"/>
                  </a:ext>
                </a:extLst>
              </a:tr>
              <a:tr h="246751"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7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effectLst/>
                        </a:rPr>
                        <a:t>Меньше ли переменная var3 чем 6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М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3203262"/>
                  </a:ext>
                </a:extLst>
              </a:tr>
              <a:tr h="369342"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8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Равна ли переменная var3 8, и сумма переменных var1 и var2 17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З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2200557"/>
                  </a:ext>
                </a:extLst>
              </a:tr>
              <a:tr h="507846"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9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effectLst/>
                        </a:rPr>
                        <a:t>Равна ли разность переменных var3 и var2 сумме переменных var1 и var2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Н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674870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10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effectLst/>
                        </a:rPr>
                        <a:t>Равна ли переменная var4 сумме переменных var1 var2 и var3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А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4979418"/>
                  </a:ext>
                </a:extLst>
              </a:tr>
              <a:tr h="471464"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11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effectLst/>
                        </a:rPr>
                        <a:t>Больше ли переменная var4 разности var2 и var3 умноженной на 4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Н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1315280"/>
                  </a:ext>
                </a:extLst>
              </a:tr>
              <a:tr h="507846"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12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effectLst/>
                        </a:rPr>
                        <a:t>Равна ли переменная var5 переменной var1 умноженной на 4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Б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2816986"/>
                  </a:ext>
                </a:extLst>
              </a:tr>
              <a:tr h="507846"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13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effectLst/>
                        </a:rPr>
                        <a:t>Равна ли переменная var5 переменной var2 умноженной на 3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Ь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6942010"/>
                  </a:ext>
                </a:extLst>
              </a:tr>
              <a:tr h="507846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effectLst/>
                        </a:rPr>
                        <a:t>14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effectLst/>
                        </a:rPr>
                        <a:t>Больше ли сумма переменных var1, var2, var3, var4, var5 деленная на 3 чем 60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effectLst/>
                        </a:rPr>
                        <a:t>К</a:t>
                      </a:r>
                    </a:p>
                  </a:txBody>
                  <a:tcPr marL="14945" marR="14945" marT="7473" marB="74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3801523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47574" y="2396897"/>
            <a:ext cx="4625041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Во внешнем файле 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secred2.js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заданы несколько переменных с определенными значениями. </a:t>
            </a: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Ниже задана 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с условиями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на которые Вы должны проверить значения переменных в файле secred2.js. Если условие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истино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то буква соответствующая ему является частью 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ключевого слова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Подключите файл и напишите скрипт, который выведет это ключевое слово используя условные конструкции.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74122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Окна оповещения в </a:t>
            </a:r>
            <a:r>
              <a:rPr lang="ru-RU" b="1" dirty="0" err="1"/>
              <a:t>JavaScript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95401" y="2556932"/>
            <a:ext cx="4756483" cy="511121"/>
          </a:xfrm>
        </p:spPr>
        <p:txBody>
          <a:bodyPr>
            <a:normAutofit/>
          </a:bodyPr>
          <a:lstStyle/>
          <a:p>
            <a:r>
              <a:rPr lang="ru-RU" dirty="0" err="1"/>
              <a:t>alert</a:t>
            </a:r>
            <a:r>
              <a:rPr lang="ru-RU" dirty="0"/>
              <a:t>("Текст окна оповещения");</a:t>
            </a: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1251286" y="3773458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b="1" dirty="0"/>
              <a:t>Окна подтверждения в </a:t>
            </a:r>
            <a:r>
              <a:rPr lang="ru-RU" b="1" dirty="0" err="1"/>
              <a:t>JavaScript</a:t>
            </a:r>
            <a:endParaRPr lang="ru-RU" dirty="0"/>
          </a:p>
        </p:txBody>
      </p:sp>
      <p:sp>
        <p:nvSpPr>
          <p:cNvPr id="5" name="Объект 2"/>
          <p:cNvSpPr txBox="1">
            <a:spLocks/>
          </p:cNvSpPr>
          <p:nvPr/>
        </p:nvSpPr>
        <p:spPr>
          <a:xfrm>
            <a:off x="1251285" y="5348258"/>
            <a:ext cx="6436894" cy="5111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err="1"/>
              <a:t>var</a:t>
            </a:r>
            <a:r>
              <a:rPr lang="ru-RU" dirty="0"/>
              <a:t> x=</a:t>
            </a:r>
            <a:r>
              <a:rPr lang="ru-RU" dirty="0" err="1"/>
              <a:t>confirm</a:t>
            </a:r>
            <a:r>
              <a:rPr lang="ru-RU" dirty="0"/>
              <a:t>("Текст окна подтверждения");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40" t="37454"/>
          <a:stretch/>
        </p:blipFill>
        <p:spPr>
          <a:xfrm>
            <a:off x="6051884" y="1974036"/>
            <a:ext cx="2779295" cy="194464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1531" y="4820349"/>
            <a:ext cx="4124914" cy="1363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9747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Окна запроса в </a:t>
            </a:r>
            <a:r>
              <a:rPr lang="ru-RU" b="1" dirty="0" err="1"/>
              <a:t>JavaScript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95401" y="2556932"/>
            <a:ext cx="8859252" cy="691594"/>
          </a:xfrm>
        </p:spPr>
        <p:txBody>
          <a:bodyPr/>
          <a:lstStyle/>
          <a:p>
            <a:r>
              <a:rPr lang="ru-RU" dirty="0" err="1"/>
              <a:t>var</a:t>
            </a:r>
            <a:r>
              <a:rPr lang="ru-RU" dirty="0"/>
              <a:t> x=</a:t>
            </a:r>
            <a:r>
              <a:rPr lang="ru-RU" dirty="0" err="1"/>
              <a:t>prompt</a:t>
            </a:r>
            <a:r>
              <a:rPr lang="ru-RU" dirty="0"/>
              <a:t>("Текст окна запроса", "Заполнитель поля ввода");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7794" y="3418473"/>
            <a:ext cx="6750953" cy="174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3606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Задание 7.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7.1   </a:t>
            </a:r>
            <a:r>
              <a:rPr lang="ru-RU" dirty="0"/>
              <a:t>Создайте на странице вызов окна «Запроса» с запросом вашего имени, затем произведите запуск окна «Подтверждения» для подтверждения вашего имени и третьим вызовите окно оповещения с надписью «Приветствуем </a:t>
            </a:r>
            <a:r>
              <a:rPr lang="ru-RU" b="1" i="1" dirty="0"/>
              <a:t>ИМЯ</a:t>
            </a:r>
            <a:r>
              <a:rPr lang="ru-RU" dirty="0"/>
              <a:t> на нашем сайте!»</a:t>
            </a:r>
          </a:p>
          <a:p>
            <a:r>
              <a:rPr lang="ru-RU" b="1" dirty="0"/>
              <a:t>7.2   </a:t>
            </a:r>
            <a:r>
              <a:rPr lang="ru-RU" dirty="0"/>
              <a:t>Создать файл </a:t>
            </a:r>
            <a:r>
              <a:rPr lang="en-US" dirty="0"/>
              <a:t>pass.js</a:t>
            </a:r>
            <a:r>
              <a:rPr lang="ru-RU" dirty="0"/>
              <a:t> в котором нужно определить переменную </a:t>
            </a:r>
            <a:r>
              <a:rPr lang="en-US" dirty="0"/>
              <a:t>pass</a:t>
            </a:r>
            <a:r>
              <a:rPr lang="ru-RU" dirty="0"/>
              <a:t> и задать ей значение пароля. В основном файле с помощью окна «Запроса» запросить пароль и выдать сообщение после проверки о правильности введенного пароля либо обратно на запрос пароля.</a:t>
            </a:r>
          </a:p>
        </p:txBody>
      </p:sp>
    </p:spTree>
    <p:extLst>
      <p:ext uri="{BB962C8B-B14F-4D97-AF65-F5344CB8AC3E}">
        <p14:creationId xmlns:p14="http://schemas.microsoft.com/office/powerpoint/2010/main" val="17754965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Циклы </a:t>
            </a:r>
            <a:r>
              <a:rPr lang="ru-RU" b="1" dirty="0" err="1"/>
              <a:t>JavaScript</a:t>
            </a:r>
            <a:r>
              <a:rPr lang="ru-RU" b="1" dirty="0"/>
              <a:t>. Цикл </a:t>
            </a:r>
            <a:r>
              <a:rPr lang="ru-RU" b="1" dirty="0" err="1"/>
              <a:t>For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b="1" dirty="0"/>
              <a:t>Синтаксис:</a:t>
            </a:r>
            <a:endParaRPr lang="ru-RU" dirty="0"/>
          </a:p>
          <a:p>
            <a:pPr marL="0" indent="0">
              <a:buNone/>
            </a:pPr>
            <a:r>
              <a:rPr lang="ru-RU" dirty="0" err="1"/>
              <a:t>for</a:t>
            </a:r>
            <a:r>
              <a:rPr lang="ru-RU" dirty="0"/>
              <a:t> (блок </a:t>
            </a:r>
            <a:r>
              <a:rPr lang="ru-RU" dirty="0" err="1"/>
              <a:t>определения;условие;блок</a:t>
            </a:r>
            <a:r>
              <a:rPr lang="ru-RU" dirty="0"/>
              <a:t> изменения) {</a:t>
            </a:r>
          </a:p>
          <a:p>
            <a:pPr marL="0" indent="0">
              <a:buNone/>
            </a:pPr>
            <a:r>
              <a:rPr lang="ru-RU" dirty="0"/>
              <a:t>   //Блок команд, который будет повторно выполняться пока условие истинно</a:t>
            </a:r>
          </a:p>
          <a:p>
            <a:pPr marL="0" indent="0">
              <a:buNone/>
            </a:pPr>
            <a:r>
              <a:rPr lang="ru-RU" dirty="0"/>
              <a:t>}</a:t>
            </a:r>
          </a:p>
          <a:p>
            <a:pPr marL="0" indent="0" algn="ctr">
              <a:buNone/>
            </a:pPr>
            <a:r>
              <a:rPr lang="ru-RU" b="1" dirty="0"/>
              <a:t>Пример: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for (</a:t>
            </a:r>
            <a:r>
              <a:rPr lang="en-US" dirty="0" err="1"/>
              <a:t>i</a:t>
            </a:r>
            <a:r>
              <a:rPr lang="en-US" dirty="0"/>
              <a:t>=1;i&lt;=30;i++)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document.write</a:t>
            </a:r>
            <a:r>
              <a:rPr lang="en-US" dirty="0"/>
              <a:t> (</a:t>
            </a:r>
            <a:r>
              <a:rPr lang="en-US" dirty="0" err="1"/>
              <a:t>i</a:t>
            </a:r>
            <a:r>
              <a:rPr lang="en-US" dirty="0"/>
              <a:t>+'&lt;</a:t>
            </a:r>
            <a:r>
              <a:rPr lang="en-US" dirty="0" err="1"/>
              <a:t>br</a:t>
            </a:r>
            <a:r>
              <a:rPr lang="en-US" dirty="0"/>
              <a:t> /&gt;');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}</a:t>
            </a:r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66102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Цикл </a:t>
            </a:r>
            <a:r>
              <a:rPr lang="ru-RU" b="1" dirty="0" err="1"/>
              <a:t>While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ru-RU" b="1" dirty="0"/>
              <a:t>Синтаксис:</a:t>
            </a:r>
            <a:endParaRPr lang="ru-RU" dirty="0"/>
          </a:p>
          <a:p>
            <a:pPr marL="0" indent="0">
              <a:buNone/>
            </a:pPr>
            <a:r>
              <a:rPr lang="ru-RU" dirty="0" err="1"/>
              <a:t>while</a:t>
            </a:r>
            <a:r>
              <a:rPr lang="ru-RU" dirty="0"/>
              <a:t> (условие) {</a:t>
            </a:r>
          </a:p>
          <a:p>
            <a:pPr marL="0" indent="0">
              <a:buNone/>
            </a:pPr>
            <a:r>
              <a:rPr lang="ru-RU" dirty="0"/>
              <a:t>  //Блок команд, который будет повторно выполняться если условие истинно</a:t>
            </a:r>
          </a:p>
          <a:p>
            <a:pPr marL="0" indent="0">
              <a:buNone/>
            </a:pPr>
            <a:r>
              <a:rPr lang="ru-RU" dirty="0"/>
              <a:t>}</a:t>
            </a:r>
          </a:p>
          <a:p>
            <a:pPr marL="0" indent="0" algn="ctr">
              <a:buNone/>
            </a:pPr>
            <a:r>
              <a:rPr lang="ru-RU" b="1" dirty="0"/>
              <a:t>Пример:</a:t>
            </a:r>
            <a:endParaRPr lang="ru-RU" dirty="0"/>
          </a:p>
          <a:p>
            <a:pPr marL="0" indent="0">
              <a:buNone/>
            </a:pPr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=1;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while (</a:t>
            </a:r>
            <a:r>
              <a:rPr lang="en-US" dirty="0" err="1"/>
              <a:t>i</a:t>
            </a:r>
            <a:r>
              <a:rPr lang="en-US" dirty="0"/>
              <a:t>&lt;=30)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document.write</a:t>
            </a:r>
            <a:r>
              <a:rPr lang="en-US" dirty="0"/>
              <a:t> (</a:t>
            </a:r>
            <a:r>
              <a:rPr lang="en-US" dirty="0" err="1"/>
              <a:t>i</a:t>
            </a:r>
            <a:r>
              <a:rPr lang="en-US" dirty="0"/>
              <a:t>+'&lt;</a:t>
            </a:r>
            <a:r>
              <a:rPr lang="en-US" dirty="0" err="1"/>
              <a:t>br</a:t>
            </a:r>
            <a:r>
              <a:rPr lang="en-US" dirty="0"/>
              <a:t> /&gt;');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</a:t>
            </a:r>
            <a:r>
              <a:rPr lang="ru-RU" dirty="0"/>
              <a:t>i++;</a:t>
            </a:r>
          </a:p>
          <a:p>
            <a:pPr marL="0" indent="0">
              <a:buNone/>
            </a:pPr>
            <a:r>
              <a:rPr lang="ru-RU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106339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Цикл </a:t>
            </a:r>
            <a:r>
              <a:rPr lang="ru-RU" b="1" dirty="0" err="1"/>
              <a:t>do</a:t>
            </a:r>
            <a:r>
              <a:rPr lang="ru-RU" b="1" dirty="0"/>
              <a:t>..</a:t>
            </a:r>
            <a:r>
              <a:rPr lang="ru-RU" b="1" dirty="0" err="1"/>
              <a:t>while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95401" y="2466475"/>
            <a:ext cx="9601196" cy="3741820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ru-RU" b="1" dirty="0"/>
              <a:t>Синтаксис:</a:t>
            </a:r>
            <a:endParaRPr lang="ru-RU" dirty="0"/>
          </a:p>
          <a:p>
            <a:pPr marL="0" indent="0">
              <a:buNone/>
            </a:pPr>
            <a:r>
              <a:rPr lang="ru-RU" dirty="0" err="1"/>
              <a:t>do</a:t>
            </a:r>
            <a:r>
              <a:rPr lang="ru-RU" dirty="0"/>
              <a:t> {</a:t>
            </a:r>
          </a:p>
          <a:p>
            <a:pPr marL="0" indent="0">
              <a:buNone/>
            </a:pPr>
            <a:r>
              <a:rPr lang="ru-RU" dirty="0"/>
              <a:t>   //Блок команд, который будет выполнен больше одного раза если условие истинно</a:t>
            </a:r>
          </a:p>
          <a:p>
            <a:pPr marL="0" indent="0">
              <a:buNone/>
            </a:pPr>
            <a:r>
              <a:rPr lang="ru-RU" dirty="0"/>
              <a:t>}</a:t>
            </a:r>
          </a:p>
          <a:p>
            <a:pPr marL="0" indent="0">
              <a:buNone/>
            </a:pPr>
            <a:r>
              <a:rPr lang="ru-RU" dirty="0" err="1"/>
              <a:t>while</a:t>
            </a:r>
            <a:r>
              <a:rPr lang="ru-RU" dirty="0"/>
              <a:t> (условие);</a:t>
            </a:r>
          </a:p>
          <a:p>
            <a:pPr marL="0" indent="0" algn="ctr">
              <a:buNone/>
            </a:pPr>
            <a:r>
              <a:rPr lang="ru-RU" b="1" dirty="0"/>
              <a:t>Пример</a:t>
            </a:r>
            <a:endParaRPr lang="ru-RU" dirty="0"/>
          </a:p>
          <a:p>
            <a:pPr marL="0" indent="0">
              <a:buNone/>
            </a:pPr>
            <a:r>
              <a:rPr lang="ru-RU" dirty="0" err="1"/>
              <a:t>var</a:t>
            </a:r>
            <a:r>
              <a:rPr lang="ru-RU" dirty="0"/>
              <a:t> i=20;</a:t>
            </a:r>
          </a:p>
          <a:p>
            <a:pPr marL="0" indent="0">
              <a:buNone/>
            </a:pPr>
            <a:r>
              <a:rPr lang="ru-RU" dirty="0" err="1"/>
              <a:t>do</a:t>
            </a:r>
            <a:r>
              <a:rPr lang="ru-RU" dirty="0"/>
              <a:t> {</a:t>
            </a:r>
          </a:p>
          <a:p>
            <a:pPr marL="0" indent="0">
              <a:buNone/>
            </a:pPr>
            <a:r>
              <a:rPr lang="ru-RU" dirty="0"/>
              <a:t>   </a:t>
            </a:r>
            <a:r>
              <a:rPr lang="ru-RU" dirty="0" err="1"/>
              <a:t>document.write</a:t>
            </a:r>
            <a:r>
              <a:rPr lang="ru-RU" dirty="0"/>
              <a:t>('Если Вы видите этот текст код в цикле был исполнен.');</a:t>
            </a:r>
          </a:p>
          <a:p>
            <a:pPr marL="0" indent="0">
              <a:buNone/>
            </a:pPr>
            <a:r>
              <a:rPr lang="ru-RU" dirty="0"/>
              <a:t>}</a:t>
            </a:r>
          </a:p>
          <a:p>
            <a:pPr marL="0" indent="0">
              <a:buNone/>
            </a:pPr>
            <a:r>
              <a:rPr lang="ru-RU" dirty="0" err="1"/>
              <a:t>while</a:t>
            </a:r>
            <a:r>
              <a:rPr lang="ru-RU" dirty="0"/>
              <a:t> (i&lt;=3);</a:t>
            </a:r>
          </a:p>
        </p:txBody>
      </p:sp>
    </p:spTree>
    <p:extLst>
      <p:ext uri="{BB962C8B-B14F-4D97-AF65-F5344CB8AC3E}">
        <p14:creationId xmlns:p14="http://schemas.microsoft.com/office/powerpoint/2010/main" val="28988703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Команда </a:t>
            </a:r>
            <a:r>
              <a:rPr lang="ru-RU" b="1" dirty="0" err="1"/>
              <a:t>break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1" dirty="0"/>
              <a:t>Пример</a:t>
            </a:r>
            <a:endParaRPr lang="ru-RU" dirty="0"/>
          </a:p>
          <a:p>
            <a:r>
              <a:rPr lang="ru-RU" dirty="0"/>
              <a:t>//Задаем цикл, который должен выводить значения от 1 до 20</a:t>
            </a:r>
          </a:p>
          <a:p>
            <a:r>
              <a:rPr lang="en-US" dirty="0"/>
              <a:t>for (</a:t>
            </a:r>
            <a:r>
              <a:rPr lang="en-US" dirty="0" err="1"/>
              <a:t>i</a:t>
            </a:r>
            <a:r>
              <a:rPr lang="en-US" dirty="0"/>
              <a:t>=1;i&lt;=20;i++) {</a:t>
            </a:r>
            <a:endParaRPr lang="ru-RU" dirty="0"/>
          </a:p>
          <a:p>
            <a:r>
              <a:rPr lang="en-US" dirty="0"/>
              <a:t>   </a:t>
            </a:r>
            <a:r>
              <a:rPr lang="en-US" dirty="0" err="1"/>
              <a:t>document.write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 + '&lt;</a:t>
            </a:r>
            <a:r>
              <a:rPr lang="en-US" dirty="0" err="1"/>
              <a:t>br</a:t>
            </a:r>
            <a:r>
              <a:rPr lang="en-US" dirty="0"/>
              <a:t> /&gt;');</a:t>
            </a:r>
            <a:endParaRPr lang="ru-RU" dirty="0"/>
          </a:p>
          <a:p>
            <a:r>
              <a:rPr lang="en-US" dirty="0"/>
              <a:t>   </a:t>
            </a:r>
            <a:r>
              <a:rPr lang="ru-RU" dirty="0"/>
              <a:t>//Прервем выполнения цикла после того, как он досчитает до 5 </a:t>
            </a:r>
          </a:p>
          <a:p>
            <a:r>
              <a:rPr lang="ru-RU" dirty="0"/>
              <a:t>   </a:t>
            </a:r>
            <a:r>
              <a:rPr lang="ru-RU" dirty="0" err="1"/>
              <a:t>if</a:t>
            </a:r>
            <a:r>
              <a:rPr lang="ru-RU" dirty="0"/>
              <a:t> (i==5) {</a:t>
            </a:r>
          </a:p>
          <a:p>
            <a:r>
              <a:rPr lang="ru-RU" dirty="0"/>
              <a:t>      </a:t>
            </a:r>
            <a:r>
              <a:rPr lang="ru-RU" dirty="0" err="1"/>
              <a:t>break</a:t>
            </a:r>
            <a:r>
              <a:rPr lang="ru-RU" dirty="0"/>
              <a:t>;</a:t>
            </a:r>
          </a:p>
          <a:p>
            <a:r>
              <a:rPr lang="ru-RU" dirty="0"/>
              <a:t>   }</a:t>
            </a:r>
          </a:p>
          <a:p>
            <a:r>
              <a:rPr lang="ru-RU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129541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Команда </a:t>
            </a:r>
            <a:r>
              <a:rPr lang="ru-RU" b="1" dirty="0" err="1"/>
              <a:t>continue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95401" y="2454442"/>
            <a:ext cx="9601196" cy="3717758"/>
          </a:xfrm>
        </p:spPr>
        <p:txBody>
          <a:bodyPr>
            <a:noAutofit/>
          </a:bodyPr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1400" dirty="0"/>
              <a:t>//Задаем цикл который должен выводить значения от 1 до 15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1400" dirty="0" err="1"/>
              <a:t>for</a:t>
            </a:r>
            <a:r>
              <a:rPr lang="ru-RU" sz="1400" dirty="0"/>
              <a:t> (i=1;i&lt;=15;i++) {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1400" dirty="0"/>
              <a:t>   //Пропустим 3, 10 и 13 круг выполнения цикла  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1400" dirty="0"/>
              <a:t>   </a:t>
            </a:r>
            <a:r>
              <a:rPr lang="en-US" sz="1400" dirty="0"/>
              <a:t>if (</a:t>
            </a:r>
            <a:r>
              <a:rPr lang="en-US" sz="1400" dirty="0" err="1"/>
              <a:t>i</a:t>
            </a:r>
            <a:r>
              <a:rPr lang="en-US" sz="1400" dirty="0"/>
              <a:t>==3) {</a:t>
            </a:r>
            <a:endParaRPr lang="ru-RU" sz="14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/>
              <a:t>      continue;</a:t>
            </a:r>
            <a:endParaRPr lang="ru-RU" sz="14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/>
              <a:t>   }</a:t>
            </a:r>
            <a:endParaRPr lang="ru-RU" sz="14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/>
              <a:t>   else if (</a:t>
            </a:r>
            <a:r>
              <a:rPr lang="en-US" sz="1400" dirty="0" err="1"/>
              <a:t>i</a:t>
            </a:r>
            <a:r>
              <a:rPr lang="en-US" sz="1400" dirty="0"/>
              <a:t>==10) {</a:t>
            </a:r>
            <a:endParaRPr lang="ru-RU" sz="14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/>
              <a:t>      continue;</a:t>
            </a:r>
            <a:endParaRPr lang="ru-RU" sz="14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/>
              <a:t>   }</a:t>
            </a:r>
            <a:endParaRPr lang="ru-RU" sz="14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/>
              <a:t>   else if (</a:t>
            </a:r>
            <a:r>
              <a:rPr lang="en-US" sz="1400" dirty="0" err="1"/>
              <a:t>i</a:t>
            </a:r>
            <a:r>
              <a:rPr lang="en-US" sz="1400" dirty="0"/>
              <a:t>==13) {</a:t>
            </a:r>
            <a:endParaRPr lang="ru-RU" sz="14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/>
              <a:t>      continue;</a:t>
            </a:r>
            <a:endParaRPr lang="ru-RU" sz="14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/>
              <a:t>   }</a:t>
            </a:r>
            <a:endParaRPr lang="ru-RU" sz="14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/>
              <a:t>   </a:t>
            </a:r>
            <a:r>
              <a:rPr lang="en-US" sz="1400" dirty="0" err="1"/>
              <a:t>document.write</a:t>
            </a:r>
            <a:r>
              <a:rPr lang="en-US" sz="1400" dirty="0"/>
              <a:t>(</a:t>
            </a:r>
            <a:r>
              <a:rPr lang="en-US" sz="1400" dirty="0" err="1"/>
              <a:t>i</a:t>
            </a:r>
            <a:r>
              <a:rPr lang="en-US" sz="1400" dirty="0"/>
              <a:t>+'&lt;</a:t>
            </a:r>
            <a:r>
              <a:rPr lang="en-US" sz="1400" dirty="0" err="1"/>
              <a:t>br</a:t>
            </a:r>
            <a:r>
              <a:rPr lang="en-US" sz="1400" dirty="0"/>
              <a:t> /&gt;');</a:t>
            </a:r>
            <a:endParaRPr lang="ru-RU" sz="14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622382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Цикл </a:t>
            </a:r>
            <a:r>
              <a:rPr lang="ru-RU" b="1" dirty="0" err="1"/>
              <a:t>for</a:t>
            </a:r>
            <a:r>
              <a:rPr lang="ru-RU" b="1" dirty="0"/>
              <a:t>..</a:t>
            </a:r>
            <a:r>
              <a:rPr lang="ru-RU" b="1" dirty="0" err="1"/>
              <a:t>in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82053" y="2556932"/>
            <a:ext cx="4307306" cy="33189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b="1" dirty="0"/>
              <a:t>Синтаксис:</a:t>
            </a:r>
            <a:endParaRPr lang="ru-RU" sz="1600" dirty="0"/>
          </a:p>
          <a:p>
            <a:pPr marL="0" indent="0">
              <a:buNone/>
            </a:pPr>
            <a:r>
              <a:rPr lang="ru-RU" sz="1600" dirty="0" err="1"/>
              <a:t>for</a:t>
            </a:r>
            <a:r>
              <a:rPr lang="ru-RU" sz="1600" dirty="0"/>
              <a:t> (переменная </a:t>
            </a:r>
            <a:r>
              <a:rPr lang="ru-RU" sz="1600" dirty="0" err="1"/>
              <a:t>in</a:t>
            </a:r>
            <a:r>
              <a:rPr lang="ru-RU" sz="1600" dirty="0"/>
              <a:t> </a:t>
            </a:r>
            <a:r>
              <a:rPr lang="ru-RU" sz="1600" dirty="0" err="1"/>
              <a:t>объект_или_массив</a:t>
            </a:r>
            <a:r>
              <a:rPr lang="ru-RU" sz="1600" dirty="0"/>
              <a:t>) {</a:t>
            </a:r>
          </a:p>
          <a:p>
            <a:pPr marL="0" indent="0">
              <a:buNone/>
            </a:pPr>
            <a:r>
              <a:rPr lang="ru-RU" sz="1600" dirty="0"/>
              <a:t>   //Код, который будет выполнен для каждого элемента массива или свойства объекта </a:t>
            </a:r>
          </a:p>
          <a:p>
            <a:pPr marL="0" indent="0">
              <a:buNone/>
            </a:pPr>
            <a:r>
              <a:rPr lang="ru-RU" sz="1600" dirty="0"/>
              <a:t>}</a:t>
            </a:r>
          </a:p>
          <a:p>
            <a:pPr marL="0" indent="0">
              <a:buNone/>
            </a:pPr>
            <a:r>
              <a:rPr lang="ru-RU" sz="1600" b="1" dirty="0"/>
              <a:t>переменная</a:t>
            </a:r>
            <a:r>
              <a:rPr lang="ru-RU" sz="1600" dirty="0"/>
              <a:t> данной переменной будет поочередно присвоено каждое свойство "перебираемого"</a:t>
            </a:r>
            <a:r>
              <a:rPr lang="ru-RU" sz="1600"/>
              <a:t> </a:t>
            </a:r>
            <a:r>
              <a:rPr lang="ru-RU" sz="1600" b="1"/>
              <a:t>объекта </a:t>
            </a:r>
            <a:r>
              <a:rPr lang="ru-RU" sz="1600"/>
              <a:t>или </a:t>
            </a:r>
            <a:r>
              <a:rPr lang="ru-RU" sz="1600" dirty="0"/>
              <a:t>каждый номер элемента </a:t>
            </a:r>
            <a:r>
              <a:rPr lang="ru-RU" sz="1600" b="1" dirty="0"/>
              <a:t>массива</a:t>
            </a:r>
            <a:r>
              <a:rPr lang="ru-RU" sz="1600" dirty="0"/>
              <a:t>.</a:t>
            </a:r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5089359" y="2556931"/>
            <a:ext cx="6316578" cy="368745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25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ru-RU" b="1" dirty="0"/>
              <a:t>Пример</a:t>
            </a:r>
            <a:endParaRPr lang="ru-RU" dirty="0"/>
          </a:p>
          <a:p>
            <a:pPr marL="0" indent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ru-RU" dirty="0"/>
              <a:t>//Зададим переменную, которой поочередно будут присваиваться все элементы массива</a:t>
            </a:r>
          </a:p>
          <a:p>
            <a:pPr marL="0" indent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ru-RU" dirty="0" err="1"/>
              <a:t>var</a:t>
            </a:r>
            <a:r>
              <a:rPr lang="ru-RU" dirty="0"/>
              <a:t> y;</a:t>
            </a:r>
          </a:p>
          <a:p>
            <a:pPr marL="0" indent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ru-RU" dirty="0"/>
              <a:t>//Создадим массив с произвольными элементами</a:t>
            </a:r>
          </a:p>
          <a:p>
            <a:pPr marL="0" indent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favcity</a:t>
            </a:r>
            <a:r>
              <a:rPr lang="en-US" dirty="0"/>
              <a:t> = new Array();</a:t>
            </a:r>
            <a:endParaRPr lang="ru-RU" dirty="0"/>
          </a:p>
          <a:p>
            <a:pPr marL="0" indent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dirty="0" err="1"/>
              <a:t>favcity</a:t>
            </a:r>
            <a:r>
              <a:rPr lang="en-US" dirty="0"/>
              <a:t>[1]='</a:t>
            </a:r>
            <a:r>
              <a:rPr lang="ru-RU" dirty="0"/>
              <a:t>Москва</a:t>
            </a:r>
            <a:r>
              <a:rPr lang="en-US" dirty="0"/>
              <a:t>';</a:t>
            </a:r>
            <a:endParaRPr lang="ru-RU" dirty="0"/>
          </a:p>
          <a:p>
            <a:pPr marL="0" indent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dirty="0" err="1"/>
              <a:t>favcity</a:t>
            </a:r>
            <a:r>
              <a:rPr lang="en-US" dirty="0"/>
              <a:t>[2]='</a:t>
            </a:r>
            <a:r>
              <a:rPr lang="ru-RU" dirty="0"/>
              <a:t>Нью</a:t>
            </a:r>
            <a:r>
              <a:rPr lang="en-US" dirty="0"/>
              <a:t>-</a:t>
            </a:r>
            <a:r>
              <a:rPr lang="ru-RU" dirty="0"/>
              <a:t>Йорк</a:t>
            </a:r>
            <a:r>
              <a:rPr lang="en-US" dirty="0"/>
              <a:t>';</a:t>
            </a:r>
            <a:endParaRPr lang="ru-RU" dirty="0"/>
          </a:p>
          <a:p>
            <a:pPr marL="0" indent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dirty="0" err="1"/>
              <a:t>favcity</a:t>
            </a:r>
            <a:r>
              <a:rPr lang="en-US" dirty="0"/>
              <a:t>[3]='</a:t>
            </a:r>
            <a:r>
              <a:rPr lang="ru-RU" dirty="0"/>
              <a:t>Лондон</a:t>
            </a:r>
            <a:r>
              <a:rPr lang="en-US" dirty="0"/>
              <a:t>';</a:t>
            </a:r>
            <a:endParaRPr lang="ru-RU" dirty="0"/>
          </a:p>
          <a:p>
            <a:pPr marL="0" indent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ru-RU" dirty="0" err="1"/>
              <a:t>favcity</a:t>
            </a:r>
            <a:r>
              <a:rPr lang="ru-RU" dirty="0"/>
              <a:t>[4]='Берлин';</a:t>
            </a:r>
          </a:p>
          <a:p>
            <a:pPr marL="0" indent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ru-RU" dirty="0"/>
              <a:t>//Выведем все элементы массива с помощью </a:t>
            </a:r>
            <a:r>
              <a:rPr lang="ru-RU" dirty="0" err="1"/>
              <a:t>for</a:t>
            </a:r>
            <a:r>
              <a:rPr lang="ru-RU" dirty="0"/>
              <a:t>..</a:t>
            </a:r>
            <a:r>
              <a:rPr lang="ru-RU" dirty="0" err="1"/>
              <a:t>in</a:t>
            </a:r>
            <a:endParaRPr lang="ru-RU" dirty="0"/>
          </a:p>
          <a:p>
            <a:pPr marL="0" indent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dirty="0"/>
              <a:t>for </a:t>
            </a:r>
            <a:r>
              <a:rPr lang="ru-RU" dirty="0"/>
              <a:t>(</a:t>
            </a:r>
            <a:r>
              <a:rPr lang="en-US" dirty="0"/>
              <a:t>y in </a:t>
            </a:r>
            <a:r>
              <a:rPr lang="en-US" dirty="0" err="1"/>
              <a:t>favcity</a:t>
            </a:r>
            <a:r>
              <a:rPr lang="ru-RU" dirty="0"/>
              <a:t>) {</a:t>
            </a:r>
          </a:p>
          <a:p>
            <a:pPr marL="0" indent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ru-RU" dirty="0"/>
              <a:t>   </a:t>
            </a:r>
            <a:r>
              <a:rPr lang="en-US" dirty="0"/>
              <a:t>document</a:t>
            </a:r>
            <a:r>
              <a:rPr lang="ru-RU" dirty="0"/>
              <a:t>.</a:t>
            </a:r>
            <a:r>
              <a:rPr lang="en-US" dirty="0"/>
              <a:t>write</a:t>
            </a:r>
            <a:r>
              <a:rPr lang="ru-RU" dirty="0"/>
              <a:t>('Мой любимый город № '+</a:t>
            </a:r>
            <a:r>
              <a:rPr lang="en-US" dirty="0"/>
              <a:t>y</a:t>
            </a:r>
            <a:r>
              <a:rPr lang="ru-RU" dirty="0"/>
              <a:t>+' '+</a:t>
            </a:r>
            <a:r>
              <a:rPr lang="en-US" dirty="0" err="1"/>
              <a:t>favcity</a:t>
            </a:r>
            <a:r>
              <a:rPr lang="ru-RU" dirty="0"/>
              <a:t>[</a:t>
            </a:r>
            <a:r>
              <a:rPr lang="en-US" dirty="0"/>
              <a:t>y</a:t>
            </a:r>
            <a:r>
              <a:rPr lang="ru-RU" dirty="0"/>
              <a:t>]+'.&lt;</a:t>
            </a:r>
            <a:r>
              <a:rPr lang="en-US" dirty="0" err="1"/>
              <a:t>br</a:t>
            </a:r>
            <a:r>
              <a:rPr lang="ru-RU" dirty="0"/>
              <a:t> /&gt;');}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93470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Задание 8.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95401" y="2471596"/>
            <a:ext cx="4507870" cy="373002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i="1" dirty="0"/>
              <a:t>8.1 Используя цикл сократите запись</a:t>
            </a:r>
          </a:p>
          <a:p>
            <a:pPr marL="0" indent="0">
              <a:buNone/>
            </a:pPr>
            <a:r>
              <a:rPr lang="en-US" dirty="0"/>
              <a:t>&lt;script type='text/</a:t>
            </a:r>
            <a:r>
              <a:rPr lang="en-US" dirty="0" err="1"/>
              <a:t>javascript</a:t>
            </a:r>
            <a:r>
              <a:rPr lang="en-US" dirty="0"/>
              <a:t>'&gt;</a:t>
            </a:r>
            <a:endParaRPr lang="ru-RU" dirty="0"/>
          </a:p>
          <a:p>
            <a:pPr marL="0" indent="0">
              <a:buNone/>
            </a:pPr>
            <a:r>
              <a:rPr lang="en-US" dirty="0" err="1"/>
              <a:t>document.write</a:t>
            </a:r>
            <a:r>
              <a:rPr lang="en-US" dirty="0"/>
              <a:t>('</a:t>
            </a:r>
            <a:r>
              <a:rPr lang="ru-RU" dirty="0"/>
              <a:t>Число</a:t>
            </a:r>
            <a:r>
              <a:rPr lang="en-US" dirty="0"/>
              <a:t>: &lt;b&gt;100&lt;/b&gt;');</a:t>
            </a:r>
            <a:endParaRPr lang="ru-RU" dirty="0"/>
          </a:p>
          <a:p>
            <a:pPr marL="0" indent="0">
              <a:buNone/>
            </a:pPr>
            <a:r>
              <a:rPr lang="en-US" dirty="0" err="1"/>
              <a:t>document.write</a:t>
            </a:r>
            <a:r>
              <a:rPr lang="en-US" dirty="0"/>
              <a:t>('&lt;</a:t>
            </a:r>
            <a:r>
              <a:rPr lang="en-US" dirty="0" err="1"/>
              <a:t>br</a:t>
            </a:r>
            <a:r>
              <a:rPr lang="en-US" dirty="0"/>
              <a:t> /&gt;');</a:t>
            </a:r>
            <a:endParaRPr lang="ru-RU" dirty="0"/>
          </a:p>
          <a:p>
            <a:pPr marL="0" indent="0">
              <a:buNone/>
            </a:pPr>
            <a:r>
              <a:rPr lang="en-US" dirty="0" err="1"/>
              <a:t>document.write</a:t>
            </a:r>
            <a:r>
              <a:rPr lang="en-US" dirty="0"/>
              <a:t>('</a:t>
            </a:r>
            <a:r>
              <a:rPr lang="ru-RU" dirty="0"/>
              <a:t>Число</a:t>
            </a:r>
            <a:r>
              <a:rPr lang="en-US" dirty="0"/>
              <a:t>: &lt;b&gt;</a:t>
            </a:r>
            <a:r>
              <a:rPr lang="ru-RU" dirty="0"/>
              <a:t>9</a:t>
            </a:r>
            <a:r>
              <a:rPr lang="en-US" dirty="0"/>
              <a:t>0&lt;/b&gt;');</a:t>
            </a:r>
            <a:endParaRPr lang="ru-RU" dirty="0"/>
          </a:p>
          <a:p>
            <a:pPr marL="0" indent="0">
              <a:buNone/>
            </a:pPr>
            <a:r>
              <a:rPr lang="en-US" dirty="0" err="1"/>
              <a:t>document.write</a:t>
            </a:r>
            <a:r>
              <a:rPr lang="en-US" dirty="0"/>
              <a:t>('&lt;</a:t>
            </a:r>
            <a:r>
              <a:rPr lang="en-US" dirty="0" err="1"/>
              <a:t>br</a:t>
            </a:r>
            <a:r>
              <a:rPr lang="en-US" dirty="0"/>
              <a:t> /&gt;');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…</a:t>
            </a:r>
          </a:p>
          <a:p>
            <a:pPr marL="0" indent="0">
              <a:buNone/>
            </a:pPr>
            <a:r>
              <a:rPr lang="en-US" dirty="0" err="1"/>
              <a:t>document.write</a:t>
            </a:r>
            <a:r>
              <a:rPr lang="en-US" dirty="0"/>
              <a:t>('</a:t>
            </a:r>
            <a:r>
              <a:rPr lang="ru-RU" dirty="0"/>
              <a:t>Число</a:t>
            </a:r>
            <a:r>
              <a:rPr lang="en-US" dirty="0"/>
              <a:t>: &lt;b&gt;10&lt;/b&gt;');</a:t>
            </a:r>
            <a:endParaRPr lang="ru-RU" dirty="0"/>
          </a:p>
          <a:p>
            <a:pPr marL="0" indent="0">
              <a:buNone/>
            </a:pPr>
            <a:r>
              <a:rPr lang="en-US" dirty="0" err="1"/>
              <a:t>document.write</a:t>
            </a:r>
            <a:r>
              <a:rPr lang="en-US" dirty="0"/>
              <a:t>('&lt;</a:t>
            </a:r>
            <a:r>
              <a:rPr lang="en-US" dirty="0" err="1"/>
              <a:t>br</a:t>
            </a:r>
            <a:r>
              <a:rPr lang="en-US" dirty="0"/>
              <a:t> /&gt;');</a:t>
            </a:r>
            <a:endParaRPr lang="ru-RU" dirty="0"/>
          </a:p>
          <a:p>
            <a:pPr marL="0" indent="0">
              <a:buNone/>
            </a:pPr>
            <a:r>
              <a:rPr lang="en-US" dirty="0" err="1"/>
              <a:t>document.write</a:t>
            </a:r>
            <a:r>
              <a:rPr lang="en-US" dirty="0"/>
              <a:t>('</a:t>
            </a:r>
            <a:r>
              <a:rPr lang="ru-RU" dirty="0"/>
              <a:t>Число</a:t>
            </a:r>
            <a:r>
              <a:rPr lang="en-US" dirty="0"/>
              <a:t>: &lt;b&gt;0&lt;/b&gt;');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&lt;/</a:t>
            </a:r>
            <a:r>
              <a:rPr lang="ru-RU" dirty="0" err="1"/>
              <a:t>script</a:t>
            </a:r>
            <a:r>
              <a:rPr lang="ru-RU" dirty="0"/>
              <a:t>&gt;</a:t>
            </a:r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6388728" y="2471596"/>
            <a:ext cx="4507870" cy="37300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/>
              <a:t>function fun1() {</a:t>
            </a:r>
            <a:endParaRPr lang="ru-RU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/>
              <a:t>   for (</a:t>
            </a:r>
            <a:r>
              <a:rPr lang="en-US" sz="1200" dirty="0" err="1"/>
              <a:t>i</a:t>
            </a:r>
            <a:r>
              <a:rPr lang="en-US" sz="1200" dirty="0"/>
              <a:t>=1,i&lt;=10,i++); {</a:t>
            </a:r>
            <a:endParaRPr lang="ru-RU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/>
              <a:t>      </a:t>
            </a:r>
            <a:r>
              <a:rPr lang="en-US" sz="1200" dirty="0" err="1"/>
              <a:t>document.write</a:t>
            </a:r>
            <a:r>
              <a:rPr lang="en-US" sz="1200" dirty="0"/>
              <a:t>(</a:t>
            </a:r>
            <a:r>
              <a:rPr lang="en-US" sz="1200" dirty="0" err="1"/>
              <a:t>i</a:t>
            </a:r>
            <a:r>
              <a:rPr lang="en-US" sz="1200" dirty="0"/>
              <a:t> + '&lt;</a:t>
            </a:r>
            <a:r>
              <a:rPr lang="en-US" sz="1200" dirty="0" err="1"/>
              <a:t>br</a:t>
            </a:r>
            <a:r>
              <a:rPr lang="en-US" sz="1200" dirty="0"/>
              <a:t> /&gt;');</a:t>
            </a:r>
            <a:endParaRPr lang="ru-RU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/>
              <a:t>   </a:t>
            </a:r>
            <a:r>
              <a:rPr lang="ru-RU" sz="1200" dirty="0"/>
              <a:t>}}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/>
              <a:t>function fun2() {</a:t>
            </a:r>
            <a:endParaRPr lang="ru-RU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/>
              <a:t>   for (</a:t>
            </a:r>
            <a:r>
              <a:rPr lang="en-US" sz="1200" dirty="0" err="1"/>
              <a:t>i</a:t>
            </a:r>
            <a:r>
              <a:rPr lang="en-US" sz="1200" dirty="0"/>
              <a:t>=100;i=&gt;0;i-=10); {</a:t>
            </a:r>
            <a:endParaRPr lang="ru-RU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/>
              <a:t>      </a:t>
            </a:r>
            <a:r>
              <a:rPr lang="en-US" sz="1200" dirty="0" err="1"/>
              <a:t>document.write</a:t>
            </a:r>
            <a:r>
              <a:rPr lang="en-US" sz="1200" dirty="0"/>
              <a:t>(</a:t>
            </a:r>
            <a:r>
              <a:rPr lang="en-US" sz="1200" dirty="0" err="1"/>
              <a:t>i</a:t>
            </a:r>
            <a:r>
              <a:rPr lang="en-US" sz="1200" dirty="0"/>
              <a:t> + '&lt;</a:t>
            </a:r>
            <a:r>
              <a:rPr lang="en-US" sz="1200" dirty="0" err="1"/>
              <a:t>br</a:t>
            </a:r>
            <a:r>
              <a:rPr lang="en-US" sz="1200" dirty="0"/>
              <a:t> /&gt;');</a:t>
            </a:r>
            <a:endParaRPr lang="ru-RU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/>
              <a:t>   }}</a:t>
            </a:r>
            <a:endParaRPr lang="ru-RU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/>
              <a:t>function fun3() {</a:t>
            </a:r>
            <a:endParaRPr lang="ru-RU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/>
              <a:t>   </a:t>
            </a:r>
            <a:r>
              <a:rPr lang="en-US" sz="1200" dirty="0" err="1"/>
              <a:t>i</a:t>
            </a:r>
            <a:r>
              <a:rPr lang="en-US" sz="1200" dirty="0"/>
              <a:t>=40;</a:t>
            </a:r>
            <a:endParaRPr lang="ru-RU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/>
              <a:t>   while (</a:t>
            </a:r>
            <a:r>
              <a:rPr lang="en-US" sz="1200" dirty="0" err="1"/>
              <a:t>i</a:t>
            </a:r>
            <a:r>
              <a:rPr lang="en-US" sz="1200" dirty="0"/>
              <a:t>&gt;=0)</a:t>
            </a:r>
            <a:endParaRPr lang="ru-RU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/>
              <a:t>   if (</a:t>
            </a:r>
            <a:r>
              <a:rPr lang="en-US" sz="1200" dirty="0" err="1"/>
              <a:t>i</a:t>
            </a:r>
            <a:r>
              <a:rPr lang="en-US" sz="1200" dirty="0"/>
              <a:t>==25)</a:t>
            </a:r>
            <a:endParaRPr lang="ru-RU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/>
              <a:t>      </a:t>
            </a:r>
            <a:r>
              <a:rPr lang="en-US" sz="1200" dirty="0" err="1"/>
              <a:t>Cantinue</a:t>
            </a:r>
            <a:r>
              <a:rPr lang="en-US" sz="1200" dirty="0"/>
              <a:t>;</a:t>
            </a:r>
            <a:endParaRPr lang="ru-RU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/>
              <a:t>   </a:t>
            </a:r>
            <a:r>
              <a:rPr lang="en-US" sz="1200" dirty="0" err="1"/>
              <a:t>document.write</a:t>
            </a:r>
            <a:r>
              <a:rPr lang="en-US" sz="1200" dirty="0"/>
              <a:t>(</a:t>
            </a:r>
            <a:r>
              <a:rPr lang="en-US" sz="1200" dirty="0" err="1"/>
              <a:t>i</a:t>
            </a:r>
            <a:r>
              <a:rPr lang="en-US" sz="1200" dirty="0"/>
              <a:t> + '&lt;</a:t>
            </a:r>
            <a:r>
              <a:rPr lang="en-US" sz="1200" dirty="0" err="1"/>
              <a:t>br</a:t>
            </a:r>
            <a:r>
              <a:rPr lang="en-US" sz="1200" dirty="0"/>
              <a:t> /&gt;');</a:t>
            </a:r>
            <a:endParaRPr lang="ru-RU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/>
              <a:t>   </a:t>
            </a:r>
            <a:r>
              <a:rPr lang="ru-RU" sz="1200" dirty="0"/>
              <a:t>i-=5;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1200" dirty="0"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7068" y="2444436"/>
            <a:ext cx="1928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/>
            <a:r>
              <a:rPr lang="ru-RU" b="1" i="1" dirty="0"/>
              <a:t>8.2 Исправьте ошибки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92454" y="5001295"/>
            <a:ext cx="19283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/>
            <a:r>
              <a:rPr lang="ru-RU" b="1" i="1" dirty="0"/>
              <a:t>8.3 Напишите скрипт сортировки массива</a:t>
            </a:r>
          </a:p>
        </p:txBody>
      </p:sp>
    </p:spTree>
    <p:extLst>
      <p:ext uri="{BB962C8B-B14F-4D97-AF65-F5344CB8AC3E}">
        <p14:creationId xmlns:p14="http://schemas.microsoft.com/office/powerpoint/2010/main" val="3533255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Массивы в </a:t>
            </a:r>
            <a:r>
              <a:rPr lang="en-US" b="1" dirty="0"/>
              <a:t>JavaScript</a:t>
            </a:r>
            <a:endParaRPr lang="ru-RU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3923" y="2443752"/>
            <a:ext cx="4048801" cy="162350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38088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item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=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new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Arial Unicode MS"/>
              </a:rPr>
              <a:t>Array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();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item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[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Arial Unicode MS"/>
              </a:rPr>
              <a:t>0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]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=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"Автомобиль"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;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item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[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Arial Unicode MS"/>
              </a:rPr>
              <a:t>1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]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=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"Микроволновая печь"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;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item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[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Arial Unicode MS"/>
              </a:rPr>
              <a:t>2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]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=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"Стиральная машина"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;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item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[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Arial Unicode MS"/>
              </a:rPr>
              <a:t>3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]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=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"Пылесос"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;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093923" y="4511299"/>
            <a:ext cx="10324814" cy="3616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38088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var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item 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=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new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660066"/>
                </a:solidFill>
                <a:effectLst/>
                <a:latin typeface="Arial Unicode MS"/>
              </a:rPr>
              <a:t>Array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(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"Автомобиль"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,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"Микроволновая печь"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,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"Стиральная машина"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,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"Пылесос"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);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093923" y="5316962"/>
            <a:ext cx="9273180" cy="3616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38088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var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item 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=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[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"Автомобиль"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,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"Микроволновая печь"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,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"Стиральная машина"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,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"Пылесос"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];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89917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Доступ к переменным в массиве</a:t>
            </a:r>
            <a:endParaRPr lang="ru-RU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29899" y="2663234"/>
            <a:ext cx="9087231" cy="25699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38088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880000"/>
                </a:solidFill>
                <a:effectLst/>
                <a:latin typeface="Arial Unicode MS"/>
              </a:rPr>
              <a:t>//Создадим массив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var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item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=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[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Автомобиль"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,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"Микроволновая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печь"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,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"Стиральная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 машина"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,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"Пылесос"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880000"/>
                </a:solidFill>
                <a:effectLst/>
                <a:latin typeface="Arial Unicode MS"/>
              </a:rPr>
              <a:t>//Выведем значение первого элемента массива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document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.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write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(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item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[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Arial Unicode MS"/>
              </a:rPr>
              <a:t>0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]+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'&lt;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br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 /&gt;'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);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880000"/>
                </a:solidFill>
                <a:effectLst/>
                <a:latin typeface="Arial Unicode MS"/>
              </a:rPr>
              <a:t>//Выведем значение третьего элемента массива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document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.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write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(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item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[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Arial Unicode MS"/>
              </a:rPr>
              <a:t>2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]+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'&lt;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br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 /&gt;'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);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ts val="300"/>
              </a:spcAft>
            </a:pPr>
            <a:r>
              <a:rPr lang="ru-RU" altLang="ru-RU" dirty="0">
                <a:solidFill>
                  <a:srgbClr val="880000"/>
                </a:solidFill>
                <a:latin typeface="Arial Unicode MS"/>
              </a:rPr>
              <a:t>//Выведем количество элементов массива</a:t>
            </a:r>
            <a:r>
              <a:rPr lang="ru-RU" altLang="ru-RU" dirty="0">
                <a:solidFill>
                  <a:srgbClr val="000000"/>
                </a:solidFill>
                <a:latin typeface="Arial Unicode MS"/>
              </a:rPr>
              <a:t> </a:t>
            </a:r>
            <a:r>
              <a:rPr lang="ru-RU" altLang="ru-RU" dirty="0" err="1">
                <a:solidFill>
                  <a:srgbClr val="000000"/>
                </a:solidFill>
                <a:latin typeface="Arial Unicode MS"/>
              </a:rPr>
              <a:t>document</a:t>
            </a:r>
            <a:r>
              <a:rPr lang="ru-RU" altLang="ru-RU" dirty="0" err="1">
                <a:solidFill>
                  <a:srgbClr val="666600"/>
                </a:solidFill>
                <a:latin typeface="Arial Unicode MS"/>
              </a:rPr>
              <a:t>.</a:t>
            </a:r>
            <a:r>
              <a:rPr lang="ru-RU" altLang="ru-RU" dirty="0" err="1">
                <a:solidFill>
                  <a:srgbClr val="000000"/>
                </a:solidFill>
                <a:latin typeface="Arial Unicode MS"/>
              </a:rPr>
              <a:t>write</a:t>
            </a:r>
            <a:r>
              <a:rPr lang="ru-RU" altLang="ru-RU" dirty="0">
                <a:solidFill>
                  <a:srgbClr val="666600"/>
                </a:solidFill>
                <a:latin typeface="Arial Unicode MS"/>
              </a:rPr>
              <a:t>(</a:t>
            </a:r>
            <a:r>
              <a:rPr lang="ru-RU" altLang="ru-RU" dirty="0" err="1">
                <a:solidFill>
                  <a:srgbClr val="000000"/>
                </a:solidFill>
                <a:latin typeface="Arial Unicode MS"/>
              </a:rPr>
              <a:t>item</a:t>
            </a:r>
            <a:r>
              <a:rPr lang="ru-RU" altLang="ru-RU" dirty="0" err="1">
                <a:solidFill>
                  <a:srgbClr val="666600"/>
                </a:solidFill>
                <a:latin typeface="Arial Unicode MS"/>
              </a:rPr>
              <a:t>.</a:t>
            </a:r>
            <a:r>
              <a:rPr lang="ru-RU" altLang="ru-RU" dirty="0" err="1">
                <a:solidFill>
                  <a:srgbClr val="000000"/>
                </a:solidFill>
                <a:latin typeface="Arial Unicode MS"/>
              </a:rPr>
              <a:t>length</a:t>
            </a:r>
            <a:r>
              <a:rPr lang="ru-RU" altLang="ru-RU" dirty="0">
                <a:solidFill>
                  <a:srgbClr val="666600"/>
                </a:solidFill>
                <a:latin typeface="Arial Unicode MS"/>
              </a:rPr>
              <a:t>);</a:t>
            </a:r>
            <a:r>
              <a:rPr lang="ru-RU" altLang="ru-RU" dirty="0"/>
              <a:t> </a:t>
            </a:r>
            <a:endParaRPr lang="ru-RU" altLang="ru-RU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51823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События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62658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dirty="0"/>
              <a:t>События</a:t>
            </a:r>
            <a:r>
              <a:rPr lang="ru-RU" dirty="0"/>
              <a:t> - это функции, которые могут быть привязаны к элементам HTML страниц.</a:t>
            </a:r>
          </a:p>
          <a:p>
            <a:pPr marL="0" indent="0">
              <a:buNone/>
            </a:pPr>
            <a:r>
              <a:rPr lang="ru-RU" dirty="0"/>
              <a:t>Код событий выполнится только после того, как произойдет их </a:t>
            </a:r>
            <a:r>
              <a:rPr lang="ru-RU" b="1" dirty="0"/>
              <a:t>активирующее действие</a:t>
            </a:r>
            <a:r>
              <a:rPr lang="ru-RU" dirty="0"/>
              <a:t>. Разные типы событий имеют разные активирующие действия.</a:t>
            </a:r>
          </a:p>
          <a:p>
            <a:pPr marL="0" indent="0">
              <a:buNone/>
            </a:pPr>
            <a:r>
              <a:rPr lang="ru-RU" dirty="0"/>
              <a:t>Примеры активирующих действий </a:t>
            </a:r>
            <a:r>
              <a:rPr lang="ru-RU" dirty="0" err="1"/>
              <a:t>JavaScript</a:t>
            </a:r>
            <a:r>
              <a:rPr lang="ru-RU" dirty="0"/>
              <a:t>:</a:t>
            </a:r>
          </a:p>
          <a:p>
            <a:pPr lvl="0"/>
            <a:r>
              <a:rPr lang="ru-RU" dirty="0"/>
              <a:t>Щелчок мыши (</a:t>
            </a:r>
            <a:r>
              <a:rPr lang="ru-RU" i="1" dirty="0"/>
              <a:t>событие </a:t>
            </a:r>
            <a:r>
              <a:rPr lang="ru-RU" i="1" dirty="0" err="1"/>
              <a:t>onclick</a:t>
            </a:r>
            <a:r>
              <a:rPr lang="ru-RU" dirty="0"/>
              <a:t>);</a:t>
            </a:r>
          </a:p>
          <a:p>
            <a:pPr lvl="0"/>
            <a:r>
              <a:rPr lang="ru-RU" dirty="0"/>
              <a:t>Нажатие клавиши (</a:t>
            </a:r>
            <a:r>
              <a:rPr lang="ru-RU" i="1" dirty="0" err="1"/>
              <a:t>onkeypress</a:t>
            </a:r>
            <a:r>
              <a:rPr lang="ru-RU" dirty="0"/>
              <a:t>);</a:t>
            </a:r>
          </a:p>
          <a:p>
            <a:pPr lvl="0"/>
            <a:r>
              <a:rPr lang="ru-RU" dirty="0"/>
              <a:t>Отправление формы (</a:t>
            </a:r>
            <a:r>
              <a:rPr lang="ru-RU" i="1" dirty="0" err="1"/>
              <a:t>onsubmit</a:t>
            </a:r>
            <a:r>
              <a:rPr lang="ru-RU" dirty="0"/>
              <a:t>);</a:t>
            </a:r>
          </a:p>
          <a:p>
            <a:pPr lvl="0"/>
            <a:r>
              <a:rPr lang="ru-RU" dirty="0"/>
              <a:t>Наведение курсора мыши на элемент (</a:t>
            </a:r>
            <a:r>
              <a:rPr lang="ru-RU" i="1" dirty="0" err="1"/>
              <a:t>onmouseover</a:t>
            </a:r>
            <a:r>
              <a:rPr lang="ru-RU" dirty="0"/>
              <a:t>) или выведение курсора мыши за пределы границ элемента (</a:t>
            </a:r>
            <a:r>
              <a:rPr lang="ru-RU" i="1" dirty="0" err="1"/>
              <a:t>onmouseout</a:t>
            </a:r>
            <a:r>
              <a:rPr lang="ru-RU" dirty="0"/>
              <a:t>);</a:t>
            </a:r>
          </a:p>
          <a:p>
            <a:pPr lvl="0"/>
            <a:r>
              <a:rPr lang="ru-RU" dirty="0"/>
              <a:t>Полная загрузка страницы или картинки (</a:t>
            </a:r>
            <a:r>
              <a:rPr lang="ru-RU" i="1" dirty="0" err="1"/>
              <a:t>onload</a:t>
            </a:r>
            <a:r>
              <a:rPr lang="ru-RU" dirty="0"/>
              <a:t>);</a:t>
            </a:r>
          </a:p>
          <a:p>
            <a:pPr lvl="0"/>
            <a:r>
              <a:rPr lang="ru-RU" dirty="0"/>
              <a:t>Изменение содержимого элемента, например содержимого текстового поля формы (</a:t>
            </a:r>
            <a:r>
              <a:rPr lang="ru-RU" i="1" dirty="0" err="1"/>
              <a:t>onchange</a:t>
            </a:r>
            <a:r>
              <a:rPr lang="ru-RU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6598147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Событие </a:t>
            </a:r>
            <a:r>
              <a:rPr lang="ru-RU" b="1" dirty="0" err="1"/>
              <a:t>onсlick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14447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dirty="0"/>
              <a:t>Пример</a:t>
            </a:r>
            <a:endParaRPr lang="ru-RU" dirty="0"/>
          </a:p>
          <a:p>
            <a:pPr marL="0" indent="0">
              <a:buNone/>
            </a:pPr>
            <a:r>
              <a:rPr lang="ru-RU" dirty="0" err="1"/>
              <a:t>function</a:t>
            </a:r>
            <a:r>
              <a:rPr lang="ru-RU" dirty="0"/>
              <a:t> </a:t>
            </a:r>
            <a:r>
              <a:rPr lang="ru-RU" dirty="0" err="1"/>
              <a:t>messageShow</a:t>
            </a:r>
            <a:r>
              <a:rPr lang="ru-RU" dirty="0"/>
              <a:t>() {</a:t>
            </a:r>
          </a:p>
          <a:p>
            <a:pPr marL="0" indent="0">
              <a:buNone/>
            </a:pPr>
            <a:r>
              <a:rPr lang="ru-RU" dirty="0"/>
              <a:t>   </a:t>
            </a:r>
            <a:r>
              <a:rPr lang="ru-RU" dirty="0" err="1"/>
              <a:t>document.write</a:t>
            </a:r>
            <a:r>
              <a:rPr lang="ru-RU" dirty="0"/>
              <a:t>('Вы нажали на кнопку!');</a:t>
            </a:r>
          </a:p>
          <a:p>
            <a:pPr marL="0" indent="0">
              <a:buNone/>
            </a:pPr>
            <a:r>
              <a:rPr lang="ru-RU" dirty="0"/>
              <a:t>}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1295400" y="3799522"/>
            <a:ext cx="9601196" cy="94608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b="1" dirty="0"/>
              <a:t>Событие </a:t>
            </a:r>
            <a:r>
              <a:rPr lang="ru-RU" b="1" dirty="0" err="1"/>
              <a:t>onload</a:t>
            </a:r>
            <a:endParaRPr lang="ru-RU" dirty="0"/>
          </a:p>
        </p:txBody>
      </p:sp>
      <p:sp>
        <p:nvSpPr>
          <p:cNvPr id="5" name="Объект 2"/>
          <p:cNvSpPr txBox="1">
            <a:spLocks/>
          </p:cNvSpPr>
          <p:nvPr/>
        </p:nvSpPr>
        <p:spPr>
          <a:xfrm>
            <a:off x="1295400" y="4747870"/>
            <a:ext cx="9601196" cy="14447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/>
              <a:t>Пример</a:t>
            </a:r>
            <a:endParaRPr lang="ru-RU" dirty="0"/>
          </a:p>
          <a:p>
            <a:pPr marL="0" indent="0">
              <a:buNone/>
            </a:pPr>
            <a:r>
              <a:rPr lang="ru-RU" dirty="0" err="1"/>
              <a:t>function</a:t>
            </a:r>
            <a:r>
              <a:rPr lang="ru-RU" dirty="0"/>
              <a:t> </a:t>
            </a:r>
            <a:r>
              <a:rPr lang="ru-RU" dirty="0" err="1"/>
              <a:t>messageShow</a:t>
            </a:r>
            <a:r>
              <a:rPr lang="ru-RU" dirty="0"/>
              <a:t>() {</a:t>
            </a:r>
          </a:p>
          <a:p>
            <a:pPr marL="0" indent="0">
              <a:buNone/>
            </a:pPr>
            <a:r>
              <a:rPr lang="ru-RU" dirty="0"/>
              <a:t>   </a:t>
            </a:r>
            <a:r>
              <a:rPr lang="ru-RU" dirty="0" err="1"/>
              <a:t>alert</a:t>
            </a:r>
            <a:r>
              <a:rPr lang="ru-RU" dirty="0"/>
              <a:t>('Страница была загружена!');</a:t>
            </a:r>
          </a:p>
          <a:p>
            <a:pPr marL="0" indent="0">
              <a:buNone/>
            </a:pPr>
            <a:r>
              <a:rPr lang="ru-RU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502881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События </a:t>
            </a:r>
            <a:r>
              <a:rPr lang="ru-RU" b="1" dirty="0" err="1"/>
              <a:t>onmouseover</a:t>
            </a:r>
            <a:r>
              <a:rPr lang="ru-RU" b="1" dirty="0"/>
              <a:t> и </a:t>
            </a:r>
            <a:r>
              <a:rPr lang="ru-RU" b="1" dirty="0" err="1"/>
              <a:t>onmouseout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3453" y="2556932"/>
            <a:ext cx="9973144" cy="331893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Пример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function </a:t>
            </a:r>
            <a:r>
              <a:rPr lang="en-US" dirty="0" err="1"/>
              <a:t>textchange</a:t>
            </a:r>
            <a:r>
              <a:rPr lang="en-US" dirty="0"/>
              <a:t>()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document.getElementById</a:t>
            </a:r>
            <a:r>
              <a:rPr lang="en-US" dirty="0"/>
              <a:t>('</a:t>
            </a:r>
            <a:r>
              <a:rPr lang="en-US" dirty="0" err="1"/>
              <a:t>mes</a:t>
            </a:r>
            <a:r>
              <a:rPr lang="en-US" dirty="0"/>
              <a:t>').</a:t>
            </a:r>
            <a:r>
              <a:rPr lang="en-US" dirty="0" err="1"/>
              <a:t>style.backgroundColor</a:t>
            </a:r>
            <a:r>
              <a:rPr lang="en-US" dirty="0"/>
              <a:t>='green';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}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function </a:t>
            </a:r>
            <a:r>
              <a:rPr lang="en-US" dirty="0" err="1"/>
              <a:t>textreturn</a:t>
            </a:r>
            <a:r>
              <a:rPr lang="en-US" dirty="0"/>
              <a:t>()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document.getElementById</a:t>
            </a:r>
            <a:r>
              <a:rPr lang="en-US" dirty="0"/>
              <a:t>('</a:t>
            </a:r>
            <a:r>
              <a:rPr lang="en-US" dirty="0" err="1"/>
              <a:t>mes</a:t>
            </a:r>
            <a:r>
              <a:rPr lang="en-US" dirty="0"/>
              <a:t>').</a:t>
            </a:r>
            <a:r>
              <a:rPr lang="en-US" dirty="0" err="1"/>
              <a:t>style.color</a:t>
            </a:r>
            <a:r>
              <a:rPr lang="en-US" dirty="0"/>
              <a:t>='white';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document.getElementById</a:t>
            </a:r>
            <a:r>
              <a:rPr lang="en-US" dirty="0"/>
              <a:t>('</a:t>
            </a:r>
            <a:r>
              <a:rPr lang="en-US" dirty="0" err="1"/>
              <a:t>mes</a:t>
            </a:r>
            <a:r>
              <a:rPr lang="en-US" dirty="0"/>
              <a:t>').</a:t>
            </a:r>
            <a:r>
              <a:rPr lang="en-US" dirty="0" err="1"/>
              <a:t>style.backgroundColor</a:t>
            </a:r>
            <a:r>
              <a:rPr lang="en-US" dirty="0"/>
              <a:t>='blue';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254704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 9.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Откройте файл </a:t>
            </a:r>
            <a:r>
              <a:rPr lang="en-US" dirty="0"/>
              <a:t>zadanie9.html</a:t>
            </a:r>
            <a:r>
              <a:rPr lang="ru-RU" dirty="0"/>
              <a:t> подберите порядок нажатия кнопок чтобы получить красный квадрат.</a:t>
            </a:r>
          </a:p>
          <a:p>
            <a:r>
              <a:rPr lang="ru-RU" dirty="0"/>
              <a:t>Разберитесь в коде.</a:t>
            </a:r>
          </a:p>
        </p:txBody>
      </p:sp>
    </p:spTree>
    <p:extLst>
      <p:ext uri="{BB962C8B-B14F-4D97-AF65-F5344CB8AC3E}">
        <p14:creationId xmlns:p14="http://schemas.microsoft.com/office/powerpoint/2010/main" val="240681585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Выполнение кода по расписанию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95401" y="2408221"/>
            <a:ext cx="9601196" cy="950615"/>
          </a:xfrm>
        </p:spPr>
        <p:txBody>
          <a:bodyPr>
            <a:normAutofit/>
          </a:bodyPr>
          <a:lstStyle/>
          <a:p>
            <a:r>
              <a:rPr lang="ru-RU" sz="1800" b="1" dirty="0" err="1"/>
              <a:t>setTimeout</a:t>
            </a:r>
            <a:r>
              <a:rPr lang="ru-RU" sz="1800" b="1" dirty="0"/>
              <a:t>(</a:t>
            </a:r>
            <a:r>
              <a:rPr lang="ru-RU" sz="1800" b="1" dirty="0" err="1"/>
              <a:t>код,промежуток_времени</a:t>
            </a:r>
            <a:r>
              <a:rPr lang="ru-RU" sz="1800" b="1" dirty="0"/>
              <a:t>)</a:t>
            </a:r>
            <a:r>
              <a:rPr lang="ru-RU" sz="1800" dirty="0"/>
              <a:t> позволяет выполнить </a:t>
            </a:r>
            <a:r>
              <a:rPr lang="ru-RU" sz="1800" b="1" dirty="0"/>
              <a:t>код</a:t>
            </a:r>
            <a:r>
              <a:rPr lang="ru-RU" sz="1800" dirty="0"/>
              <a:t> через заданный </a:t>
            </a:r>
            <a:r>
              <a:rPr lang="ru-RU" sz="1800" b="1" dirty="0" err="1"/>
              <a:t>промежуток_времени</a:t>
            </a:r>
            <a:r>
              <a:rPr lang="en-US" sz="1800" b="1" dirty="0"/>
              <a:t> </a:t>
            </a:r>
            <a:r>
              <a:rPr lang="ru-RU" sz="1800" dirty="0"/>
              <a:t>один раз.</a:t>
            </a:r>
          </a:p>
          <a:p>
            <a:pPr marL="0" indent="0">
              <a:buNone/>
            </a:pPr>
            <a:endParaRPr lang="ru-RU" sz="1800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884925" y="3465882"/>
            <a:ext cx="10422148" cy="277767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38088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&lt;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body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Arial Unicode MS"/>
              </a:rPr>
              <a:t>onload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=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'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start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()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'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&gt;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	&lt;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script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Arial Unicode MS"/>
              </a:rPr>
              <a:t>type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=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text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/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javascript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&gt;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880000"/>
                </a:solidFill>
                <a:effectLst/>
                <a:latin typeface="Arial Unicode MS"/>
              </a:rPr>
              <a:t>//Зададим функцию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880000"/>
                </a:solidFill>
                <a:effectLst/>
                <a:latin typeface="Arial Unicode MS"/>
              </a:rPr>
              <a:t>start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880000"/>
                </a:solidFill>
                <a:effectLst/>
                <a:latin typeface="Arial Unicode MS"/>
              </a:rPr>
              <a:t>, которая будет вызвана после полной загрузки документа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	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function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start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(){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880000"/>
                </a:solidFill>
                <a:effectLst/>
                <a:latin typeface="Arial Unicode MS"/>
              </a:rPr>
              <a:t>//Создадим переменную с текстом, который будет выведен на страницу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		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txt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=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'Данный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текст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будет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отображен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через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Arial Unicode MS"/>
              </a:rPr>
              <a:t>3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секунды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после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полной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загрузки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документа.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';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880000"/>
                </a:solidFill>
                <a:effectLst/>
                <a:latin typeface="Arial Unicode MS"/>
              </a:rPr>
              <a:t>//Выведем на страницу текст через 3 секунды после загрузки документа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		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setTimeout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(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'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document.write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(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txt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)'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,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Arial Unicode MS"/>
              </a:rPr>
              <a:t>3000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);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	}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&lt;/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script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&gt;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&lt;/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body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&gt;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20670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Выполнение кода по расписанию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95401" y="2408221"/>
            <a:ext cx="9601196" cy="679011"/>
          </a:xfrm>
        </p:spPr>
        <p:txBody>
          <a:bodyPr>
            <a:normAutofit/>
          </a:bodyPr>
          <a:lstStyle/>
          <a:p>
            <a:r>
              <a:rPr lang="ru-RU" sz="1600" b="1" dirty="0" err="1"/>
              <a:t>setInterval</a:t>
            </a:r>
            <a:r>
              <a:rPr lang="ru-RU" sz="1600" b="1" dirty="0"/>
              <a:t>(</a:t>
            </a:r>
            <a:r>
              <a:rPr lang="ru-RU" sz="1600" b="1" dirty="0" err="1"/>
              <a:t>код,промежуток_времени</a:t>
            </a:r>
            <a:r>
              <a:rPr lang="ru-RU" sz="1600" b="1" dirty="0"/>
              <a:t>)</a:t>
            </a:r>
            <a:r>
              <a:rPr lang="ru-RU" sz="1600" dirty="0"/>
              <a:t> позволяет выполнять </a:t>
            </a:r>
            <a:r>
              <a:rPr lang="ru-RU" sz="1600" b="1" dirty="0"/>
              <a:t>код</a:t>
            </a:r>
            <a:r>
              <a:rPr lang="ru-RU" sz="1600" dirty="0"/>
              <a:t> через заданный </a:t>
            </a:r>
            <a:r>
              <a:rPr lang="ru-RU" sz="1600" b="1" dirty="0" err="1"/>
              <a:t>промежуток_времени</a:t>
            </a:r>
            <a:r>
              <a:rPr lang="ru-RU" sz="1600" b="1" dirty="0"/>
              <a:t> </a:t>
            </a:r>
            <a:r>
              <a:rPr lang="ru-RU" sz="1600" dirty="0"/>
              <a:t>бесконечное количество раз.</a:t>
            </a:r>
            <a:endParaRPr lang="ru-RU" sz="1200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14399" y="3003809"/>
            <a:ext cx="9411551" cy="3213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38088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&lt;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body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Arial Unicode MS"/>
              </a:rPr>
              <a:t>onload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=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'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start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()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'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000000"/>
                </a:solidFill>
                <a:latin typeface="Arial Unicode MS"/>
              </a:rPr>
              <a:t>	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&lt;p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Arial Unicode MS"/>
              </a:rPr>
              <a:t>id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=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'text1'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Здесь будет отображено текущее время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&lt;/p&gt;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000000"/>
                </a:solidFill>
                <a:latin typeface="Arial Unicode MS"/>
              </a:rPr>
              <a:t>	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&lt;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script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Arial Unicode MS"/>
              </a:rPr>
              <a:t>type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=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text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/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javascript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880000"/>
                </a:solidFill>
                <a:effectLst/>
                <a:latin typeface="Arial Unicode MS"/>
              </a:rPr>
              <a:t>//Зададим функцию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880000"/>
                </a:solidFill>
                <a:effectLst/>
                <a:latin typeface="Arial Unicode MS"/>
              </a:rPr>
              <a:t>time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880000"/>
                </a:solidFill>
                <a:effectLst/>
                <a:latin typeface="Arial Unicode MS"/>
              </a:rPr>
              <a:t>, которая будет выводить текущее время в абзац //с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880000"/>
                </a:solidFill>
                <a:effectLst/>
                <a:latin typeface="Arial Unicode MS"/>
              </a:rPr>
              <a:t>id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880000"/>
                </a:solidFill>
                <a:effectLst/>
                <a:latin typeface="Arial Unicode MS"/>
              </a:rPr>
              <a:t>=text1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000000"/>
                </a:solidFill>
                <a:latin typeface="Arial Unicode MS"/>
              </a:rPr>
              <a:t>	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function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time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(){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880000"/>
                </a:solidFill>
                <a:effectLst/>
                <a:latin typeface="Arial Unicode MS"/>
              </a:rPr>
              <a:t>//Определим текущее время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000000"/>
                </a:solidFill>
                <a:latin typeface="Arial Unicode MS"/>
              </a:rPr>
              <a:t>		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var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dat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=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new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Arial Unicode MS"/>
              </a:rPr>
              <a:t>Date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();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	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var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hour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=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dat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.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getHours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();	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var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min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=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dat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.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getMinutes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();</a:t>
            </a:r>
            <a:r>
              <a:rPr lang="ru-RU" altLang="ru-RU" sz="1200" dirty="0">
                <a:solidFill>
                  <a:srgbClr val="666600"/>
                </a:solidFill>
                <a:latin typeface="Arial Unicode MS"/>
              </a:rPr>
              <a:t>	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var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sec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=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dat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.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getSeconds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();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000000"/>
                </a:solidFill>
                <a:latin typeface="Arial Unicode MS"/>
              </a:rPr>
              <a:t>		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tim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=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hour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+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':'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+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min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+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':'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+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sec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880000"/>
                </a:solidFill>
                <a:effectLst/>
                <a:latin typeface="Arial Unicode MS"/>
              </a:rPr>
              <a:t>//Выведем текущее время в абзац с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880000"/>
                </a:solidFill>
                <a:effectLst/>
                <a:latin typeface="Arial Unicode MS"/>
              </a:rPr>
              <a:t>id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880000"/>
                </a:solidFill>
                <a:effectLst/>
                <a:latin typeface="Arial Unicode MS"/>
              </a:rPr>
              <a:t>=text1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000000"/>
                </a:solidFill>
                <a:latin typeface="Arial Unicode MS"/>
              </a:rPr>
              <a:t>		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document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.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getElementById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(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'text1'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).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innerHTML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=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tim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}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ts val="200"/>
              </a:spcAft>
            </a:pPr>
            <a:r>
              <a:rPr lang="ru-RU" altLang="ru-RU" sz="1200" dirty="0">
                <a:solidFill>
                  <a:srgbClr val="880000"/>
                </a:solidFill>
                <a:latin typeface="Arial Unicode MS"/>
              </a:rPr>
              <a:t>//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880000"/>
                </a:solidFill>
                <a:effectLst/>
                <a:latin typeface="Arial Unicode MS"/>
              </a:rPr>
              <a:t> Функция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880000"/>
                </a:solidFill>
                <a:effectLst/>
                <a:latin typeface="Arial Unicode MS"/>
              </a:rPr>
              <a:t>start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880000"/>
                </a:solidFill>
                <a:effectLst/>
                <a:latin typeface="Arial Unicode MS"/>
              </a:rPr>
              <a:t> будет запущена после полной загрузки документа и будет вызывать функцию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880000"/>
                </a:solidFill>
                <a:effectLst/>
                <a:latin typeface="Arial Unicode MS"/>
              </a:rPr>
              <a:t>time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880000"/>
                </a:solidFill>
                <a:effectLst/>
                <a:latin typeface="Arial Unicode MS"/>
              </a:rPr>
              <a:t> через каждую секунду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000000"/>
                </a:solidFill>
                <a:latin typeface="Arial Unicode MS"/>
              </a:rPr>
              <a:t>	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function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start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(){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000000"/>
                </a:solidFill>
                <a:latin typeface="Arial Unicode MS"/>
              </a:rPr>
              <a:t>		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id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=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setInterval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(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'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time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()'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,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Arial Unicode MS"/>
              </a:rPr>
              <a:t>1000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);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}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000000"/>
                </a:solidFill>
                <a:latin typeface="Arial Unicode MS"/>
              </a:rPr>
              <a:t>	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&lt;/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script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&lt;/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body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93452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86072" y="581774"/>
            <a:ext cx="9601196" cy="837337"/>
          </a:xfrm>
        </p:spPr>
        <p:txBody>
          <a:bodyPr>
            <a:normAutofit/>
          </a:bodyPr>
          <a:lstStyle/>
          <a:p>
            <a:r>
              <a:rPr lang="ru-RU" b="1" dirty="0"/>
              <a:t>Проверка форм в </a:t>
            </a:r>
            <a:r>
              <a:rPr lang="en-US" b="1" dirty="0"/>
              <a:t>JavaScript</a:t>
            </a:r>
            <a:endParaRPr lang="ru-RU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11764" y="1223168"/>
            <a:ext cx="9854172" cy="507060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38088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&lt;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head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000000"/>
                </a:solidFill>
                <a:latin typeface="Arial Unicode MS"/>
              </a:rPr>
              <a:t>	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&lt;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script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Arial Unicode MS"/>
              </a:rPr>
              <a:t>type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=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text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/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javascript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000000"/>
                </a:solidFill>
                <a:latin typeface="Arial Unicode MS"/>
              </a:rPr>
              <a:t>		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function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validate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(){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880000"/>
                </a:solidFill>
                <a:effectLst/>
                <a:latin typeface="Arial Unicode MS"/>
              </a:rPr>
              <a:t>//Считаем значения из полей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880000"/>
                </a:solidFill>
                <a:effectLst/>
                <a:latin typeface="Arial Unicode MS"/>
              </a:rPr>
              <a:t>name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880000"/>
                </a:solidFill>
                <a:effectLst/>
                <a:latin typeface="Arial Unicode MS"/>
              </a:rPr>
              <a:t> и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880000"/>
                </a:solidFill>
                <a:effectLst/>
                <a:latin typeface="Arial Unicode MS"/>
              </a:rPr>
              <a:t>email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880000"/>
                </a:solidFill>
                <a:effectLst/>
                <a:latin typeface="Arial Unicode MS"/>
              </a:rPr>
              <a:t> в переменные x и y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000000"/>
                </a:solidFill>
                <a:latin typeface="Arial Unicode MS"/>
              </a:rPr>
              <a:t>		  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var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x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=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document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.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forms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[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form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][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name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].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value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000000"/>
                </a:solidFill>
                <a:latin typeface="Arial Unicode MS"/>
              </a:rPr>
              <a:t>		  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var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y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=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document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.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forms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[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form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][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email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].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value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880000"/>
                </a:solidFill>
                <a:effectLst/>
                <a:latin typeface="Arial Unicode MS"/>
              </a:rPr>
              <a:t>//Если поле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880000"/>
                </a:solidFill>
                <a:effectLst/>
                <a:latin typeface="Arial Unicode MS"/>
              </a:rPr>
              <a:t>name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880000"/>
                </a:solidFill>
                <a:effectLst/>
                <a:latin typeface="Arial Unicode MS"/>
              </a:rPr>
              <a:t> пустое выведем сообщение и предотвратим отправку формы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880000"/>
                </a:solidFill>
                <a:latin typeface="Arial Unicode MS"/>
              </a:rPr>
              <a:t>		  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if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(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x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.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length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==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Arial Unicode MS"/>
              </a:rPr>
              <a:t>0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){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document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.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getElementById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(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namef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).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innerHTML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=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"*данное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поле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обязательно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для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заполнения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			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return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false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}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880000"/>
                </a:solidFill>
                <a:effectLst/>
                <a:latin typeface="Arial Unicode MS"/>
              </a:rPr>
              <a:t>//Если поле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880000"/>
                </a:solidFill>
                <a:effectLst/>
                <a:latin typeface="Arial Unicode MS"/>
              </a:rPr>
              <a:t>email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880000"/>
                </a:solidFill>
                <a:effectLst/>
                <a:latin typeface="Arial Unicode MS"/>
              </a:rPr>
              <a:t> пустое выведем сообщение и предотвратим отправку формы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000000"/>
                </a:solidFill>
                <a:latin typeface="Arial Unicode MS"/>
              </a:rPr>
              <a:t>		  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if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(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y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.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length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==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Arial Unicode MS"/>
              </a:rPr>
              <a:t>0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){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document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.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getElementById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(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emailf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).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innerHTML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=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"*данное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поле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обязательно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для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заполнения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000000"/>
                </a:solidFill>
                <a:latin typeface="Arial Unicode MS"/>
              </a:rPr>
              <a:t>			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return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false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}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880000"/>
                </a:solidFill>
                <a:effectLst/>
                <a:latin typeface="Arial Unicode MS"/>
              </a:rPr>
              <a:t>//Проверим содержит ли значение введенное в поле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880000"/>
                </a:solidFill>
                <a:effectLst/>
                <a:latin typeface="Arial Unicode MS"/>
              </a:rPr>
              <a:t>email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880000"/>
                </a:solidFill>
                <a:effectLst/>
                <a:latin typeface="Arial Unicode MS"/>
              </a:rPr>
              <a:t> символы @ и .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000000"/>
                </a:solidFill>
                <a:latin typeface="Arial Unicode MS"/>
              </a:rPr>
              <a:t>		  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=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y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.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indexOf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(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"@"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);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000000"/>
                </a:solidFill>
                <a:latin typeface="Arial Unicode MS"/>
              </a:rPr>
              <a:t>		  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dot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=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y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.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indexOf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(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"."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);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880000"/>
                </a:solidFill>
                <a:effectLst/>
                <a:latin typeface="Arial Unicode MS"/>
              </a:rPr>
              <a:t>//Если поле не содержит эти символы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880000"/>
                </a:solidFill>
                <a:effectLst/>
                <a:latin typeface="Arial Unicode MS"/>
              </a:rPr>
              <a:t>знач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88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880000"/>
                </a:solidFill>
                <a:effectLst/>
                <a:latin typeface="Arial Unicode MS"/>
              </a:rPr>
              <a:t>email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880000"/>
                </a:solidFill>
                <a:effectLst/>
                <a:latin typeface="Arial Unicode MS"/>
              </a:rPr>
              <a:t> введен не верно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000000"/>
                </a:solidFill>
                <a:latin typeface="Arial Unicode MS"/>
              </a:rPr>
              <a:t>		  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if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(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&lt;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Arial Unicode MS"/>
              </a:rPr>
              <a:t>1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||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dot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&lt;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Arial Unicode MS"/>
              </a:rPr>
              <a:t>1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){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document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.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getElementById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(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emailf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).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innerHTML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=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"*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email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 введен не верно"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000000"/>
                </a:solidFill>
                <a:latin typeface="Arial Unicode MS"/>
              </a:rPr>
              <a:t>			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return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false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}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}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000000"/>
                </a:solidFill>
                <a:latin typeface="Arial Unicode MS"/>
              </a:rPr>
              <a:t>	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&lt;/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script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&lt;/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head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&lt;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body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	&lt;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form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Arial Unicode MS"/>
              </a:rPr>
              <a:t>name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=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form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Arial Unicode MS"/>
              </a:rPr>
              <a:t>onsubmit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=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return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validate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()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Имя: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		&lt;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input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Arial Unicode MS"/>
              </a:rPr>
              <a:t>type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=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text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Arial Unicode MS"/>
              </a:rPr>
              <a:t>name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=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name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&lt;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span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Arial Unicode MS"/>
              </a:rPr>
              <a:t>style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=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color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: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red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Arial Unicode MS"/>
              </a:rPr>
              <a:t>id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=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namef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&gt;&lt;/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span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&gt;&lt;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br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/&gt;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e-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mail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000000"/>
                </a:solidFill>
                <a:latin typeface="Arial Unicode MS"/>
              </a:rPr>
              <a:t>		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&lt;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input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Arial Unicode MS"/>
              </a:rPr>
              <a:t>type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=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text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Arial Unicode MS"/>
              </a:rPr>
              <a:t>name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=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email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&lt;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span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Arial Unicode MS"/>
              </a:rPr>
              <a:t>style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=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color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: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red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Arial Unicode MS"/>
              </a:rPr>
              <a:t>id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=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emailf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&gt;&lt;/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span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&lt;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br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/&gt;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000088"/>
                </a:solidFill>
                <a:latin typeface="Arial Unicode MS"/>
              </a:rPr>
              <a:t>		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&lt;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input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Arial Unicode MS"/>
              </a:rPr>
              <a:t>type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=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submit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Arial Unicode MS"/>
              </a:rPr>
              <a:t>value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</a:rPr>
              <a:t>=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Arial Unicode MS"/>
              </a:rPr>
              <a:t>"Отправить форму"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000000"/>
                </a:solidFill>
                <a:latin typeface="Arial Unicode MS"/>
              </a:rPr>
              <a:t>	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&lt;/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form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&lt;/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body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336367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туральные материалы">
  <a:themeElements>
    <a:clrScheme name="Натуральные материалы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Натуральные материалы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Натуральные материалы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1509</TotalTime>
  <Words>2947</Words>
  <Application>Microsoft Macintosh PowerPoint</Application>
  <PresentationFormat>Широкоэкранный</PresentationFormat>
  <Paragraphs>618</Paragraphs>
  <Slides>54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54</vt:i4>
      </vt:variant>
    </vt:vector>
  </HeadingPairs>
  <TitlesOfParts>
    <vt:vector size="60" baseType="lpstr">
      <vt:lpstr>Arial Unicode MS</vt:lpstr>
      <vt:lpstr>Arial</vt:lpstr>
      <vt:lpstr>Calibri</vt:lpstr>
      <vt:lpstr>Garamond</vt:lpstr>
      <vt:lpstr>Times New Roman</vt:lpstr>
      <vt:lpstr>Натуральные материалы</vt:lpstr>
      <vt:lpstr>Знакомство с JavaScript</vt:lpstr>
      <vt:lpstr>Интерактивные веб-страницы</vt:lpstr>
      <vt:lpstr>Что можно делать с помощью JavaScript?</vt:lpstr>
      <vt:lpstr>Добавление JavaScript на веб-страницы</vt:lpstr>
      <vt:lpstr>Комментарии к примеру</vt:lpstr>
      <vt:lpstr>Задание 1. </vt:lpstr>
      <vt:lpstr>JavaScript в &lt;head&gt;</vt:lpstr>
      <vt:lpstr>JavaScript в &lt;body&gt;</vt:lpstr>
      <vt:lpstr>Подключение внешних скриптов</vt:lpstr>
      <vt:lpstr>Задание 2.</vt:lpstr>
      <vt:lpstr>Обратите внимание: </vt:lpstr>
      <vt:lpstr>JavaScript комментарии</vt:lpstr>
      <vt:lpstr>Переменные JavaScript</vt:lpstr>
      <vt:lpstr>Пример</vt:lpstr>
      <vt:lpstr>Строковые переменные</vt:lpstr>
      <vt:lpstr>Определение переменных с var и без него</vt:lpstr>
      <vt:lpstr>Об удалении и переопределении переменных</vt:lpstr>
      <vt:lpstr>Задание 3.1 Исправьте ошибки </vt:lpstr>
      <vt:lpstr>Задание 3.2</vt:lpstr>
      <vt:lpstr>Арифметические операторы JavaScript</vt:lpstr>
      <vt:lpstr>Пример</vt:lpstr>
      <vt:lpstr>Сокращенная запись арифметических операторов</vt:lpstr>
      <vt:lpstr>Использование оператора + со строковыми переменными</vt:lpstr>
      <vt:lpstr>Результатом сложения строки и числа всегда будет строка</vt:lpstr>
      <vt:lpstr>Задание 4.</vt:lpstr>
      <vt:lpstr>JavaScript операторы сравнения</vt:lpstr>
      <vt:lpstr>Пример</vt:lpstr>
      <vt:lpstr>Логические операторы</vt:lpstr>
      <vt:lpstr>Задание 5.</vt:lpstr>
      <vt:lpstr>Условные конструкции JavaScript</vt:lpstr>
      <vt:lpstr>Условные конструкции JavaScript</vt:lpstr>
      <vt:lpstr>Условные конструкции JavaScript</vt:lpstr>
      <vt:lpstr>Условные конструкции JavaScript</vt:lpstr>
      <vt:lpstr>Конструкция  Switch</vt:lpstr>
      <vt:lpstr>Задание 6.</vt:lpstr>
      <vt:lpstr>Окна оповещения в JavaScript</vt:lpstr>
      <vt:lpstr>Окна запроса в JavaScript</vt:lpstr>
      <vt:lpstr>Задание 7.</vt:lpstr>
      <vt:lpstr>Циклы JavaScript. Цикл For </vt:lpstr>
      <vt:lpstr>Цикл While</vt:lpstr>
      <vt:lpstr>Цикл do..while</vt:lpstr>
      <vt:lpstr>Команда break</vt:lpstr>
      <vt:lpstr>Команда continue</vt:lpstr>
      <vt:lpstr>Цикл for..in</vt:lpstr>
      <vt:lpstr>Задание 8.</vt:lpstr>
      <vt:lpstr>Массивы в JavaScript</vt:lpstr>
      <vt:lpstr>Доступ к переменным в массиве</vt:lpstr>
      <vt:lpstr>События</vt:lpstr>
      <vt:lpstr>Событие onсlick</vt:lpstr>
      <vt:lpstr>События onmouseover и onmouseout</vt:lpstr>
      <vt:lpstr>Задание 9.</vt:lpstr>
      <vt:lpstr>Выполнение кода по расписанию</vt:lpstr>
      <vt:lpstr>Выполнение кода по расписанию</vt:lpstr>
      <vt:lpstr>Проверка форм в JavaScript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Знакомство с JavaScript</dc:title>
  <dc:creator>Преподаватель Кронштадский б-р,37</dc:creator>
  <cp:lastModifiedBy>Пользователь Microsoft Office</cp:lastModifiedBy>
  <cp:revision>28</cp:revision>
  <dcterms:created xsi:type="dcterms:W3CDTF">2018-09-18T06:44:04Z</dcterms:created>
  <dcterms:modified xsi:type="dcterms:W3CDTF">2019-09-25T08:20:52Z</dcterms:modified>
</cp:coreProperties>
</file>