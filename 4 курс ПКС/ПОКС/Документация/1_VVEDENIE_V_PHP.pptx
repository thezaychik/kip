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8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9" r:id="rId34"/>
    <p:sldId id="291" r:id="rId35"/>
    <p:sldId id="293" r:id="rId36"/>
    <p:sldId id="292" r:id="rId37"/>
    <p:sldId id="290" r:id="rId38"/>
    <p:sldId id="287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3" autoAdjust="0"/>
    <p:restoredTop sz="94624" autoAdjust="0"/>
  </p:normalViewPr>
  <p:slideViewPr>
    <p:cSldViewPr>
      <p:cViewPr varScale="1">
        <p:scale>
          <a:sx n="87" d="100"/>
          <a:sy n="87" d="100"/>
        </p:scale>
        <p:origin x="109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53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47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37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90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42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6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45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46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00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83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780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768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29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514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481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974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18596" y="434162"/>
            <a:ext cx="8306809" cy="5587126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0D171-A3AE-4262-92DB-E79851229C30}" type="datetimeFigureOut">
              <a:rPr lang="ru-RU" smtClean="0"/>
              <a:t>23.10.2018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F572D42-4146-4EB8-8346-6E254ECBD1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72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6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ВВЕДЕНИЕ В </a:t>
            </a:r>
            <a:r>
              <a:rPr lang="en-US" b="1" dirty="0"/>
              <a:t>PHP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Пестов А.И.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Базовый синтаксис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2"/>
            <a:ext cx="7416824" cy="5112568"/>
          </a:xfrm>
        </p:spPr>
        <p:txBody>
          <a:bodyPr>
            <a:noAutofit/>
          </a:bodyPr>
          <a:lstStyle/>
          <a:p>
            <a:pPr marL="0" indent="0" algn="ctr" fontAlgn="base">
              <a:lnSpc>
                <a:spcPct val="170000"/>
              </a:lnSpc>
              <a:buNone/>
            </a:pPr>
            <a:r>
              <a:rPr lang="en-US" sz="1600" b="1" i="1" dirty="0"/>
              <a:t>PHP</a:t>
            </a:r>
            <a:r>
              <a:rPr lang="en-US" sz="1600" i="1" dirty="0"/>
              <a:t> — </a:t>
            </a:r>
            <a:r>
              <a:rPr lang="ru-RU" sz="1600" i="1" dirty="0"/>
              <a:t>это рекурсивный акроним аббревиатуры </a:t>
            </a:r>
            <a:r>
              <a:rPr lang="en-US" sz="1600" i="1" dirty="0"/>
              <a:t>PHP</a:t>
            </a:r>
            <a:r>
              <a:rPr lang="ru-RU" sz="1600" i="1" dirty="0"/>
              <a:t> </a:t>
            </a:r>
            <a:r>
              <a:rPr lang="en-US" sz="1600" b="1" i="1" dirty="0"/>
              <a:t>Hypertext Preprocessor</a:t>
            </a:r>
            <a:r>
              <a:rPr lang="en-US" sz="1600" i="1" dirty="0"/>
              <a:t>. </a:t>
            </a:r>
            <a:endParaRPr lang="ru-RU" sz="1600" i="1" dirty="0"/>
          </a:p>
          <a:p>
            <a:pPr marL="0" indent="0" fontAlgn="base">
              <a:lnSpc>
                <a:spcPct val="170000"/>
              </a:lnSpc>
              <a:buNone/>
            </a:pPr>
            <a:r>
              <a:rPr lang="ru-RU" sz="1600" i="1" dirty="0"/>
              <a:t>Команды на языке </a:t>
            </a:r>
            <a:r>
              <a:rPr lang="en-US" sz="1600" i="1" dirty="0"/>
              <a:t>PHP </a:t>
            </a:r>
            <a:r>
              <a:rPr lang="ru-RU" sz="1600" i="1" dirty="0"/>
              <a:t>обрамляются специальными дескрипторами — тэгами языка </a:t>
            </a:r>
            <a:r>
              <a:rPr lang="en-US" sz="1600" i="1" dirty="0"/>
              <a:t>PHP.</a:t>
            </a:r>
            <a:r>
              <a:rPr lang="ru-RU" sz="1600" i="1" dirty="0"/>
              <a:t> Все, что находится вне этих тегов, игнорируется интерпретатором. Поддерживаются следующие стили написания тэгов:   </a:t>
            </a:r>
          </a:p>
          <a:p>
            <a:pPr marL="0" indent="265113" fontAlgn="base">
              <a:lnSpc>
                <a:spcPct val="170000"/>
              </a:lnSpc>
              <a:tabLst>
                <a:tab pos="2419350" algn="l"/>
              </a:tabLst>
            </a:pPr>
            <a:r>
              <a:rPr lang="en-US" sz="1600" i="1" dirty="0"/>
              <a:t>XML-</a:t>
            </a:r>
            <a:r>
              <a:rPr lang="ru-RU" sz="1600" i="1" dirty="0"/>
              <a:t>стиль (рекомендуемый): 	 </a:t>
            </a:r>
            <a:r>
              <a:rPr lang="ru-RU" sz="1600" b="1" i="1" dirty="0"/>
              <a:t>&lt;?</a:t>
            </a:r>
            <a:r>
              <a:rPr lang="en-US" sz="1600" b="1" i="1" dirty="0" err="1"/>
              <a:t>php</a:t>
            </a:r>
            <a:r>
              <a:rPr lang="en-US" sz="1600" b="1" i="1" dirty="0"/>
              <a:t> </a:t>
            </a:r>
            <a:r>
              <a:rPr lang="ru-RU" sz="1600" b="1" i="1" dirty="0"/>
              <a:t>код на </a:t>
            </a:r>
            <a:r>
              <a:rPr lang="en-US" sz="1600" b="1" i="1" dirty="0"/>
              <a:t>PHP ?&gt;</a:t>
            </a:r>
            <a:endParaRPr lang="en-US" sz="1600" dirty="0"/>
          </a:p>
          <a:p>
            <a:pPr marL="0" indent="265113" fontAlgn="base">
              <a:lnSpc>
                <a:spcPct val="170000"/>
              </a:lnSpc>
              <a:tabLst>
                <a:tab pos="2419350" algn="l"/>
              </a:tabLst>
            </a:pPr>
            <a:r>
              <a:rPr lang="en-US" sz="1600" i="1" dirty="0"/>
              <a:t>HTML-</a:t>
            </a:r>
            <a:r>
              <a:rPr lang="ru-RU" sz="1600" i="1" dirty="0"/>
              <a:t>стиль:	</a:t>
            </a:r>
            <a:r>
              <a:rPr lang="ru-RU" sz="1600" b="1" i="1" dirty="0"/>
              <a:t>&lt;</a:t>
            </a:r>
            <a:r>
              <a:rPr lang="en-US" sz="1600" b="1" i="1" dirty="0"/>
              <a:t>script language="</a:t>
            </a:r>
            <a:r>
              <a:rPr lang="en-US" sz="1600" b="1" i="1" dirty="0" err="1"/>
              <a:t>php</a:t>
            </a:r>
            <a:r>
              <a:rPr lang="en-US" sz="1600" b="1" i="1" dirty="0"/>
              <a:t>"&gt; </a:t>
            </a:r>
            <a:r>
              <a:rPr lang="ru-RU" sz="1600" b="1" i="1" dirty="0"/>
              <a:t>код </a:t>
            </a:r>
            <a:r>
              <a:rPr lang="en-US" sz="1600" b="1" i="1" dirty="0"/>
              <a:t>PHP &lt;/script&gt;</a:t>
            </a:r>
            <a:endParaRPr lang="en-US" sz="1600" dirty="0"/>
          </a:p>
          <a:p>
            <a:pPr marL="0" indent="265113" fontAlgn="base">
              <a:lnSpc>
                <a:spcPct val="170000"/>
              </a:lnSpc>
              <a:tabLst>
                <a:tab pos="2419350" algn="l"/>
              </a:tabLst>
            </a:pPr>
            <a:r>
              <a:rPr lang="ru-RU" sz="1600" i="1" dirty="0"/>
              <a:t>Краткий стиль:	</a:t>
            </a:r>
            <a:r>
              <a:rPr lang="ru-RU" sz="1600" b="1" i="1" dirty="0"/>
              <a:t>&lt;? код на </a:t>
            </a:r>
            <a:r>
              <a:rPr lang="en-US" sz="1600" b="1" i="1" dirty="0"/>
              <a:t>PHP ?&gt;</a:t>
            </a:r>
            <a:endParaRPr lang="en-US" sz="1600" dirty="0"/>
          </a:p>
          <a:p>
            <a:pPr marL="0" indent="265113" fontAlgn="base">
              <a:lnSpc>
                <a:spcPct val="170000"/>
              </a:lnSpc>
              <a:tabLst>
                <a:tab pos="2419350" algn="l"/>
              </a:tabLst>
            </a:pPr>
            <a:r>
              <a:rPr lang="en-US" sz="1600" i="1" dirty="0"/>
              <a:t>ASP-</a:t>
            </a:r>
            <a:r>
              <a:rPr lang="ru-RU" sz="1600" i="1" dirty="0"/>
              <a:t>стиль:	</a:t>
            </a:r>
            <a:r>
              <a:rPr lang="ru-RU" sz="1600" b="1" i="1" dirty="0"/>
              <a:t>&lt;% код на </a:t>
            </a:r>
            <a:r>
              <a:rPr lang="en-US" sz="1600" b="1" i="1" dirty="0"/>
              <a:t>PHP %&gt;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0" i="1" dirty="0"/>
              <a:t>Требования, которые необходимо соблюдать при программировании на PHP: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>
              <a:lnSpc>
                <a:spcPct val="150000"/>
              </a:lnSpc>
            </a:pPr>
            <a:r>
              <a:rPr lang="ru-RU" sz="2000" i="1" dirty="0"/>
              <a:t>Каждая команда заканчивается точкой с запятой (;);</a:t>
            </a:r>
            <a:endParaRPr lang="ru-RU" sz="2000" dirty="0"/>
          </a:p>
          <a:p>
            <a:pPr fontAlgn="base">
              <a:lnSpc>
                <a:spcPct val="150000"/>
              </a:lnSpc>
            </a:pPr>
            <a:r>
              <a:rPr lang="ru-RU" sz="2000" i="1" dirty="0"/>
              <a:t>Одну команду можно записывать в несколько строк или несколько команд в одну строку;</a:t>
            </a:r>
            <a:endParaRPr lang="ru-RU" sz="2000" dirty="0"/>
          </a:p>
          <a:p>
            <a:pPr fontAlgn="base">
              <a:lnSpc>
                <a:spcPct val="150000"/>
              </a:lnSpc>
            </a:pPr>
            <a:r>
              <a:rPr lang="ru-RU" sz="2000" i="1" dirty="0"/>
              <a:t>PHP чувствителен к регистру символов в именах переменных и функций;</a:t>
            </a:r>
            <a:endParaRPr lang="ru-RU" sz="2000" dirty="0"/>
          </a:p>
          <a:p>
            <a:pPr fontAlgn="base">
              <a:lnSpc>
                <a:spcPct val="150000"/>
              </a:lnSpc>
            </a:pPr>
            <a:r>
              <a:rPr lang="ru-RU" sz="2000" i="1" dirty="0"/>
              <a:t>PHP нечувствителен в отношении ключевых слов, к пробелам, переводам строки, знакам табуляции.</a:t>
            </a:r>
            <a:endParaRPr lang="ru-RU" sz="2000" dirty="0"/>
          </a:p>
          <a:p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2"/>
            <a:ext cx="4608512" cy="42484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i="1" dirty="0"/>
              <a:t>&lt;?</a:t>
            </a:r>
            <a:r>
              <a:rPr lang="ru-RU" sz="2000" b="1" i="1" dirty="0" err="1"/>
              <a:t>php</a:t>
            </a:r>
            <a:r>
              <a:rPr lang="ru-RU" sz="2000" b="1" i="1" dirty="0"/>
              <a:t/>
            </a:r>
            <a:br>
              <a:rPr lang="ru-RU" sz="2000" b="1" i="1" dirty="0"/>
            </a:br>
            <a:r>
              <a:rPr lang="ru-RU" sz="2000" b="1" i="1" dirty="0"/>
              <a:t>  $</a:t>
            </a:r>
            <a:r>
              <a:rPr lang="ru-RU" sz="2000" b="1" i="1" dirty="0" err="1"/>
              <a:t>index</a:t>
            </a:r>
            <a:r>
              <a:rPr lang="ru-RU" sz="2000" b="1" i="1" dirty="0"/>
              <a:t> = 10;</a:t>
            </a:r>
            <a:br>
              <a:rPr lang="ru-RU" sz="2000" b="1" i="1" dirty="0"/>
            </a:br>
            <a:r>
              <a:rPr lang="ru-RU" sz="2000" b="1" i="1" dirty="0"/>
              <a:t>  </a:t>
            </a:r>
            <a:r>
              <a:rPr lang="ru-RU" sz="2000" b="1" i="1" dirty="0" err="1"/>
              <a:t>print</a:t>
            </a:r>
            <a:r>
              <a:rPr lang="ru-RU" sz="2000" b="1" i="1" dirty="0"/>
              <a:t>($</a:t>
            </a:r>
            <a:r>
              <a:rPr lang="ru-RU" sz="2000" b="1" i="1" dirty="0" err="1"/>
              <a:t>Index</a:t>
            </a:r>
            <a:r>
              <a:rPr lang="ru-RU" sz="2000" b="1" i="1" dirty="0"/>
              <a:t>);  // Ошибка</a:t>
            </a:r>
            <a:br>
              <a:rPr lang="ru-RU" sz="2000" b="1" i="1" dirty="0"/>
            </a:br>
            <a:r>
              <a:rPr lang="ru-RU" sz="2000" b="1" i="1" dirty="0"/>
              <a:t>?&gt;</a:t>
            </a:r>
            <a:endParaRPr lang="ru-RU" sz="20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4427984" y="1556792"/>
            <a:ext cx="4248472" cy="424847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marL="265176" marR="0" lvl="0" indent="-265176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5066633" y="1556792"/>
            <a:ext cx="3240360" cy="424847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fontAlgn="base"/>
            <a:r>
              <a:rPr lang="en-US" sz="2000" b="1" i="1" dirty="0"/>
              <a:t>&lt;?</a:t>
            </a:r>
            <a:r>
              <a:rPr lang="en-US" sz="2000" b="1" i="1" dirty="0" err="1"/>
              <a:t>php</a:t>
            </a:r>
            <a:endParaRPr lang="en-US" sz="2000" dirty="0"/>
          </a:p>
          <a:p>
            <a:pPr fontAlgn="base"/>
            <a:r>
              <a:rPr lang="en-US" sz="2000" b="1" i="1" dirty="0"/>
              <a:t>  $index = 10;</a:t>
            </a:r>
            <a:br>
              <a:rPr lang="en-US" sz="2000" b="1" i="1" dirty="0"/>
            </a:br>
            <a:r>
              <a:rPr lang="en-US" sz="2000" b="1" i="1" dirty="0"/>
              <a:t>  $index = 10 + 20;</a:t>
            </a:r>
            <a:br>
              <a:rPr lang="en-US" sz="2000" b="1" i="1" dirty="0"/>
            </a:br>
            <a:r>
              <a:rPr lang="en-US" sz="2000" b="1" i="1" dirty="0"/>
              <a:t>  $index = 10+10;</a:t>
            </a:r>
            <a:br>
              <a:rPr lang="en-US" sz="2000" b="1" i="1" dirty="0"/>
            </a:br>
            <a:r>
              <a:rPr lang="en-US" sz="2000" b="1" i="1" dirty="0"/>
              <a:t>  $index =</a:t>
            </a:r>
            <a:br>
              <a:rPr lang="en-US" sz="2000" b="1" i="1" dirty="0"/>
            </a:br>
            <a:r>
              <a:rPr lang="en-US" sz="2000" b="1" i="1" dirty="0"/>
              <a:t>  10</a:t>
            </a:r>
            <a:br>
              <a:rPr lang="en-US" sz="2000" b="1" i="1" dirty="0"/>
            </a:br>
            <a:r>
              <a:rPr lang="en-US" sz="2000" b="1" i="1" dirty="0"/>
              <a:t>  +</a:t>
            </a:r>
            <a:br>
              <a:rPr lang="en-US" sz="2000" b="1" i="1" dirty="0"/>
            </a:br>
            <a:r>
              <a:rPr lang="en-US" sz="2000" b="1" i="1" dirty="0"/>
              <a:t>  10;</a:t>
            </a:r>
            <a:br>
              <a:rPr lang="en-US" sz="2000" b="1" i="1" dirty="0"/>
            </a:br>
            <a:r>
              <a:rPr lang="en-US" sz="2000" b="1" i="1" dirty="0"/>
              <a:t>?&gt;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352928" cy="1051560"/>
          </a:xfrm>
        </p:spPr>
        <p:txBody>
          <a:bodyPr>
            <a:noAutofit/>
          </a:bodyPr>
          <a:lstStyle/>
          <a:p>
            <a:r>
              <a:rPr lang="ru-RU" sz="2800" b="0" i="1" dirty="0"/>
              <a:t>PHP поддерживает три вида комментариев: один многострочный и два однострочных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43808" y="1556792"/>
            <a:ext cx="5807616" cy="4248472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ru-RU" i="1" dirty="0"/>
              <a:t>&lt;?</a:t>
            </a:r>
            <a:r>
              <a:rPr lang="ru-RU" i="1" dirty="0" err="1"/>
              <a:t>php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 /*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 Первый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 вид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 комментария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  */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 //  Второй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  #  Третий</a:t>
            </a:r>
            <a:endParaRPr lang="ru-RU" dirty="0"/>
          </a:p>
          <a:p>
            <a:pPr fontAlgn="base">
              <a:buNone/>
            </a:pPr>
            <a:r>
              <a:rPr lang="ru-RU" i="1" dirty="0"/>
              <a:t>?&gt;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Переменные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ru-RU" sz="2000" i="1" dirty="0"/>
              <a:t>Все имена переменных должны начинаться со знака доллара ($);</a:t>
            </a:r>
            <a:endParaRPr lang="ru-RU" sz="2000" dirty="0"/>
          </a:p>
          <a:p>
            <a:pPr>
              <a:spcAft>
                <a:spcPts val="600"/>
              </a:spcAft>
            </a:pPr>
            <a:r>
              <a:rPr lang="ru-RU" sz="2000" i="1" dirty="0"/>
              <a:t>Объявления не являются обязательными. Переменная начинает существовать с момента присвоения ей значения или с момента первого использования. Если использование начинается раньше присвоения, то переменная будет содержать значение по умолчанию;</a:t>
            </a:r>
            <a:endParaRPr lang="ru-RU" sz="2000" dirty="0"/>
          </a:p>
          <a:p>
            <a:pPr>
              <a:spcAft>
                <a:spcPts val="600"/>
              </a:spcAft>
            </a:pPr>
            <a:r>
              <a:rPr lang="ru-RU" sz="2000" i="1" dirty="0"/>
              <a:t>Переменной не назначается определенный тип. Тип определяется хранящимся значением и текущей операцией.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Допустимые и недопустимые имена переменных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i="1" dirty="0"/>
              <a:t>&lt;?</a:t>
            </a:r>
            <a:r>
              <a:rPr lang="en-US" b="1" i="1" dirty="0" err="1"/>
              <a:t>php</a:t>
            </a:r>
            <a:endParaRPr lang="en-US" dirty="0"/>
          </a:p>
          <a:p>
            <a:pPr fontAlgn="base"/>
            <a:r>
              <a:rPr lang="en-US" b="1" i="1" dirty="0"/>
              <a:t>  $I;  // </a:t>
            </a:r>
            <a:r>
              <a:rPr lang="ru-RU" b="1" i="1" dirty="0"/>
              <a:t>Допустимо</a:t>
            </a:r>
            <a:endParaRPr lang="ru-RU" dirty="0"/>
          </a:p>
          <a:p>
            <a:pPr fontAlgn="base"/>
            <a:r>
              <a:rPr lang="ru-RU" b="1" i="1" dirty="0"/>
              <a:t>  $1;  // Недопустимо</a:t>
            </a:r>
            <a:endParaRPr lang="ru-RU" dirty="0"/>
          </a:p>
          <a:p>
            <a:pPr fontAlgn="base"/>
            <a:r>
              <a:rPr lang="ru-RU" b="1" i="1" dirty="0"/>
              <a:t>  $_1  ;  // Допустимо</a:t>
            </a:r>
            <a:endParaRPr lang="ru-RU" dirty="0"/>
          </a:p>
          <a:p>
            <a:pPr fontAlgn="base"/>
            <a:r>
              <a:rPr lang="ru-RU" b="1" i="1" dirty="0"/>
              <a:t>  $</a:t>
            </a:r>
            <a:r>
              <a:rPr lang="en-US" b="1" i="1" dirty="0" err="1"/>
              <a:t>firstName</a:t>
            </a:r>
            <a:r>
              <a:rPr lang="en-US" b="1" i="1" dirty="0"/>
              <a:t>;  // </a:t>
            </a:r>
            <a:r>
              <a:rPr lang="ru-RU" b="1" i="1" dirty="0"/>
              <a:t>Допустимо</a:t>
            </a:r>
            <a:endParaRPr lang="ru-RU" dirty="0"/>
          </a:p>
          <a:p>
            <a:pPr fontAlgn="base"/>
            <a:r>
              <a:rPr lang="ru-RU" b="1" i="1" dirty="0"/>
              <a:t>  $7</a:t>
            </a:r>
            <a:r>
              <a:rPr lang="en-US" b="1" i="1" dirty="0"/>
              <a:t>Lucky;  // </a:t>
            </a:r>
            <a:r>
              <a:rPr lang="ru-RU" b="1" i="1" dirty="0"/>
              <a:t>Недопустимо</a:t>
            </a:r>
            <a:endParaRPr lang="ru-RU" dirty="0"/>
          </a:p>
          <a:p>
            <a:pPr fontAlgn="base"/>
            <a:r>
              <a:rPr lang="ru-RU" b="1" i="1" dirty="0"/>
              <a:t>  $~</a:t>
            </a:r>
            <a:r>
              <a:rPr lang="en-US" b="1" i="1" dirty="0"/>
              <a:t>password;  // </a:t>
            </a:r>
            <a:r>
              <a:rPr lang="ru-RU" b="1" i="1" dirty="0"/>
              <a:t>Недопустимо</a:t>
            </a:r>
            <a:endParaRPr lang="ru-RU" dirty="0"/>
          </a:p>
          <a:p>
            <a:pPr fontAlgn="base"/>
            <a:r>
              <a:rPr lang="ru-RU" b="1" i="1" dirty="0"/>
              <a:t>  $</a:t>
            </a:r>
            <a:r>
              <a:rPr lang="en-US" b="1" i="1" dirty="0" err="1"/>
              <a:t>Last!Visit</a:t>
            </a:r>
            <a:r>
              <a:rPr lang="en-US" b="1" i="1" dirty="0"/>
              <a:t>;  // </a:t>
            </a:r>
            <a:r>
              <a:rPr lang="ru-RU" b="1" i="1" dirty="0"/>
              <a:t>Недопустимо</a:t>
            </a:r>
            <a:endParaRPr lang="ru-RU" dirty="0"/>
          </a:p>
          <a:p>
            <a:pPr fontAlgn="base"/>
            <a:r>
              <a:rPr lang="ru-RU" b="1" i="1" dirty="0"/>
              <a:t>  $</a:t>
            </a:r>
            <a:r>
              <a:rPr lang="en-US" b="1" i="1" dirty="0"/>
              <a:t>Compute-Mean  ;  // </a:t>
            </a:r>
            <a:r>
              <a:rPr lang="ru-RU" b="1" i="1" dirty="0"/>
              <a:t>Недопустимо</a:t>
            </a:r>
            <a:endParaRPr lang="ru-RU" dirty="0"/>
          </a:p>
          <a:p>
            <a:pPr fontAlgn="base"/>
            <a:r>
              <a:rPr lang="ru-RU" b="1" i="1" dirty="0"/>
              <a:t>?&gt;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5877272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/>
              <a:t>Первым символом после $ должна быть буква или </a:t>
            </a:r>
            <a:br>
              <a:rPr lang="ru-RU" i="1" dirty="0"/>
            </a:br>
            <a:r>
              <a:rPr lang="ru-RU" i="1" dirty="0"/>
              <a:t>символ подчеркивания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2"/>
            <a:ext cx="8183880" cy="4464496"/>
          </a:xfrm>
        </p:spPr>
        <p:txBody>
          <a:bodyPr>
            <a:normAutofit fontScale="62500" lnSpcReduction="20000"/>
          </a:bodyPr>
          <a:lstStyle/>
          <a:p>
            <a:pPr fontAlgn="base">
              <a:spcAft>
                <a:spcPts val="600"/>
              </a:spcAft>
            </a:pPr>
            <a:r>
              <a:rPr lang="en-US" i="1" dirty="0"/>
              <a:t>&lt;?</a:t>
            </a:r>
            <a:r>
              <a:rPr lang="en-US" i="1" dirty="0" err="1"/>
              <a:t>php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</a:t>
            </a:r>
            <a:r>
              <a:rPr lang="en-US" i="1" dirty="0" err="1"/>
              <a:t>foo</a:t>
            </a:r>
            <a:r>
              <a:rPr lang="en-US" i="1" dirty="0"/>
              <a:t> = 'Bob';  // </a:t>
            </a:r>
            <a:r>
              <a:rPr lang="ru-RU" i="1" dirty="0"/>
              <a:t>Присваивает $</a:t>
            </a:r>
            <a:r>
              <a:rPr lang="en-US" i="1" dirty="0" err="1"/>
              <a:t>foo</a:t>
            </a:r>
            <a:r>
              <a:rPr lang="en-US" i="1" dirty="0"/>
              <a:t> </a:t>
            </a:r>
            <a:r>
              <a:rPr lang="ru-RU" i="1" dirty="0"/>
              <a:t>значение '</a:t>
            </a:r>
            <a:r>
              <a:rPr lang="en-US" i="1" dirty="0"/>
              <a:t>Bob'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</a:t>
            </a:r>
            <a:r>
              <a:rPr lang="en-US" i="1" dirty="0" err="1"/>
              <a:t>foo</a:t>
            </a:r>
            <a:r>
              <a:rPr lang="en-US" i="1" dirty="0"/>
              <a:t> = "My name is Mike";  // </a:t>
            </a:r>
            <a:r>
              <a:rPr lang="ru-RU" i="1" dirty="0"/>
              <a:t>Изменение $</a:t>
            </a:r>
            <a:r>
              <a:rPr lang="en-US" i="1" dirty="0" err="1"/>
              <a:t>foo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$bar = 25;  // </a:t>
            </a:r>
            <a:r>
              <a:rPr lang="ru-RU" i="1" dirty="0"/>
              <a:t>Присваивает $</a:t>
            </a:r>
            <a:r>
              <a:rPr lang="en-US" i="1" dirty="0"/>
              <a:t>bar </a:t>
            </a:r>
            <a:r>
              <a:rPr lang="ru-RU" i="1" dirty="0"/>
              <a:t>значение 25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  $</a:t>
            </a:r>
            <a:r>
              <a:rPr lang="en-US" i="1" dirty="0"/>
              <a:t>bar = 2 + 2;  // </a:t>
            </a:r>
            <a:r>
              <a:rPr lang="ru-RU" i="1" dirty="0"/>
              <a:t>Присваивает $</a:t>
            </a:r>
            <a:r>
              <a:rPr lang="en-US" i="1" dirty="0"/>
              <a:t>bar 4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</a:t>
            </a:r>
            <a:r>
              <a:rPr lang="en-US" i="1" dirty="0" err="1"/>
              <a:t>tmp</a:t>
            </a:r>
            <a:r>
              <a:rPr lang="en-US" i="1" dirty="0"/>
              <a:t> = $</a:t>
            </a:r>
            <a:r>
              <a:rPr lang="en-US" i="1" dirty="0" err="1"/>
              <a:t>foo</a:t>
            </a:r>
            <a:r>
              <a:rPr lang="en-US" i="1" dirty="0"/>
              <a:t>;  // </a:t>
            </a:r>
            <a:r>
              <a:rPr lang="ru-RU" i="1" dirty="0"/>
              <a:t>Присваивает $</a:t>
            </a:r>
            <a:r>
              <a:rPr lang="en-US" i="1" dirty="0" err="1"/>
              <a:t>tmp</a:t>
            </a:r>
            <a:r>
              <a:rPr lang="en-US" i="1" dirty="0"/>
              <a:t> </a:t>
            </a:r>
            <a:r>
              <a:rPr lang="ru-RU" i="1" dirty="0"/>
              <a:t>значение $</a:t>
            </a:r>
            <a:r>
              <a:rPr lang="en-US" i="1" dirty="0" err="1"/>
              <a:t>foo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</a:t>
            </a:r>
            <a:r>
              <a:rPr lang="en-US" i="1" dirty="0" err="1"/>
              <a:t>tmp</a:t>
            </a:r>
            <a:r>
              <a:rPr lang="en-US" i="1" dirty="0"/>
              <a:t> = &amp;$</a:t>
            </a:r>
            <a:r>
              <a:rPr lang="en-US" i="1" dirty="0" err="1"/>
              <a:t>foo</a:t>
            </a:r>
            <a:r>
              <a:rPr lang="en-US" i="1" dirty="0"/>
              <a:t>;  // </a:t>
            </a:r>
            <a:r>
              <a:rPr lang="ru-RU" i="1" dirty="0"/>
              <a:t>Ссылка на $</a:t>
            </a:r>
            <a:r>
              <a:rPr lang="en-US" i="1" dirty="0" err="1"/>
              <a:t>foo</a:t>
            </a:r>
            <a:r>
              <a:rPr lang="en-US" i="1" dirty="0"/>
              <a:t> </a:t>
            </a:r>
            <a:r>
              <a:rPr lang="ru-RU" i="1" dirty="0"/>
              <a:t>через $</a:t>
            </a:r>
            <a:r>
              <a:rPr lang="en-US" i="1" dirty="0" err="1"/>
              <a:t>tmp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</a:t>
            </a:r>
            <a:r>
              <a:rPr lang="en-US" i="1" dirty="0" err="1"/>
              <a:t>foo</a:t>
            </a:r>
            <a:r>
              <a:rPr lang="en-US" i="1" dirty="0"/>
              <a:t> = "John";  // </a:t>
            </a:r>
            <a:r>
              <a:rPr lang="ru-RU" i="1" dirty="0"/>
              <a:t>Изменение $</a:t>
            </a:r>
            <a:r>
              <a:rPr lang="en-US" i="1" dirty="0" err="1"/>
              <a:t>foo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echo $</a:t>
            </a:r>
            <a:r>
              <a:rPr lang="en-US" i="1" dirty="0" err="1"/>
              <a:t>tmp</a:t>
            </a:r>
            <a:r>
              <a:rPr lang="en-US" i="1" dirty="0"/>
              <a:t>;  // </a:t>
            </a:r>
            <a:r>
              <a:rPr lang="ru-RU" i="1" dirty="0"/>
              <a:t>Выведет на экран "</a:t>
            </a:r>
            <a:r>
              <a:rPr lang="en-US" i="1" dirty="0"/>
              <a:t>John"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$</a:t>
            </a:r>
            <a:r>
              <a:rPr lang="en-US" i="1" dirty="0" err="1"/>
              <a:t>foo</a:t>
            </a:r>
            <a:r>
              <a:rPr lang="en-US" i="1" dirty="0"/>
              <a:t> = "Mike";  // </a:t>
            </a:r>
            <a:r>
              <a:rPr lang="ru-RU" i="1" dirty="0"/>
              <a:t>Изменяем значение $</a:t>
            </a:r>
            <a:r>
              <a:rPr lang="en-US" i="1" dirty="0" err="1"/>
              <a:t>foo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unset($</a:t>
            </a:r>
            <a:r>
              <a:rPr lang="en-US" i="1" dirty="0" err="1"/>
              <a:t>foo</a:t>
            </a:r>
            <a:r>
              <a:rPr lang="en-US" i="1" dirty="0"/>
              <a:t>);  // </a:t>
            </a:r>
            <a:r>
              <a:rPr lang="ru-RU" i="1" dirty="0"/>
              <a:t>Удаляем переменную $</a:t>
            </a:r>
            <a:r>
              <a:rPr lang="en-US" i="1" dirty="0" err="1"/>
              <a:t>foo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  echo $</a:t>
            </a:r>
            <a:r>
              <a:rPr lang="en-US" i="1" dirty="0" err="1"/>
              <a:t>tmp</a:t>
            </a:r>
            <a:r>
              <a:rPr lang="en-US" i="1" dirty="0"/>
              <a:t>;  // </a:t>
            </a:r>
            <a:r>
              <a:rPr lang="ru-RU" i="1" dirty="0"/>
              <a:t>Выведет на экран "</a:t>
            </a:r>
            <a:r>
              <a:rPr lang="en-US" i="1" dirty="0"/>
              <a:t>Mike"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i="1" dirty="0"/>
              <a:t>?&gt;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Предопределенные переменные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>
              <a:spcAft>
                <a:spcPts val="600"/>
              </a:spcAft>
            </a:pPr>
            <a:r>
              <a:rPr lang="ru-RU" i="1" dirty="0"/>
              <a:t>$GLOBALS  — Массив, содержащий все глобальные переменные.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$_ENV   — Массив переменных окружения.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$_COOKIE  — Массив файлов </a:t>
            </a:r>
            <a:r>
              <a:rPr lang="ru-RU" i="1" dirty="0" err="1"/>
              <a:t>cookie</a:t>
            </a:r>
            <a:r>
              <a:rPr lang="ru-RU" i="1" dirty="0"/>
              <a:t>, отправленных на сервер.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$_GET  — Массив переменных, отправленных методом GET.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$_POST  — Массив переменных, отправленных методом POST.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$_FILES  — Массив, содержащий информацию о загруженных файлах.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$_REQUEST  — Массив, содержащий $_GET,$_POST,$_FILES,$_COOKIE.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$_SESSION  — Массив переменных, размещенных в сессиях PHP.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$_SERVER  — Массив, содержащий информацию о сервере.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Типы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40768"/>
            <a:ext cx="7128792" cy="5517232"/>
          </a:xfrm>
        </p:spPr>
        <p:txBody>
          <a:bodyPr>
            <a:noAutofit/>
          </a:bodyPr>
          <a:lstStyle/>
          <a:p>
            <a:pPr algn="ctr" fontAlgn="base">
              <a:spcAft>
                <a:spcPts val="600"/>
              </a:spcAft>
              <a:buNone/>
            </a:pPr>
            <a:r>
              <a:rPr lang="ru-RU" sz="1600" i="1" dirty="0"/>
              <a:t>PHP поддерживает восемь типов данных.</a:t>
            </a:r>
            <a:endParaRPr lang="ru-RU" sz="1600" dirty="0"/>
          </a:p>
          <a:p>
            <a:pPr fontAlgn="base">
              <a:spcAft>
                <a:spcPts val="600"/>
              </a:spcAft>
              <a:buNone/>
            </a:pPr>
            <a:r>
              <a:rPr lang="ru-RU" sz="1600" i="1" dirty="0"/>
              <a:t>Четыре скалярных типа: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</a:t>
            </a:r>
            <a:r>
              <a:rPr lang="ru-RU" sz="1600" b="1" i="1" dirty="0" err="1"/>
              <a:t>boolean</a:t>
            </a:r>
            <a:r>
              <a:rPr lang="ru-RU" sz="1600" i="1" dirty="0"/>
              <a:t> — логический;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</a:t>
            </a:r>
            <a:r>
              <a:rPr lang="ru-RU" sz="1600" b="1" i="1" dirty="0" err="1"/>
              <a:t>integer</a:t>
            </a:r>
            <a:r>
              <a:rPr lang="ru-RU" sz="1600" i="1" dirty="0"/>
              <a:t> — целое число;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</a:t>
            </a:r>
            <a:r>
              <a:rPr lang="ru-RU" sz="1600" b="1" i="1" dirty="0" err="1"/>
              <a:t>float</a:t>
            </a:r>
            <a:r>
              <a:rPr lang="ru-RU" sz="1600" i="1" dirty="0"/>
              <a:t> (</a:t>
            </a:r>
            <a:r>
              <a:rPr lang="ru-RU" sz="1600" b="1" i="1" dirty="0" err="1"/>
              <a:t>double</a:t>
            </a:r>
            <a:r>
              <a:rPr lang="ru-RU" sz="1600" i="1" dirty="0"/>
              <a:t>) — число с плавающей точкой;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 </a:t>
            </a:r>
            <a:r>
              <a:rPr lang="ru-RU" sz="1600" b="1" i="1" dirty="0" err="1"/>
              <a:t>string</a:t>
            </a:r>
            <a:r>
              <a:rPr lang="ru-RU" sz="1600" i="1" dirty="0"/>
              <a:t> — строка.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sz="1600" i="1" dirty="0"/>
              <a:t>Два смешанных типа: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 </a:t>
            </a:r>
            <a:r>
              <a:rPr lang="ru-RU" sz="1600" b="1" i="1" dirty="0" err="1"/>
              <a:t>array</a:t>
            </a:r>
            <a:r>
              <a:rPr lang="ru-RU" sz="1600" i="1" dirty="0"/>
              <a:t> — массив;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 </a:t>
            </a:r>
            <a:r>
              <a:rPr lang="ru-RU" sz="1600" b="1" i="1" dirty="0" err="1"/>
              <a:t>object</a:t>
            </a:r>
            <a:r>
              <a:rPr lang="ru-RU" sz="1600" i="1" dirty="0"/>
              <a:t> — экземпляр класса.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sz="1600" i="1" dirty="0"/>
              <a:t>Два специальных типа: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 </a:t>
            </a:r>
            <a:r>
              <a:rPr lang="ru-RU" sz="1600" b="1" i="1" dirty="0" err="1"/>
              <a:t>resource</a:t>
            </a:r>
            <a:r>
              <a:rPr lang="ru-RU" sz="1600" i="1" dirty="0"/>
              <a:t> — ссылка на внешний по отношению к </a:t>
            </a:r>
            <a:r>
              <a:rPr lang="ru-RU" sz="1600" i="1" dirty="0" err="1"/>
              <a:t>скрипту</a:t>
            </a:r>
            <a:r>
              <a:rPr lang="ru-RU" sz="1600" i="1" dirty="0"/>
              <a:t> источник данных (файл на диске, изображение в памяти и т.п.);</a:t>
            </a:r>
            <a:endParaRPr lang="ru-RU" sz="1600" dirty="0"/>
          </a:p>
          <a:p>
            <a:pPr fontAlgn="base">
              <a:spcAft>
                <a:spcPts val="600"/>
              </a:spcAft>
            </a:pPr>
            <a:r>
              <a:rPr lang="ru-RU" sz="1600" i="1" dirty="0"/>
              <a:t>  </a:t>
            </a:r>
            <a:r>
              <a:rPr lang="ru-RU" sz="1600" b="1" i="1" dirty="0"/>
              <a:t>NULL</a:t>
            </a:r>
            <a:r>
              <a:rPr lang="ru-RU" sz="1600" i="1" dirty="0"/>
              <a:t> — отсутствие какого либо значения.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6347713" cy="937344"/>
          </a:xfrm>
        </p:spPr>
        <p:txBody>
          <a:bodyPr/>
          <a:lstStyle/>
          <a:p>
            <a:r>
              <a:rPr lang="ru-RU" i="1" dirty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124744"/>
            <a:ext cx="7416824" cy="5588000"/>
          </a:xfrm>
        </p:spPr>
        <p:txBody>
          <a:bodyPr>
            <a:noAutofit/>
          </a:bodyPr>
          <a:lstStyle/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&lt;?</a:t>
            </a:r>
            <a:r>
              <a:rPr lang="ru-RU" sz="1600" i="1" dirty="0" err="1"/>
              <a:t>php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$</a:t>
            </a:r>
            <a:r>
              <a:rPr lang="ru-RU" sz="1600" i="1" dirty="0" err="1"/>
              <a:t>foo</a:t>
            </a:r>
            <a:r>
              <a:rPr lang="ru-RU" sz="1600" i="1" dirty="0"/>
              <a:t> = TRUE;  // Логический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$</a:t>
            </a:r>
            <a:r>
              <a:rPr lang="ru-RU" sz="1600" i="1" dirty="0" err="1"/>
              <a:t>int</a:t>
            </a:r>
            <a:r>
              <a:rPr lang="ru-RU" sz="1600" i="1" dirty="0"/>
              <a:t> = 1234;  // Целое число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$</a:t>
            </a:r>
            <a:r>
              <a:rPr lang="ru-RU" sz="1600" i="1" dirty="0" err="1"/>
              <a:t>flt</a:t>
            </a:r>
            <a:r>
              <a:rPr lang="ru-RU" sz="1600" i="1" dirty="0"/>
              <a:t> = 1.234;  // Число с плавающей точкой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</a:t>
            </a:r>
            <a:r>
              <a:rPr lang="ru-RU" sz="1600" i="1" dirty="0" err="1"/>
              <a:t>echo</a:t>
            </a:r>
            <a:r>
              <a:rPr lang="ru-RU" sz="1600" i="1" dirty="0"/>
              <a:t> "Это простая строка";   // Это простая строка 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</a:t>
            </a:r>
            <a:r>
              <a:rPr lang="ru-RU" sz="1600" i="1" dirty="0" err="1"/>
              <a:t>echo</a:t>
            </a:r>
            <a:r>
              <a:rPr lang="ru-RU" sz="1600" i="1" dirty="0"/>
              <a:t> "Это вставит: \</a:t>
            </a:r>
            <a:r>
              <a:rPr lang="ru-RU" sz="1600" i="1" dirty="0" err="1"/>
              <a:t>n</a:t>
            </a:r>
            <a:r>
              <a:rPr lang="ru-RU" sz="1600" i="1" dirty="0"/>
              <a:t> новую строку";   // Это вставит: новую строку 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$</a:t>
            </a:r>
            <a:r>
              <a:rPr lang="ru-RU" sz="1600" i="1" dirty="0" err="1"/>
              <a:t>a</a:t>
            </a:r>
            <a:r>
              <a:rPr lang="ru-RU" sz="1600" i="1" dirty="0"/>
              <a:t> = "ОК"; </a:t>
            </a:r>
            <a:r>
              <a:rPr lang="ru-RU" sz="1600" i="1" dirty="0" err="1"/>
              <a:t>echo</a:t>
            </a:r>
            <a:r>
              <a:rPr lang="ru-RU" sz="1600" i="1" dirty="0"/>
              <a:t> "Переменная $</a:t>
            </a:r>
            <a:r>
              <a:rPr lang="ru-RU" sz="1600" i="1" dirty="0" err="1"/>
              <a:t>a</a:t>
            </a:r>
            <a:r>
              <a:rPr lang="ru-RU" sz="1600" i="1" dirty="0"/>
              <a:t> вставилась в текст";   // Переменная ОК вставилась в текст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</a:t>
            </a:r>
            <a:r>
              <a:rPr lang="ru-RU" sz="1600" i="1" dirty="0" err="1"/>
              <a:t>echo</a:t>
            </a:r>
            <a:r>
              <a:rPr lang="ru-RU" sz="1600" i="1" dirty="0"/>
              <a:t> 'Это простая строка';   // Это простая строка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</a:t>
            </a:r>
            <a:r>
              <a:rPr lang="ru-RU" sz="1600" i="1" dirty="0" err="1"/>
              <a:t>echo</a:t>
            </a:r>
            <a:r>
              <a:rPr lang="ru-RU" sz="1600" i="1" dirty="0"/>
              <a:t> 'Он сказал: "</a:t>
            </a:r>
            <a:r>
              <a:rPr lang="ru-RU" sz="1600" i="1" dirty="0" err="1"/>
              <a:t>I\'ll</a:t>
            </a:r>
            <a:r>
              <a:rPr lang="ru-RU" sz="1600" i="1" dirty="0"/>
              <a:t> </a:t>
            </a:r>
            <a:r>
              <a:rPr lang="ru-RU" sz="1600" i="1" dirty="0" err="1"/>
              <a:t>be</a:t>
            </a:r>
            <a:r>
              <a:rPr lang="ru-RU" sz="1600" i="1" dirty="0"/>
              <a:t> </a:t>
            </a:r>
            <a:r>
              <a:rPr lang="ru-RU" sz="1600" i="1" dirty="0" err="1"/>
              <a:t>back</a:t>
            </a:r>
            <a:r>
              <a:rPr lang="ru-RU" sz="1600" i="1" dirty="0"/>
              <a:t>"';   // Он сказал "</a:t>
            </a:r>
            <a:r>
              <a:rPr lang="ru-RU" sz="1600" i="1" dirty="0" err="1"/>
              <a:t>I'll</a:t>
            </a:r>
            <a:r>
              <a:rPr lang="ru-RU" sz="1600" i="1" dirty="0"/>
              <a:t> </a:t>
            </a:r>
            <a:r>
              <a:rPr lang="ru-RU" sz="1600" i="1" dirty="0" err="1"/>
              <a:t>be</a:t>
            </a:r>
            <a:r>
              <a:rPr lang="ru-RU" sz="1600" i="1" dirty="0"/>
              <a:t> </a:t>
            </a:r>
            <a:r>
              <a:rPr lang="ru-RU" sz="1600" i="1" dirty="0" err="1"/>
              <a:t>back</a:t>
            </a:r>
            <a:r>
              <a:rPr lang="en-US" sz="1600" i="1" dirty="0"/>
              <a:t>”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</a:t>
            </a:r>
            <a:r>
              <a:rPr lang="ru-RU" sz="1600" i="1" dirty="0" err="1"/>
              <a:t>echo</a:t>
            </a:r>
            <a:r>
              <a:rPr lang="ru-RU" sz="1600" i="1" dirty="0"/>
              <a:t> 'Это не вставит: \</a:t>
            </a:r>
            <a:r>
              <a:rPr lang="ru-RU" sz="1600" i="1" dirty="0" err="1"/>
              <a:t>n</a:t>
            </a:r>
            <a:r>
              <a:rPr lang="ru-RU" sz="1600" i="1" dirty="0"/>
              <a:t> новую строку';   // Это не вставит: \</a:t>
            </a:r>
            <a:r>
              <a:rPr lang="ru-RU" sz="1600" i="1" dirty="0" err="1"/>
              <a:t>n</a:t>
            </a:r>
            <a:r>
              <a:rPr lang="ru-RU" sz="1600" i="1" dirty="0"/>
              <a:t> новую строку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/>
              <a:t>  $</a:t>
            </a:r>
            <a:r>
              <a:rPr lang="ru-RU" sz="1600" i="1" dirty="0" err="1"/>
              <a:t>a</a:t>
            </a:r>
            <a:r>
              <a:rPr lang="ru-RU" sz="1600" i="1" dirty="0"/>
              <a:t> = "ОК"; </a:t>
            </a:r>
            <a:r>
              <a:rPr lang="ru-RU" sz="1600" i="1" dirty="0" err="1"/>
              <a:t>echo</a:t>
            </a:r>
            <a:r>
              <a:rPr lang="ru-RU" sz="1600" i="1" dirty="0"/>
              <a:t> 'Переменная $</a:t>
            </a:r>
            <a:r>
              <a:rPr lang="ru-RU" sz="1600" i="1" dirty="0" err="1"/>
              <a:t>a</a:t>
            </a:r>
            <a:r>
              <a:rPr lang="ru-RU" sz="1600" i="1" dirty="0"/>
              <a:t> не подставляется';   //Переменная $</a:t>
            </a:r>
            <a:r>
              <a:rPr lang="ru-RU" sz="1600" i="1" dirty="0" err="1"/>
              <a:t>a</a:t>
            </a:r>
            <a:r>
              <a:rPr lang="ru-RU" sz="1600" i="1" dirty="0"/>
              <a:t> не подставляется</a:t>
            </a:r>
            <a:endParaRPr lang="ru-RU" sz="1600" dirty="0"/>
          </a:p>
          <a:p>
            <a:pPr marL="88900" indent="-88900" fontAlgn="base">
              <a:spcAft>
                <a:spcPts val="400"/>
              </a:spcAft>
              <a:buNone/>
            </a:pPr>
            <a:r>
              <a:rPr lang="ru-RU" sz="1600" i="1" dirty="0" smtClean="0"/>
              <a:t>   ?&gt;</a:t>
            </a:r>
            <a:endParaRPr lang="ru-RU" sz="1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Типы данных. Полезные функции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>
              <a:spcAft>
                <a:spcPts val="600"/>
              </a:spcAft>
            </a:pPr>
            <a:r>
              <a:rPr lang="ru-RU" b="1" i="1" dirty="0" err="1"/>
              <a:t>isset</a:t>
            </a:r>
            <a:r>
              <a:rPr lang="ru-RU" b="1" i="1" dirty="0"/>
              <a:t> </a:t>
            </a:r>
            <a:r>
              <a:rPr lang="ru-RU" i="1" dirty="0"/>
              <a:t> (</a:t>
            </a:r>
            <a:r>
              <a:rPr lang="ru-RU" i="1" dirty="0" err="1"/>
              <a:t>имя_переменной</a:t>
            </a:r>
            <a:r>
              <a:rPr lang="ru-RU" i="1" dirty="0"/>
              <a:t>)  - сообщает, существует ли переменная.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 err="1"/>
              <a:t>unset</a:t>
            </a:r>
            <a:r>
              <a:rPr lang="ru-RU" i="1" dirty="0"/>
              <a:t>  (</a:t>
            </a:r>
            <a:r>
              <a:rPr lang="ru-RU" i="1" dirty="0" err="1"/>
              <a:t>имя_переменной</a:t>
            </a:r>
            <a:r>
              <a:rPr lang="ru-RU" i="1" dirty="0"/>
              <a:t>)  - уничтожает указанную переменную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 err="1"/>
              <a:t>empty</a:t>
            </a:r>
            <a:r>
              <a:rPr lang="ru-RU" i="1" dirty="0"/>
              <a:t>(</a:t>
            </a:r>
            <a:r>
              <a:rPr lang="ru-RU" i="1" dirty="0" err="1"/>
              <a:t>имя_переменной</a:t>
            </a:r>
            <a:r>
              <a:rPr lang="ru-RU" i="1" dirty="0"/>
              <a:t>)  - сообщает,  присвоено ли переменной какое-либо значение.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 err="1"/>
              <a:t>gettype</a:t>
            </a:r>
            <a:r>
              <a:rPr lang="ru-RU" i="1" dirty="0"/>
              <a:t>(</a:t>
            </a:r>
            <a:r>
              <a:rPr lang="ru-RU" i="1" dirty="0" err="1"/>
              <a:t>имя_переменной</a:t>
            </a:r>
            <a:r>
              <a:rPr lang="ru-RU" i="1" dirty="0"/>
              <a:t>)  - возвращает тип указанной переменной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 err="1"/>
              <a:t>settype</a:t>
            </a:r>
            <a:r>
              <a:rPr lang="ru-RU" i="1" dirty="0"/>
              <a:t>(</a:t>
            </a:r>
            <a:r>
              <a:rPr lang="ru-RU" i="1" dirty="0" err="1"/>
              <a:t>имя_переменной</a:t>
            </a:r>
            <a:r>
              <a:rPr lang="ru-RU" i="1" dirty="0"/>
              <a:t>, тип)   - конвертирует переменную в другой тип.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 err="1"/>
              <a:t>is_bool</a:t>
            </a:r>
            <a:r>
              <a:rPr lang="ru-RU" i="1" dirty="0"/>
              <a:t>(</a:t>
            </a:r>
            <a:r>
              <a:rPr lang="ru-RU" i="1" dirty="0" err="1"/>
              <a:t>имя_переменной</a:t>
            </a:r>
            <a:r>
              <a:rPr lang="ru-RU" i="1" dirty="0"/>
              <a:t>)  - проверяет является ли тип переменной логическим.</a:t>
            </a:r>
            <a:endParaRPr lang="ru-RU" dirty="0"/>
          </a:p>
          <a:p>
            <a:pPr algn="ctr" fontAlgn="base">
              <a:spcAft>
                <a:spcPts val="600"/>
              </a:spcAft>
              <a:buNone/>
            </a:pPr>
            <a:r>
              <a:rPr lang="ru-RU" i="1" dirty="0"/>
              <a:t>Функции </a:t>
            </a:r>
            <a:r>
              <a:rPr lang="ru-RU" b="1" i="1" dirty="0" err="1"/>
              <a:t>is_numeric</a:t>
            </a:r>
            <a:r>
              <a:rPr lang="ru-RU" b="1" i="1" dirty="0"/>
              <a:t>(), </a:t>
            </a:r>
            <a:r>
              <a:rPr lang="ru-RU" b="1" i="1" dirty="0" err="1"/>
              <a:t>is_float</a:t>
            </a:r>
            <a:r>
              <a:rPr lang="ru-RU" b="1" i="1" dirty="0"/>
              <a:t>(), </a:t>
            </a:r>
            <a:r>
              <a:rPr lang="ru-RU" b="1" i="1" dirty="0" err="1"/>
              <a:t>is_int</a:t>
            </a:r>
            <a:r>
              <a:rPr lang="ru-RU" b="1" i="1" dirty="0"/>
              <a:t>(), </a:t>
            </a:r>
            <a:r>
              <a:rPr lang="ru-RU" b="1" i="1" dirty="0" err="1"/>
              <a:t>is_string</a:t>
            </a:r>
            <a:r>
              <a:rPr lang="ru-RU" b="1" i="1" dirty="0"/>
              <a:t>(), </a:t>
            </a:r>
            <a:r>
              <a:rPr lang="en-US" b="1" i="1" dirty="0"/>
              <a:t/>
            </a:r>
            <a:br>
              <a:rPr lang="en-US" b="1" i="1" dirty="0"/>
            </a:br>
            <a:r>
              <a:rPr lang="ru-RU" b="1" i="1" dirty="0" err="1"/>
              <a:t>is_object</a:t>
            </a:r>
            <a:r>
              <a:rPr lang="ru-RU" b="1" i="1" dirty="0"/>
              <a:t>(), </a:t>
            </a:r>
            <a:r>
              <a:rPr lang="ru-RU" b="1" i="1" dirty="0" err="1"/>
              <a:t>is_array</a:t>
            </a:r>
            <a:r>
              <a:rPr lang="ru-RU" b="1" i="1" dirty="0"/>
              <a:t>()</a:t>
            </a:r>
            <a:r>
              <a:rPr lang="en-US" b="1" i="1" dirty="0"/>
              <a:t> </a:t>
            </a:r>
            <a:r>
              <a:rPr lang="ru-RU" i="1" dirty="0"/>
              <a:t>работают по аналогии.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42913" algn="just" fontAlgn="base">
              <a:spcAft>
                <a:spcPts val="600"/>
              </a:spcAft>
              <a:buNone/>
            </a:pPr>
            <a:r>
              <a:rPr lang="ru-RU" i="1" dirty="0"/>
              <a:t>Для задания значений, которые не будут меняться в ходе выполнения сценария можно использовать константы. Так же как и переменные, константы могут быть определены и доступны в любом месте сценария, но у них есть и ряд особенностей: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 У констант нет префикса в виде знака доллара;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 Константам нельзя присваивать значения, их можно определить вызовом функции </a:t>
            </a:r>
            <a:r>
              <a:rPr lang="ru-RU" b="1" i="1" dirty="0" err="1"/>
              <a:t>define</a:t>
            </a:r>
            <a:r>
              <a:rPr lang="ru-RU" b="1" i="1" dirty="0"/>
              <a:t>()</a:t>
            </a:r>
            <a:r>
              <a:rPr lang="ru-RU" i="1" dirty="0"/>
              <a:t>;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 Константы не могут быть определены или аннулированы после первоначального объявления.</a:t>
            </a:r>
            <a:endParaRPr lang="ru-RU" dirty="0"/>
          </a:p>
          <a:p>
            <a:pPr>
              <a:spcAft>
                <a:spcPts val="600"/>
              </a:spcAft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>
              <a:spcAft>
                <a:spcPts val="600"/>
              </a:spcAft>
            </a:pPr>
            <a:r>
              <a:rPr lang="en-US" sz="2400" i="1" dirty="0"/>
              <a:t>&lt;?</a:t>
            </a:r>
            <a:r>
              <a:rPr lang="en-US" sz="2400" i="1" dirty="0" err="1"/>
              <a:t>php</a:t>
            </a:r>
            <a:endParaRPr lang="en-US" sz="2400" dirty="0"/>
          </a:p>
          <a:p>
            <a:pPr fontAlgn="base">
              <a:spcAft>
                <a:spcPts val="600"/>
              </a:spcAft>
            </a:pPr>
            <a:r>
              <a:rPr lang="en-US" sz="2400" i="1" dirty="0"/>
              <a:t>  define ('PI', 3.14);</a:t>
            </a:r>
            <a:br>
              <a:rPr lang="en-US" sz="2400" i="1" dirty="0"/>
            </a:br>
            <a:r>
              <a:rPr lang="en-US" sz="2400" i="1" dirty="0"/>
              <a:t>  $index = 10 * PI;  // </a:t>
            </a:r>
            <a:r>
              <a:rPr lang="ru-RU" sz="2400" i="1" dirty="0"/>
              <a:t>Верно</a:t>
            </a:r>
            <a:br>
              <a:rPr lang="ru-RU" sz="2400" i="1" dirty="0"/>
            </a:br>
            <a:r>
              <a:rPr lang="ru-RU" sz="2400" i="1" dirty="0"/>
              <a:t>  </a:t>
            </a:r>
            <a:r>
              <a:rPr lang="en-US" sz="2400" i="1" dirty="0"/>
              <a:t>PI = 10 * 3.14;  // </a:t>
            </a:r>
            <a:r>
              <a:rPr lang="ru-RU" sz="2400" i="1" dirty="0"/>
              <a:t>Ошибка!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  </a:t>
            </a:r>
            <a:r>
              <a:rPr lang="en-US" sz="2400" i="1" dirty="0"/>
              <a:t>define("CONSTANT", "</a:t>
            </a:r>
            <a:r>
              <a:rPr lang="ru-RU" sz="2400" i="1" dirty="0"/>
              <a:t>Здравствуй, мир.");</a:t>
            </a:r>
            <a:br>
              <a:rPr lang="ru-RU" sz="2400" i="1" dirty="0"/>
            </a:br>
            <a:r>
              <a:rPr lang="ru-RU" sz="2400" i="1" dirty="0"/>
              <a:t>  </a:t>
            </a:r>
            <a:r>
              <a:rPr lang="en-US" sz="2400" i="1" dirty="0"/>
              <a:t>echo CONSTANT;  // </a:t>
            </a:r>
            <a:r>
              <a:rPr lang="ru-RU" sz="2400" i="1" dirty="0"/>
              <a:t>Выведет "Здравствуй, мир."</a:t>
            </a:r>
            <a:br>
              <a:rPr lang="ru-RU" sz="2400" i="1" dirty="0"/>
            </a:br>
            <a:r>
              <a:rPr lang="ru-RU" sz="2400" i="1" dirty="0"/>
              <a:t>  </a:t>
            </a:r>
            <a:r>
              <a:rPr lang="en-US" sz="2400" i="1" dirty="0"/>
              <a:t>echo Constant;  // </a:t>
            </a:r>
            <a:r>
              <a:rPr lang="ru-RU" sz="2400" i="1" dirty="0"/>
              <a:t>Выведет "</a:t>
            </a:r>
            <a:r>
              <a:rPr lang="en-US" sz="2400" i="1" dirty="0"/>
              <a:t>Constant" </a:t>
            </a:r>
            <a:r>
              <a:rPr lang="ru-RU" sz="2400" i="1" dirty="0"/>
              <a:t>и предупреждение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?&gt;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Операторы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Операторы бывают трех видов: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1.  унарные, те, которые работают только с одним аргументом.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2.  бинарные — с двумя.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i="1" dirty="0"/>
              <a:t>3.  тернарный оператор ?: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операции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>
              <a:spcAft>
                <a:spcPts val="300"/>
              </a:spcAft>
            </a:pPr>
            <a:r>
              <a:rPr lang="en-US" i="1" dirty="0"/>
              <a:t>-$a   // </a:t>
            </a:r>
            <a:r>
              <a:rPr lang="ru-RU" i="1" dirty="0"/>
              <a:t>Смена знака</a:t>
            </a:r>
            <a:endParaRPr lang="ru-RU" dirty="0"/>
          </a:p>
          <a:p>
            <a:pPr fontAlgn="base">
              <a:spcAft>
                <a:spcPts val="300"/>
              </a:spcAft>
            </a:pPr>
            <a:r>
              <a:rPr lang="ru-RU" i="1" dirty="0"/>
              <a:t>$</a:t>
            </a:r>
            <a:r>
              <a:rPr lang="en-US" i="1" dirty="0"/>
              <a:t>a + $b   // </a:t>
            </a:r>
            <a:r>
              <a:rPr lang="ru-RU" i="1" dirty="0"/>
              <a:t>Сумма</a:t>
            </a:r>
            <a:endParaRPr lang="ru-RU" dirty="0"/>
          </a:p>
          <a:p>
            <a:pPr fontAlgn="base">
              <a:spcAft>
                <a:spcPts val="300"/>
              </a:spcAft>
            </a:pPr>
            <a:r>
              <a:rPr lang="ru-RU" i="1" dirty="0"/>
              <a:t>$</a:t>
            </a:r>
            <a:r>
              <a:rPr lang="en-US" i="1" dirty="0"/>
              <a:t>a - $b   // </a:t>
            </a:r>
            <a:r>
              <a:rPr lang="ru-RU" i="1" dirty="0"/>
              <a:t>Разность</a:t>
            </a:r>
            <a:endParaRPr lang="ru-RU" dirty="0"/>
          </a:p>
          <a:p>
            <a:pPr fontAlgn="base">
              <a:spcAft>
                <a:spcPts val="300"/>
              </a:spcAft>
            </a:pPr>
            <a:r>
              <a:rPr lang="ru-RU" i="1" dirty="0"/>
              <a:t>$</a:t>
            </a:r>
            <a:r>
              <a:rPr lang="en-US" i="1" dirty="0"/>
              <a:t>a * $b   // </a:t>
            </a:r>
            <a:r>
              <a:rPr lang="ru-RU" i="1" dirty="0"/>
              <a:t>Произведение</a:t>
            </a:r>
            <a:endParaRPr lang="ru-RU" dirty="0"/>
          </a:p>
          <a:p>
            <a:pPr fontAlgn="base">
              <a:spcAft>
                <a:spcPts val="300"/>
              </a:spcAft>
            </a:pPr>
            <a:r>
              <a:rPr lang="ru-RU" i="1" dirty="0"/>
              <a:t>$</a:t>
            </a:r>
            <a:r>
              <a:rPr lang="en-US" i="1" dirty="0"/>
              <a:t>a / $b   // </a:t>
            </a:r>
            <a:r>
              <a:rPr lang="ru-RU" i="1" dirty="0"/>
              <a:t>Частное</a:t>
            </a:r>
            <a:endParaRPr lang="ru-RU" dirty="0"/>
          </a:p>
          <a:p>
            <a:pPr fontAlgn="base">
              <a:spcAft>
                <a:spcPts val="300"/>
              </a:spcAft>
            </a:pPr>
            <a:r>
              <a:rPr lang="ru-RU" i="1" dirty="0"/>
              <a:t>$</a:t>
            </a:r>
            <a:r>
              <a:rPr lang="en-US" i="1" dirty="0"/>
              <a:t>a % $b   // </a:t>
            </a:r>
            <a:r>
              <a:rPr lang="ru-RU" i="1" dirty="0"/>
              <a:t>Остаток от деления</a:t>
            </a:r>
            <a:endParaRPr lang="ru-RU" dirty="0"/>
          </a:p>
          <a:p>
            <a:pPr fontAlgn="base">
              <a:spcAft>
                <a:spcPts val="300"/>
              </a:spcAft>
            </a:pPr>
            <a:r>
              <a:rPr lang="ru-RU" i="1" dirty="0"/>
              <a:t>$</a:t>
            </a:r>
            <a:r>
              <a:rPr lang="en-US" i="1" dirty="0"/>
              <a:t>a += $b   // </a:t>
            </a:r>
            <a:r>
              <a:rPr lang="ru-RU" i="1" dirty="0"/>
              <a:t>Аналогично $</a:t>
            </a:r>
            <a:r>
              <a:rPr lang="en-US" i="1" dirty="0"/>
              <a:t>a = $a + $b</a:t>
            </a:r>
            <a:endParaRPr lang="en-US" dirty="0"/>
          </a:p>
          <a:p>
            <a:pPr fontAlgn="base">
              <a:spcAft>
                <a:spcPts val="300"/>
              </a:spcAft>
            </a:pPr>
            <a:r>
              <a:rPr lang="en-US" i="1" dirty="0"/>
              <a:t>$a -= $b   // </a:t>
            </a:r>
            <a:r>
              <a:rPr lang="ru-RU" i="1" dirty="0"/>
              <a:t>Аналогично $</a:t>
            </a:r>
            <a:r>
              <a:rPr lang="en-US" i="1" dirty="0"/>
              <a:t>a = $a - $b</a:t>
            </a:r>
            <a:endParaRPr lang="en-US" dirty="0"/>
          </a:p>
          <a:p>
            <a:pPr fontAlgn="base">
              <a:spcAft>
                <a:spcPts val="300"/>
              </a:spcAft>
            </a:pPr>
            <a:r>
              <a:rPr lang="en-US" i="1" dirty="0"/>
              <a:t>$a *= $b   // </a:t>
            </a:r>
            <a:r>
              <a:rPr lang="ru-RU" i="1" dirty="0"/>
              <a:t>Аналогично $</a:t>
            </a:r>
            <a:r>
              <a:rPr lang="en-US" i="1" dirty="0"/>
              <a:t>a = $a * $b</a:t>
            </a:r>
            <a:endParaRPr lang="en-US" dirty="0"/>
          </a:p>
          <a:p>
            <a:pPr fontAlgn="base">
              <a:spcAft>
                <a:spcPts val="300"/>
              </a:spcAft>
            </a:pPr>
            <a:r>
              <a:rPr lang="en-US" i="1" dirty="0"/>
              <a:t>$a /= $b     // </a:t>
            </a:r>
            <a:r>
              <a:rPr lang="ru-RU" i="1" dirty="0"/>
              <a:t>Аналогично $</a:t>
            </a:r>
            <a:r>
              <a:rPr lang="en-US" i="1" dirty="0"/>
              <a:t>a = $a / $b</a:t>
            </a:r>
            <a:endParaRPr lang="en-US" dirty="0"/>
          </a:p>
          <a:p>
            <a:pPr fontAlgn="base">
              <a:spcAft>
                <a:spcPts val="300"/>
              </a:spcAft>
            </a:pPr>
            <a:r>
              <a:rPr lang="en-US" i="1" dirty="0"/>
              <a:t>$a %= $b     // </a:t>
            </a:r>
            <a:r>
              <a:rPr lang="ru-RU" i="1" dirty="0"/>
              <a:t>Аналогично $</a:t>
            </a:r>
            <a:r>
              <a:rPr lang="en-US" i="1" dirty="0"/>
              <a:t>a = $a % $b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сравнения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>
              <a:spcAft>
                <a:spcPts val="600"/>
              </a:spcAft>
            </a:pPr>
            <a:r>
              <a:rPr lang="en-US" sz="2000" i="1" dirty="0"/>
              <a:t>$a ==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равно $</a:t>
            </a:r>
            <a:r>
              <a:rPr lang="en-US" sz="2000" i="1" dirty="0"/>
              <a:t>b.</a:t>
            </a:r>
            <a:endParaRPr lang="en-US" sz="2000" dirty="0"/>
          </a:p>
          <a:p>
            <a:pPr fontAlgn="base">
              <a:spcAft>
                <a:spcPts val="600"/>
              </a:spcAft>
            </a:pPr>
            <a:r>
              <a:rPr lang="en-US" sz="2000" i="1" dirty="0"/>
              <a:t>$a ===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равно $</a:t>
            </a:r>
            <a:r>
              <a:rPr lang="en-US" sz="2000" i="1" dirty="0"/>
              <a:t>b </a:t>
            </a:r>
            <a:r>
              <a:rPr lang="ru-RU" sz="2000" i="1" dirty="0"/>
              <a:t>И имеет тот же тип</a:t>
            </a:r>
            <a:endParaRPr lang="ru-RU" sz="2000" dirty="0"/>
          </a:p>
          <a:p>
            <a:pPr fontAlgn="base">
              <a:spcAft>
                <a:spcPts val="600"/>
              </a:spcAft>
            </a:pPr>
            <a:r>
              <a:rPr lang="ru-RU" sz="2000" i="1" dirty="0"/>
              <a:t>$</a:t>
            </a:r>
            <a:r>
              <a:rPr lang="en-US" sz="2000" i="1" dirty="0"/>
              <a:t>a !=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не равно $</a:t>
            </a:r>
            <a:r>
              <a:rPr lang="en-US" sz="2000" i="1" dirty="0"/>
              <a:t>b.</a:t>
            </a:r>
            <a:endParaRPr lang="en-US" sz="2000" dirty="0"/>
          </a:p>
          <a:p>
            <a:pPr fontAlgn="base">
              <a:spcAft>
                <a:spcPts val="600"/>
              </a:spcAft>
            </a:pPr>
            <a:r>
              <a:rPr lang="en-US" sz="2000" i="1" dirty="0"/>
              <a:t>$a !==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не равно $</a:t>
            </a:r>
            <a:r>
              <a:rPr lang="en-US" sz="2000" i="1" dirty="0"/>
              <a:t>b </a:t>
            </a:r>
            <a:r>
              <a:rPr lang="ru-RU" sz="2000" i="1" dirty="0"/>
              <a:t>ИЛИ у них разные типы.</a:t>
            </a:r>
            <a:endParaRPr lang="ru-RU" sz="2000" dirty="0"/>
          </a:p>
          <a:p>
            <a:pPr fontAlgn="base">
              <a:spcAft>
                <a:spcPts val="600"/>
              </a:spcAft>
            </a:pPr>
            <a:r>
              <a:rPr lang="ru-RU" sz="2000" i="1" dirty="0"/>
              <a:t>$</a:t>
            </a:r>
            <a:r>
              <a:rPr lang="en-US" sz="2000" i="1" dirty="0"/>
              <a:t>a &lt;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строго меньше $</a:t>
            </a:r>
            <a:r>
              <a:rPr lang="en-US" sz="2000" i="1" dirty="0"/>
              <a:t>b.</a:t>
            </a:r>
            <a:endParaRPr lang="en-US" sz="2000" dirty="0"/>
          </a:p>
          <a:p>
            <a:pPr fontAlgn="base">
              <a:spcAft>
                <a:spcPts val="600"/>
              </a:spcAft>
            </a:pPr>
            <a:r>
              <a:rPr lang="en-US" sz="2000" i="1" dirty="0"/>
              <a:t>$a &gt;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строго больше $</a:t>
            </a:r>
            <a:r>
              <a:rPr lang="en-US" sz="2000" i="1" dirty="0"/>
              <a:t>b.</a:t>
            </a:r>
            <a:endParaRPr lang="en-US" sz="2000" dirty="0"/>
          </a:p>
          <a:p>
            <a:pPr fontAlgn="base">
              <a:spcAft>
                <a:spcPts val="600"/>
              </a:spcAft>
            </a:pPr>
            <a:r>
              <a:rPr lang="en-US" sz="2000" i="1" dirty="0"/>
              <a:t>$a &lt;=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меньше или равно $</a:t>
            </a:r>
            <a:r>
              <a:rPr lang="en-US" sz="2000" i="1" dirty="0"/>
              <a:t>b.</a:t>
            </a:r>
            <a:endParaRPr lang="en-US" sz="2000" dirty="0"/>
          </a:p>
          <a:p>
            <a:pPr fontAlgn="base">
              <a:spcAft>
                <a:spcPts val="600"/>
              </a:spcAft>
            </a:pPr>
            <a:r>
              <a:rPr lang="en-US" sz="2000" i="1" dirty="0"/>
              <a:t>$a &gt;= $b  // TRUE </a:t>
            </a:r>
            <a:r>
              <a:rPr lang="ru-RU" sz="2000" i="1" dirty="0"/>
              <a:t>если $</a:t>
            </a:r>
            <a:r>
              <a:rPr lang="en-US" sz="2000" i="1" dirty="0"/>
              <a:t>a </a:t>
            </a:r>
            <a:r>
              <a:rPr lang="ru-RU" sz="2000" i="1" dirty="0"/>
              <a:t>больше или равно $</a:t>
            </a:r>
            <a:r>
              <a:rPr lang="en-US" sz="2000" i="1" dirty="0"/>
              <a:t>b.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операции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>
              <a:spcAft>
                <a:spcPts val="600"/>
              </a:spcAft>
            </a:pPr>
            <a:r>
              <a:rPr lang="en-US" sz="2400" i="1" dirty="0"/>
              <a:t>$a and $b  // TRUE </a:t>
            </a:r>
            <a:r>
              <a:rPr lang="ru-RU" sz="2400" i="1" dirty="0"/>
              <a:t>если и $</a:t>
            </a:r>
            <a:r>
              <a:rPr lang="en-US" sz="2400" i="1" dirty="0"/>
              <a:t>a, </a:t>
            </a:r>
            <a:r>
              <a:rPr lang="ru-RU" sz="2400" i="1" dirty="0"/>
              <a:t>и $</a:t>
            </a:r>
            <a:r>
              <a:rPr lang="en-US" sz="2400" i="1" dirty="0"/>
              <a:t>b TRUE.</a:t>
            </a:r>
            <a:endParaRPr lang="en-US" sz="2400" dirty="0"/>
          </a:p>
          <a:p>
            <a:pPr fontAlgn="base">
              <a:spcAft>
                <a:spcPts val="600"/>
              </a:spcAft>
            </a:pPr>
            <a:r>
              <a:rPr lang="en-US" sz="2400" i="1" dirty="0"/>
              <a:t>$a or $b  // TRUE </a:t>
            </a:r>
            <a:r>
              <a:rPr lang="ru-RU" sz="2400" i="1" dirty="0"/>
              <a:t>если или $</a:t>
            </a:r>
            <a:r>
              <a:rPr lang="en-US" sz="2400" i="1" dirty="0"/>
              <a:t>a, </a:t>
            </a:r>
            <a:r>
              <a:rPr lang="ru-RU" sz="2400" i="1" dirty="0"/>
              <a:t>или $</a:t>
            </a:r>
            <a:r>
              <a:rPr lang="en-US" sz="2400" i="1" dirty="0"/>
              <a:t>b TRUE.</a:t>
            </a:r>
            <a:endParaRPr lang="en-US" sz="2400" dirty="0"/>
          </a:p>
          <a:p>
            <a:pPr fontAlgn="base">
              <a:spcAft>
                <a:spcPts val="600"/>
              </a:spcAft>
            </a:pPr>
            <a:r>
              <a:rPr lang="en-US" sz="2400" i="1" dirty="0"/>
              <a:t>$a </a:t>
            </a:r>
            <a:r>
              <a:rPr lang="en-US" sz="2400" i="1" dirty="0" err="1"/>
              <a:t>xor</a:t>
            </a:r>
            <a:r>
              <a:rPr lang="en-US" sz="2400" i="1" dirty="0"/>
              <a:t> $b  // TRUE </a:t>
            </a:r>
            <a:r>
              <a:rPr lang="ru-RU" sz="2400" i="1" dirty="0"/>
              <a:t>если $</a:t>
            </a:r>
            <a:r>
              <a:rPr lang="en-US" sz="2400" i="1" dirty="0"/>
              <a:t>a, </a:t>
            </a:r>
            <a:r>
              <a:rPr lang="ru-RU" sz="2400" i="1" dirty="0"/>
              <a:t>или $</a:t>
            </a:r>
            <a:r>
              <a:rPr lang="en-US" sz="2400" i="1" dirty="0"/>
              <a:t>b TRUE, </a:t>
            </a:r>
            <a:r>
              <a:rPr lang="ru-RU" sz="2400" i="1" dirty="0"/>
              <a:t>но не оба.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!$</a:t>
            </a:r>
            <a:r>
              <a:rPr lang="en-US" sz="2400" i="1" dirty="0"/>
              <a:t>a  // TRUE </a:t>
            </a:r>
            <a:r>
              <a:rPr lang="ru-RU" sz="2400" i="1" dirty="0"/>
              <a:t>если $</a:t>
            </a:r>
            <a:r>
              <a:rPr lang="en-US" sz="2400" i="1" dirty="0"/>
              <a:t>a </a:t>
            </a:r>
            <a:r>
              <a:rPr lang="ru-RU" sz="2400" i="1" dirty="0"/>
              <a:t>не </a:t>
            </a:r>
            <a:r>
              <a:rPr lang="en-US" sz="2400" i="1" dirty="0"/>
              <a:t>TRUE.</a:t>
            </a:r>
            <a:endParaRPr lang="en-US" sz="2400" dirty="0"/>
          </a:p>
          <a:p>
            <a:pPr fontAlgn="base">
              <a:spcAft>
                <a:spcPts val="600"/>
              </a:spcAft>
            </a:pPr>
            <a:r>
              <a:rPr lang="en-US" sz="2400" i="1" dirty="0"/>
              <a:t>$a &amp;&amp; $b  // TRUE </a:t>
            </a:r>
            <a:r>
              <a:rPr lang="ru-RU" sz="2400" i="1" dirty="0"/>
              <a:t>если и $</a:t>
            </a:r>
            <a:r>
              <a:rPr lang="en-US" sz="2400" i="1" dirty="0"/>
              <a:t>a, </a:t>
            </a:r>
            <a:r>
              <a:rPr lang="ru-RU" sz="2400" i="1" dirty="0"/>
              <a:t>и $</a:t>
            </a:r>
            <a:r>
              <a:rPr lang="en-US" sz="2400" i="1" dirty="0"/>
              <a:t>b TRUE.</a:t>
            </a:r>
            <a:endParaRPr lang="en-US" sz="2400" dirty="0"/>
          </a:p>
          <a:p>
            <a:pPr fontAlgn="base">
              <a:spcAft>
                <a:spcPts val="600"/>
              </a:spcAft>
            </a:pPr>
            <a:r>
              <a:rPr lang="en-US" sz="2400" i="1" dirty="0"/>
              <a:t>$a || $b  // TRUE </a:t>
            </a:r>
            <a:r>
              <a:rPr lang="ru-RU" sz="2400" i="1" dirty="0"/>
              <a:t>если или $</a:t>
            </a:r>
            <a:r>
              <a:rPr lang="en-US" sz="2400" i="1" dirty="0"/>
              <a:t>a, </a:t>
            </a:r>
            <a:r>
              <a:rPr lang="ru-RU" sz="2400" i="1" dirty="0"/>
              <a:t>или $</a:t>
            </a:r>
            <a:r>
              <a:rPr lang="en-US" sz="2400" i="1" dirty="0"/>
              <a:t>b TRUE.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Побитовые операции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ru-RU" sz="2400" i="1" dirty="0"/>
              <a:t>$</a:t>
            </a:r>
            <a:r>
              <a:rPr lang="ru-RU" sz="2400" i="1" dirty="0" err="1"/>
              <a:t>a</a:t>
            </a:r>
            <a:r>
              <a:rPr lang="ru-RU" sz="2400" i="1" dirty="0"/>
              <a:t> &amp; $</a:t>
            </a:r>
            <a:r>
              <a:rPr lang="ru-RU" sz="2400" i="1" dirty="0" err="1"/>
              <a:t>b</a:t>
            </a:r>
            <a:r>
              <a:rPr lang="ru-RU" sz="2400" i="1" dirty="0"/>
              <a:t>  // Побитовое И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$</a:t>
            </a:r>
            <a:r>
              <a:rPr lang="ru-RU" sz="2400" i="1" dirty="0" err="1"/>
              <a:t>a</a:t>
            </a:r>
            <a:r>
              <a:rPr lang="ru-RU" sz="2400" i="1" dirty="0"/>
              <a:t> | $</a:t>
            </a:r>
            <a:r>
              <a:rPr lang="ru-RU" sz="2400" i="1" dirty="0" err="1"/>
              <a:t>b</a:t>
            </a:r>
            <a:r>
              <a:rPr lang="ru-RU" sz="2400" i="1" dirty="0"/>
              <a:t>  // Побитовое ИЛИ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$</a:t>
            </a:r>
            <a:r>
              <a:rPr lang="ru-RU" sz="2400" i="1" dirty="0" err="1"/>
              <a:t>a</a:t>
            </a:r>
            <a:r>
              <a:rPr lang="ru-RU" sz="2400" i="1" dirty="0"/>
              <a:t> ^ $</a:t>
            </a:r>
            <a:r>
              <a:rPr lang="ru-RU" sz="2400" i="1" dirty="0" err="1"/>
              <a:t>b</a:t>
            </a:r>
            <a:r>
              <a:rPr lang="ru-RU" sz="2400" i="1" dirty="0"/>
              <a:t>  // Исключающее или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~ $</a:t>
            </a:r>
            <a:r>
              <a:rPr lang="ru-RU" sz="2400" i="1" dirty="0" err="1"/>
              <a:t>a</a:t>
            </a:r>
            <a:r>
              <a:rPr lang="ru-RU" sz="2400" i="1" dirty="0"/>
              <a:t>  // Отрицание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$</a:t>
            </a:r>
            <a:r>
              <a:rPr lang="ru-RU" sz="2400" i="1" dirty="0" err="1"/>
              <a:t>a</a:t>
            </a:r>
            <a:r>
              <a:rPr lang="ru-RU" sz="2400" i="1" dirty="0"/>
              <a:t> &lt;&lt; $</a:t>
            </a:r>
            <a:r>
              <a:rPr lang="ru-RU" sz="2400" i="1" dirty="0" err="1"/>
              <a:t>b</a:t>
            </a:r>
            <a:r>
              <a:rPr lang="ru-RU" sz="2400" i="1" dirty="0"/>
              <a:t>  // Побитовый сдвиг влево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i="1" dirty="0"/>
              <a:t>$</a:t>
            </a:r>
            <a:r>
              <a:rPr lang="ru-RU" sz="2400" i="1" dirty="0" err="1"/>
              <a:t>a</a:t>
            </a:r>
            <a:r>
              <a:rPr lang="ru-RU" sz="2400" i="1" dirty="0"/>
              <a:t> &gt;&gt; $</a:t>
            </a:r>
            <a:r>
              <a:rPr lang="ru-RU" sz="2400" i="1" dirty="0" err="1"/>
              <a:t>b</a:t>
            </a:r>
            <a:r>
              <a:rPr lang="ru-RU" sz="2400" i="1" dirty="0"/>
              <a:t>  // Побитовый сдвиг вправо</a:t>
            </a:r>
            <a:endParaRPr lang="ru-RU" sz="2400" dirty="0"/>
          </a:p>
          <a:p>
            <a:pPr>
              <a:spcAft>
                <a:spcPts val="600"/>
              </a:spcAft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Специфичные операции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>
              <a:buNone/>
            </a:pPr>
            <a:r>
              <a:rPr lang="ru-RU" sz="2400" i="1" dirty="0"/>
              <a:t>Конкатенация</a:t>
            </a:r>
            <a:endParaRPr lang="ru-RU" sz="2400" dirty="0"/>
          </a:p>
          <a:p>
            <a:pPr fontAlgn="base"/>
            <a:r>
              <a:rPr lang="ru-RU" sz="2400" i="1" dirty="0"/>
              <a:t>$</a:t>
            </a:r>
            <a:r>
              <a:rPr lang="en-US" sz="2400" i="1" dirty="0"/>
              <a:t>a = "Hello ";</a:t>
            </a:r>
            <a:endParaRPr lang="en-US" sz="2400" dirty="0"/>
          </a:p>
          <a:p>
            <a:pPr fontAlgn="base"/>
            <a:r>
              <a:rPr lang="en-US" sz="2400" i="1" dirty="0"/>
              <a:t>$b = $a . "World!"; // $b </a:t>
            </a:r>
            <a:r>
              <a:rPr lang="ru-RU" sz="2400" i="1" dirty="0"/>
              <a:t>содержит строку "</a:t>
            </a:r>
            <a:r>
              <a:rPr lang="en-US" sz="2400" i="1" dirty="0"/>
              <a:t>Hello World!"</a:t>
            </a:r>
            <a:endParaRPr lang="en-US" sz="2400" dirty="0"/>
          </a:p>
          <a:p>
            <a:pPr fontAlgn="base"/>
            <a:r>
              <a:rPr lang="en-US" sz="2400" i="1" dirty="0"/>
              <a:t>$a .= "World!";  // $a </a:t>
            </a:r>
            <a:r>
              <a:rPr lang="ru-RU" sz="2400" i="1" dirty="0"/>
              <a:t>содержит строку "</a:t>
            </a:r>
            <a:r>
              <a:rPr lang="en-US" sz="2400" i="1" dirty="0"/>
              <a:t>Hello World!"</a:t>
            </a:r>
            <a:endParaRPr lang="en-US" sz="2400" dirty="0"/>
          </a:p>
          <a:p>
            <a:pPr fontAlgn="base">
              <a:buNone/>
            </a:pPr>
            <a:r>
              <a:rPr lang="ru-RU" sz="2400" i="1" dirty="0"/>
              <a:t>Подавление ошибки</a:t>
            </a:r>
            <a:endParaRPr lang="ru-RU" sz="2400" dirty="0"/>
          </a:p>
          <a:p>
            <a:pPr fontAlgn="base"/>
            <a:r>
              <a:rPr lang="ru-RU" sz="2400" i="1" dirty="0"/>
              <a:t>@$</a:t>
            </a:r>
            <a:r>
              <a:rPr lang="en-US" sz="2400" i="1" dirty="0"/>
              <a:t>a = 1 / 0;  // </a:t>
            </a:r>
            <a:r>
              <a:rPr lang="ru-RU" sz="2400" i="1" dirty="0"/>
              <a:t>Ошибка не будет сгенерирована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Инкремент / Декремент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165225" indent="-1165225" fontAlgn="base">
              <a:spcAft>
                <a:spcPts val="1200"/>
              </a:spcAft>
              <a:buNone/>
            </a:pPr>
            <a:r>
              <a:rPr lang="ru-RU" i="1" dirty="0"/>
              <a:t>++$</a:t>
            </a:r>
            <a:r>
              <a:rPr lang="ru-RU" i="1" dirty="0" err="1"/>
              <a:t>a</a:t>
            </a:r>
            <a:r>
              <a:rPr lang="ru-RU" i="1" dirty="0"/>
              <a:t>   // Увеличивает $</a:t>
            </a:r>
            <a:r>
              <a:rPr lang="ru-RU" i="1" dirty="0" err="1"/>
              <a:t>a</a:t>
            </a:r>
            <a:r>
              <a:rPr lang="ru-RU" i="1" dirty="0"/>
              <a:t> на единицу и возвращает значение $</a:t>
            </a:r>
            <a:r>
              <a:rPr lang="ru-RU" i="1" dirty="0" err="1"/>
              <a:t>a</a:t>
            </a:r>
            <a:r>
              <a:rPr lang="ru-RU" i="1" dirty="0"/>
              <a:t> </a:t>
            </a:r>
          </a:p>
          <a:p>
            <a:pPr marL="1165225" indent="-1165225" fontAlgn="base">
              <a:spcAft>
                <a:spcPts val="1200"/>
              </a:spcAft>
              <a:buNone/>
            </a:pPr>
            <a:r>
              <a:rPr lang="ru-RU" i="1" dirty="0"/>
              <a:t>$</a:t>
            </a:r>
            <a:r>
              <a:rPr lang="ru-RU" i="1" dirty="0" err="1"/>
              <a:t>a++</a:t>
            </a:r>
            <a:r>
              <a:rPr lang="ru-RU" i="1" dirty="0"/>
              <a:t>   // Возвращает значение $</a:t>
            </a:r>
            <a:r>
              <a:rPr lang="ru-RU" i="1" dirty="0" err="1"/>
              <a:t>a</a:t>
            </a:r>
            <a:r>
              <a:rPr lang="ru-RU" i="1" dirty="0"/>
              <a:t>, а затем увеличивает $</a:t>
            </a:r>
            <a:r>
              <a:rPr lang="ru-RU" i="1" dirty="0" err="1"/>
              <a:t>a</a:t>
            </a:r>
            <a:r>
              <a:rPr lang="ru-RU" i="1" dirty="0"/>
              <a:t> на единицу</a:t>
            </a:r>
          </a:p>
          <a:p>
            <a:pPr marL="1165225" indent="-1165225" fontAlgn="base">
              <a:spcAft>
                <a:spcPts val="1200"/>
              </a:spcAft>
              <a:buNone/>
            </a:pPr>
            <a:r>
              <a:rPr lang="ru-RU" i="1" dirty="0"/>
              <a:t>--$</a:t>
            </a:r>
            <a:r>
              <a:rPr lang="ru-RU" i="1" dirty="0" err="1"/>
              <a:t>a</a:t>
            </a:r>
            <a:r>
              <a:rPr lang="ru-RU" i="1" dirty="0"/>
              <a:t>   // Уменьшает $</a:t>
            </a:r>
            <a:r>
              <a:rPr lang="ru-RU" i="1" dirty="0" err="1"/>
              <a:t>a</a:t>
            </a:r>
            <a:r>
              <a:rPr lang="ru-RU" i="1" dirty="0"/>
              <a:t> на единицу и возвращает значение $</a:t>
            </a:r>
            <a:r>
              <a:rPr lang="ru-RU" i="1" dirty="0" err="1"/>
              <a:t>a</a:t>
            </a:r>
            <a:endParaRPr lang="ru-RU" i="1" dirty="0"/>
          </a:p>
          <a:p>
            <a:pPr marL="1165225" indent="-1165225" fontAlgn="base">
              <a:spcAft>
                <a:spcPts val="1200"/>
              </a:spcAft>
              <a:buNone/>
            </a:pPr>
            <a:r>
              <a:rPr lang="ru-RU" i="1" dirty="0"/>
              <a:t>$</a:t>
            </a:r>
            <a:r>
              <a:rPr lang="ru-RU" i="1" dirty="0" err="1"/>
              <a:t>a</a:t>
            </a:r>
            <a:r>
              <a:rPr lang="ru-RU" i="1" dirty="0"/>
              <a:t>--   // Возвращает значение $</a:t>
            </a:r>
            <a:r>
              <a:rPr lang="ru-RU" i="1" dirty="0" err="1"/>
              <a:t>a</a:t>
            </a:r>
            <a:r>
              <a:rPr lang="ru-RU" i="1" dirty="0"/>
              <a:t>, а затем уменьшает $</a:t>
            </a:r>
            <a:r>
              <a:rPr lang="ru-RU" i="1" dirty="0" err="1"/>
              <a:t>a</a:t>
            </a:r>
            <a:r>
              <a:rPr lang="ru-RU" i="1" dirty="0"/>
              <a:t> на единицу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i="1" dirty="0"/>
              <a:t>&lt;?</a:t>
            </a:r>
            <a:r>
              <a:rPr lang="ru-RU" i="1" dirty="0" err="1"/>
              <a:t>php</a:t>
            </a:r>
            <a:endParaRPr lang="ru-RU" dirty="0"/>
          </a:p>
          <a:p>
            <a:pPr fontAlgn="base">
              <a:spcAft>
                <a:spcPts val="600"/>
              </a:spcAft>
              <a:buNone/>
            </a:pPr>
            <a:r>
              <a:rPr lang="ru-RU" i="1" dirty="0"/>
              <a:t>  $</a:t>
            </a:r>
            <a:r>
              <a:rPr lang="ru-RU" i="1" dirty="0" err="1"/>
              <a:t>a</a:t>
            </a:r>
            <a:r>
              <a:rPr lang="ru-RU" i="1" dirty="0"/>
              <a:t> = 5;</a:t>
            </a:r>
            <a:br>
              <a:rPr lang="ru-RU" i="1" dirty="0"/>
            </a:br>
            <a:r>
              <a:rPr lang="ru-RU" i="1" dirty="0"/>
              <a:t>  </a:t>
            </a:r>
            <a:r>
              <a:rPr lang="ru-RU" i="1" dirty="0" err="1"/>
              <a:t>echo</a:t>
            </a:r>
            <a:r>
              <a:rPr lang="ru-RU" i="1" dirty="0"/>
              <a:t> "Должно быть 5: " . $</a:t>
            </a:r>
            <a:r>
              <a:rPr lang="ru-RU" i="1" dirty="0" err="1"/>
              <a:t>a++</a:t>
            </a:r>
            <a:r>
              <a:rPr lang="ru-RU" i="1" dirty="0"/>
              <a:t> . "&lt;</a:t>
            </a:r>
            <a:r>
              <a:rPr lang="ru-RU" i="1" dirty="0" err="1"/>
              <a:t>br</a:t>
            </a:r>
            <a:r>
              <a:rPr lang="ru-RU" i="1" dirty="0"/>
              <a:t>&gt;";</a:t>
            </a:r>
            <a:br>
              <a:rPr lang="ru-RU" i="1" dirty="0"/>
            </a:br>
            <a:r>
              <a:rPr lang="ru-RU" i="1" dirty="0"/>
              <a:t>  </a:t>
            </a:r>
            <a:r>
              <a:rPr lang="ru-RU" i="1" dirty="0" err="1"/>
              <a:t>echo</a:t>
            </a:r>
            <a:r>
              <a:rPr lang="ru-RU" i="1" dirty="0"/>
              <a:t> "Должно быть 6: " . $</a:t>
            </a:r>
            <a:r>
              <a:rPr lang="ru-RU" i="1" dirty="0" err="1"/>
              <a:t>a</a:t>
            </a:r>
            <a:r>
              <a:rPr lang="ru-RU" i="1" dirty="0"/>
              <a:t> . "&lt;</a:t>
            </a:r>
            <a:r>
              <a:rPr lang="ru-RU" i="1" dirty="0" err="1"/>
              <a:t>br</a:t>
            </a:r>
            <a:r>
              <a:rPr lang="ru-RU" i="1" dirty="0"/>
              <a:t>&gt;";</a:t>
            </a:r>
            <a:br>
              <a:rPr lang="ru-RU" i="1" dirty="0"/>
            </a:br>
            <a:r>
              <a:rPr lang="ru-RU" i="1" dirty="0"/>
              <a:t>  $</a:t>
            </a:r>
            <a:r>
              <a:rPr lang="ru-RU" i="1" dirty="0" err="1"/>
              <a:t>a</a:t>
            </a:r>
            <a:r>
              <a:rPr lang="ru-RU" i="1" dirty="0"/>
              <a:t> = 5;</a:t>
            </a:r>
            <a:br>
              <a:rPr lang="ru-RU" i="1" dirty="0"/>
            </a:br>
            <a:r>
              <a:rPr lang="ru-RU" i="1" dirty="0"/>
              <a:t>  </a:t>
            </a:r>
            <a:r>
              <a:rPr lang="ru-RU" i="1" dirty="0" err="1"/>
              <a:t>echo</a:t>
            </a:r>
            <a:r>
              <a:rPr lang="ru-RU" i="1" dirty="0"/>
              <a:t> "Должно быть 6: " . ++$</a:t>
            </a:r>
            <a:r>
              <a:rPr lang="ru-RU" i="1" dirty="0" err="1"/>
              <a:t>a</a:t>
            </a:r>
            <a:r>
              <a:rPr lang="ru-RU" i="1" dirty="0"/>
              <a:t> . "&lt;</a:t>
            </a:r>
            <a:r>
              <a:rPr lang="ru-RU" i="1" dirty="0" err="1"/>
              <a:t>br</a:t>
            </a:r>
            <a:r>
              <a:rPr lang="ru-RU" i="1" dirty="0"/>
              <a:t>&gt;";</a:t>
            </a:r>
            <a:br>
              <a:rPr lang="ru-RU" i="1" dirty="0"/>
            </a:br>
            <a:r>
              <a:rPr lang="ru-RU" i="1" dirty="0"/>
              <a:t>  </a:t>
            </a:r>
            <a:r>
              <a:rPr lang="ru-RU" i="1" dirty="0" err="1"/>
              <a:t>echo</a:t>
            </a:r>
            <a:r>
              <a:rPr lang="ru-RU" i="1" dirty="0"/>
              <a:t> "Должно быть 6: " . $</a:t>
            </a:r>
            <a:r>
              <a:rPr lang="ru-RU" i="1" dirty="0" err="1"/>
              <a:t>a</a:t>
            </a:r>
            <a:r>
              <a:rPr lang="ru-RU" i="1" dirty="0"/>
              <a:t> . "&lt;</a:t>
            </a:r>
            <a:r>
              <a:rPr lang="ru-RU" i="1" dirty="0" err="1"/>
              <a:t>br</a:t>
            </a:r>
            <a:r>
              <a:rPr lang="ru-RU" i="1" dirty="0"/>
              <a:t>&gt;";</a:t>
            </a:r>
            <a:endParaRPr lang="ru-RU" dirty="0"/>
          </a:p>
          <a:p>
            <a:pPr fontAlgn="base">
              <a:spcAft>
                <a:spcPts val="600"/>
              </a:spcAft>
              <a:buNone/>
            </a:pPr>
            <a:r>
              <a:rPr lang="ru-RU" i="1" dirty="0"/>
              <a:t>?&gt;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Тернарная операция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12776"/>
            <a:ext cx="7632848" cy="4536504"/>
          </a:xfrm>
        </p:spPr>
        <p:txBody>
          <a:bodyPr>
            <a:noAutofit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По сути является аналогом условной конструкции </a:t>
            </a:r>
            <a:r>
              <a:rPr lang="ru-RU" sz="2400" i="1" dirty="0" err="1"/>
              <a:t>if...else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Она записывается следующим образом: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условие ? значение, если условие истинно : значение, если ложно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&lt;?</a:t>
            </a:r>
            <a:r>
              <a:rPr lang="ru-RU" sz="2400" i="1" dirty="0" err="1"/>
              <a:t>php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  $</a:t>
            </a:r>
            <a:r>
              <a:rPr lang="ru-RU" sz="2400" i="1" dirty="0" err="1"/>
              <a:t>grade</a:t>
            </a:r>
            <a:r>
              <a:rPr lang="ru-RU" sz="2400" i="1" dirty="0"/>
              <a:t> = 3;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  $</a:t>
            </a:r>
            <a:r>
              <a:rPr lang="ru-RU" sz="2400" i="1" dirty="0" err="1"/>
              <a:t>result</a:t>
            </a:r>
            <a:r>
              <a:rPr lang="ru-RU" sz="2400" i="1" dirty="0"/>
              <a:t> = ($</a:t>
            </a:r>
            <a:r>
              <a:rPr lang="ru-RU" sz="2400" i="1" dirty="0" err="1"/>
              <a:t>grade</a:t>
            </a:r>
            <a:r>
              <a:rPr lang="ru-RU" sz="2400" i="1" dirty="0"/>
              <a:t> &gt; 2 ? 'Сдал' : 'Не сдал');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  </a:t>
            </a:r>
            <a:r>
              <a:rPr lang="ru-RU" sz="2400" i="1" dirty="0" err="1"/>
              <a:t>echo</a:t>
            </a:r>
            <a:r>
              <a:rPr lang="ru-RU" sz="2400" i="1" dirty="0"/>
              <a:t> $</a:t>
            </a:r>
            <a:r>
              <a:rPr lang="ru-RU" sz="2400" i="1" dirty="0" err="1"/>
              <a:t>result</a:t>
            </a:r>
            <a:r>
              <a:rPr lang="ru-RU" sz="2400" i="1" dirty="0"/>
              <a:t>;</a:t>
            </a:r>
            <a:endParaRPr lang="ru-RU" sz="2400" dirty="0"/>
          </a:p>
          <a:p>
            <a:pPr fontAlgn="base">
              <a:spcAft>
                <a:spcPts val="600"/>
              </a:spcAft>
              <a:buNone/>
            </a:pPr>
            <a:r>
              <a:rPr lang="ru-RU" sz="2400" i="1" dirty="0"/>
              <a:t>?&gt;</a:t>
            </a:r>
            <a:endParaRPr lang="ru-RU" sz="2400" dirty="0"/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183880" cy="720080"/>
          </a:xfrm>
        </p:spPr>
        <p:txBody>
          <a:bodyPr/>
          <a:lstStyle/>
          <a:p>
            <a:r>
              <a:rPr lang="ru-RU" dirty="0"/>
              <a:t>Практическая работа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556792"/>
            <a:ext cx="7704856" cy="5112568"/>
          </a:xfrm>
        </p:spPr>
        <p:txBody>
          <a:bodyPr>
            <a:noAutofit/>
          </a:bodyPr>
          <a:lstStyle/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1.Создайте файл 1-1.php, содержащий 5 разных переменных, присвойте переменным значения разного типа. Используя 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gettype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() выведите тип каждой переменной.</a:t>
            </a:r>
          </a:p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2. Создайте файл 1-2.php, содержащий 2 переменные числового типа. Произведите над переменными произвольное арифметическое действие и выведите его результат.</a:t>
            </a:r>
          </a:p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3. Создайте файл 1-3.php, содержащий 2 переменные строкового типа. Инициализируйте переменные произвольным текстом. С помощью конкатенации объедините содержимое переменных и выведите результат.</a:t>
            </a:r>
          </a:p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4. Создайте файл 1-4.php, содержащий 2 переменные с одинаковым типом значений. Используя тернарный оператор сравнения проведите исследование на возвращаемые результаты.</a:t>
            </a:r>
          </a:p>
          <a:p>
            <a:pPr fontAlgn="base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Управляющие конструкции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b="1" dirty="0"/>
              <a:t>Конструкция </a:t>
            </a:r>
            <a:r>
              <a:rPr lang="en-US" b="1" dirty="0"/>
              <a:t>if</a:t>
            </a:r>
            <a:endParaRPr lang="en-US" dirty="0"/>
          </a:p>
          <a:p>
            <a:pPr fontAlgn="base">
              <a:spcAft>
                <a:spcPts val="600"/>
              </a:spcAft>
              <a:buNone/>
            </a:pPr>
            <a:r>
              <a:rPr lang="ru-RU" i="1" dirty="0"/>
              <a:t>Указанные  действия выполняются тогда и только тогда, когда условие истинно.</a:t>
            </a:r>
            <a:r>
              <a:rPr lang="en-US" b="1" i="1" dirty="0"/>
              <a:t> if(</a:t>
            </a:r>
            <a:r>
              <a:rPr lang="ru-RU" b="1" i="1" dirty="0"/>
              <a:t>условие)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{ </a:t>
            </a:r>
            <a:r>
              <a:rPr lang="en-US" b="1" i="1" dirty="0"/>
              <a:t>if($index &gt; 0)  {</a:t>
            </a:r>
            <a:r>
              <a:rPr lang="ru-RU" b="1" i="1" dirty="0"/>
              <a:t>Действие;  </a:t>
            </a:r>
            <a:r>
              <a:rPr lang="en-US" b="1" i="1" dirty="0"/>
              <a:t>echo 'Index &gt; 0';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 }  }</a:t>
            </a:r>
            <a:endParaRPr lang="en-US" dirty="0"/>
          </a:p>
          <a:p>
            <a:pPr fontAlgn="base">
              <a:spcAft>
                <a:spcPts val="600"/>
              </a:spcAft>
              <a:buNone/>
            </a:pPr>
            <a:r>
              <a:rPr lang="ru-RU" b="1" i="1" dirty="0"/>
              <a:t>Конструкция </a:t>
            </a:r>
            <a:r>
              <a:rPr lang="en-US" b="1" i="1" dirty="0"/>
              <a:t>if...else</a:t>
            </a:r>
            <a:endParaRPr lang="en-US" dirty="0"/>
          </a:p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Если условие истинно, выполнятся действия из блока </a:t>
            </a:r>
            <a:r>
              <a:rPr lang="en-US" i="1" dirty="0"/>
              <a:t>if, </a:t>
            </a:r>
            <a:r>
              <a:rPr lang="ru-RU" i="1" dirty="0"/>
              <a:t>в противном случае — из блока </a:t>
            </a:r>
            <a:r>
              <a:rPr lang="en-US" i="1" dirty="0"/>
              <a:t>else.</a:t>
            </a:r>
            <a:r>
              <a:rPr lang="en-US" b="1" i="1" dirty="0"/>
              <a:t> if(</a:t>
            </a:r>
            <a:r>
              <a:rPr lang="ru-RU" b="1" i="1" dirty="0"/>
              <a:t>условие)</a:t>
            </a:r>
            <a:r>
              <a:rPr lang="en-US" b="1" i="1" dirty="0"/>
              <a:t> {  } else{  }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{  </a:t>
            </a:r>
            <a:r>
              <a:rPr lang="en-US" b="1" i="1" dirty="0"/>
              <a:t>if($index &gt; 0){ </a:t>
            </a:r>
            <a:r>
              <a:rPr lang="ru-RU" b="1" i="1" dirty="0"/>
              <a:t>Действие;  </a:t>
            </a:r>
            <a:r>
              <a:rPr lang="en-US" b="1" i="1" dirty="0"/>
              <a:t>echo '</a:t>
            </a:r>
            <a:r>
              <a:rPr lang="ru-RU" b="1" i="1" dirty="0"/>
              <a:t>Да‘;</a:t>
            </a:r>
          </a:p>
          <a:p>
            <a:pPr fontAlgn="base">
              <a:spcAft>
                <a:spcPts val="600"/>
              </a:spcAft>
            </a:pPr>
            <a:r>
              <a:rPr lang="ru-RU" b="1" i="1" dirty="0"/>
              <a:t>}</a:t>
            </a:r>
            <a:r>
              <a:rPr lang="en-US" b="1" i="1" dirty="0"/>
              <a:t> </a:t>
            </a:r>
            <a:endParaRPr lang="ru-RU" b="1" i="1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else{ </a:t>
            </a:r>
            <a:r>
              <a:rPr lang="ru-RU" b="1" i="1" dirty="0"/>
              <a:t>Действие;  </a:t>
            </a:r>
            <a:r>
              <a:rPr lang="en-US" b="1" i="1" dirty="0"/>
              <a:t>echo '</a:t>
            </a:r>
            <a:r>
              <a:rPr lang="ru-RU" b="1" i="1" dirty="0"/>
              <a:t>Нет';</a:t>
            </a:r>
            <a:endParaRPr lang="ru-RU" dirty="0"/>
          </a:p>
          <a:p>
            <a:pPr>
              <a:spcAft>
                <a:spcPts val="600"/>
              </a:spcAft>
            </a:pPr>
            <a:r>
              <a:rPr lang="ru-RU" b="1" i="1" dirty="0"/>
              <a:t>} </a:t>
            </a:r>
            <a:r>
              <a:rPr lang="en-US" b="1" i="1" dirty="0"/>
              <a:t>}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Конструкция </a:t>
            </a:r>
            <a:r>
              <a:rPr lang="en-US" dirty="0" err="1"/>
              <a:t>elseif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Если условие блока </a:t>
            </a:r>
            <a:r>
              <a:rPr lang="en-US" i="1" dirty="0"/>
              <a:t>if </a:t>
            </a:r>
            <a:r>
              <a:rPr lang="ru-RU" i="1" dirty="0"/>
              <a:t>истинно, выполнятся действия блока </a:t>
            </a:r>
            <a:r>
              <a:rPr lang="en-US" i="1" dirty="0"/>
              <a:t>if. </a:t>
            </a:r>
            <a:r>
              <a:rPr lang="ru-RU" i="1" dirty="0"/>
              <a:t>В противном случае, если условие блока </a:t>
            </a:r>
            <a:r>
              <a:rPr lang="en-US" i="1" dirty="0" err="1"/>
              <a:t>elseif</a:t>
            </a:r>
            <a:r>
              <a:rPr lang="en-US" i="1" dirty="0"/>
              <a:t> </a:t>
            </a:r>
            <a:r>
              <a:rPr lang="ru-RU" i="1" dirty="0"/>
              <a:t>истинно, выполнятся действия блока </a:t>
            </a:r>
            <a:r>
              <a:rPr lang="en-US" i="1" dirty="0" err="1"/>
              <a:t>elseif</a:t>
            </a:r>
            <a:r>
              <a:rPr lang="en-US" i="1" dirty="0"/>
              <a:t>. </a:t>
            </a:r>
            <a:r>
              <a:rPr lang="ru-RU" i="1" dirty="0"/>
              <a:t>Во всех остальных случаях выполнятся действия из блока </a:t>
            </a:r>
            <a:r>
              <a:rPr lang="en-US" i="1" dirty="0"/>
              <a:t>else.</a:t>
            </a:r>
            <a:endParaRPr lang="en-US" dirty="0"/>
          </a:p>
          <a:p>
            <a:pPr fontAlgn="base">
              <a:spcAft>
                <a:spcPts val="600"/>
              </a:spcAft>
              <a:buNone/>
            </a:pPr>
            <a:r>
              <a:rPr lang="en-US" b="1" i="1" dirty="0"/>
              <a:t> 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{  </a:t>
            </a:r>
            <a:r>
              <a:rPr lang="en-US" b="1" i="1" dirty="0"/>
              <a:t>if($numb &lt; 5){ 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  </a:t>
            </a:r>
            <a:r>
              <a:rPr lang="ru-RU" b="1" i="1" dirty="0"/>
              <a:t>Действие;  $</a:t>
            </a:r>
            <a:r>
              <a:rPr lang="en-US" b="1" i="1" dirty="0"/>
              <a:t>discount = 0; }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{  </a:t>
            </a:r>
            <a:r>
              <a:rPr lang="en-US" b="1" i="1" dirty="0" err="1"/>
              <a:t>elseif</a:t>
            </a:r>
            <a:r>
              <a:rPr lang="en-US" b="1" i="1" dirty="0"/>
              <a:t>($numb &gt;= 5 &amp;&amp; $numb &lt;= 10)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  </a:t>
            </a:r>
            <a:r>
              <a:rPr lang="ru-RU" b="1" i="1" dirty="0"/>
              <a:t>Действие;  $</a:t>
            </a:r>
            <a:r>
              <a:rPr lang="en-US" b="1" i="1" dirty="0"/>
              <a:t>discount = 5; }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  else{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  </a:t>
            </a:r>
            <a:r>
              <a:rPr lang="ru-RU" b="1" i="1" dirty="0"/>
              <a:t>Действие;  $</a:t>
            </a:r>
            <a:r>
              <a:rPr lang="en-US" b="1" i="1" dirty="0"/>
              <a:t>discount = 10;</a:t>
            </a:r>
            <a:endParaRPr lang="en-US" dirty="0"/>
          </a:p>
          <a:p>
            <a:pPr fontAlgn="base">
              <a:spcAft>
                <a:spcPts val="600"/>
              </a:spcAft>
            </a:pPr>
            <a:r>
              <a:rPr lang="en-US" b="1" i="1" dirty="0"/>
              <a:t>}  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Конструкция </a:t>
            </a:r>
            <a:r>
              <a:rPr lang="en-US" i="1" dirty="0"/>
              <a:t>switch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Если значение переменной соответствует значению одного из блоков </a:t>
            </a:r>
            <a:r>
              <a:rPr lang="ru-RU" i="1" dirty="0" err="1"/>
              <a:t>case</a:t>
            </a:r>
            <a:r>
              <a:rPr lang="ru-RU" i="1" dirty="0"/>
              <a:t>, выполнятся действия из этого блока. В противном случае - из блока </a:t>
            </a:r>
            <a:r>
              <a:rPr lang="ru-RU" i="1" dirty="0" err="1"/>
              <a:t>default</a:t>
            </a:r>
            <a:r>
              <a:rPr lang="ru-RU" i="1" dirty="0"/>
              <a:t>.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 err="1"/>
              <a:t>switch</a:t>
            </a:r>
            <a:r>
              <a:rPr lang="ru-RU" b="1" i="1" dirty="0"/>
              <a:t>(Переменная){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 </a:t>
            </a:r>
            <a:r>
              <a:rPr lang="ru-RU" b="1" i="1" dirty="0" err="1"/>
              <a:t>case</a:t>
            </a:r>
            <a:r>
              <a:rPr lang="ru-RU" b="1" i="1" dirty="0"/>
              <a:t> Значение 1: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 	Действие 1;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 	[</a:t>
            </a:r>
            <a:r>
              <a:rPr lang="ru-RU" b="1" i="1" dirty="0" err="1"/>
              <a:t>break</a:t>
            </a:r>
            <a:r>
              <a:rPr lang="ru-RU" b="1" i="1" dirty="0"/>
              <a:t>;]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 </a:t>
            </a:r>
            <a:r>
              <a:rPr lang="ru-RU" b="1" i="1" dirty="0" err="1"/>
              <a:t>case</a:t>
            </a:r>
            <a:r>
              <a:rPr lang="ru-RU" b="1" i="1" dirty="0"/>
              <a:t> Значение 2: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 	Действие 2;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 	[</a:t>
            </a:r>
            <a:r>
              <a:rPr lang="ru-RU" b="1" i="1" dirty="0" err="1"/>
              <a:t>break</a:t>
            </a:r>
            <a:r>
              <a:rPr lang="ru-RU" b="1" i="1" dirty="0"/>
              <a:t>;]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  [</a:t>
            </a:r>
            <a:r>
              <a:rPr lang="ru-RU" b="1" i="1" dirty="0" err="1"/>
              <a:t>default</a:t>
            </a:r>
            <a:r>
              <a:rPr lang="ru-RU" b="1" i="1" dirty="0"/>
              <a:t>: Действие;]</a:t>
            </a:r>
            <a:endParaRPr lang="ru-RU" dirty="0"/>
          </a:p>
          <a:p>
            <a:pPr fontAlgn="base">
              <a:spcAft>
                <a:spcPts val="600"/>
              </a:spcAft>
            </a:pPr>
            <a:r>
              <a:rPr lang="ru-RU" b="1" i="1" dirty="0"/>
              <a:t>}</a:t>
            </a:r>
            <a:endParaRPr lang="ru-RU" dirty="0"/>
          </a:p>
          <a:p>
            <a:pPr>
              <a:spcAft>
                <a:spcPts val="600"/>
              </a:spcAft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Циклы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1412776"/>
            <a:ext cx="6347714" cy="5256584"/>
          </a:xfrm>
        </p:spPr>
        <p:txBody>
          <a:bodyPr>
            <a:noAutofit/>
          </a:bodyPr>
          <a:lstStyle/>
          <a:p>
            <a:pPr fontAlgn="base">
              <a:spcAft>
                <a:spcPts val="400"/>
              </a:spcAft>
            </a:pPr>
            <a:r>
              <a:rPr lang="nn-NO" sz="1600" b="1" i="1" dirty="0"/>
              <a:t>{  for ($i = 1; $i &lt;= 5; $i++) {  Действие;  $sum += $i;</a:t>
            </a:r>
            <a:endParaRPr lang="nn-NO" sz="1600" dirty="0"/>
          </a:p>
          <a:p>
            <a:pPr fontAlgn="base">
              <a:spcAft>
                <a:spcPts val="400"/>
              </a:spcAft>
            </a:pPr>
            <a:r>
              <a:rPr lang="nn-NO" sz="1600" b="1" i="1" dirty="0"/>
              <a:t>  ...  echo $sum;</a:t>
            </a:r>
            <a:endParaRPr lang="nn-NO" sz="1600" dirty="0"/>
          </a:p>
          <a:p>
            <a:pPr fontAlgn="base">
              <a:spcAft>
                <a:spcPts val="400"/>
              </a:spcAft>
            </a:pPr>
            <a:r>
              <a:rPr lang="nn-NO" sz="1600" b="1" i="1" dirty="0"/>
              <a:t>}  }</a:t>
            </a:r>
            <a:endParaRPr lang="nn-NO" sz="1600" dirty="0"/>
          </a:p>
          <a:p>
            <a:pPr>
              <a:spcAft>
                <a:spcPts val="400"/>
              </a:spcAft>
              <a:buNone/>
            </a:pPr>
            <a:endParaRPr lang="ru-RU" sz="1600" dirty="0"/>
          </a:p>
          <a:p>
            <a:pPr fontAlgn="base">
              <a:spcAft>
                <a:spcPts val="400"/>
              </a:spcAft>
            </a:pPr>
            <a:r>
              <a:rPr lang="en-US" sz="1600" b="1" i="1" dirty="0"/>
              <a:t>{  while ($state == '</a:t>
            </a:r>
            <a:r>
              <a:rPr lang="ru-RU" sz="1600" b="1" i="1" dirty="0"/>
              <a:t>Солнце высоко') {</a:t>
            </a:r>
            <a:endParaRPr lang="ru-RU" sz="1600" dirty="0"/>
          </a:p>
          <a:p>
            <a:pPr fontAlgn="base">
              <a:spcAft>
                <a:spcPts val="400"/>
              </a:spcAft>
            </a:pPr>
            <a:r>
              <a:rPr lang="ru-RU" sz="1600" b="1" i="1" dirty="0"/>
              <a:t>  Действие;  </a:t>
            </a:r>
            <a:r>
              <a:rPr lang="en-US" sz="1600" b="1" i="1" dirty="0"/>
              <a:t>echo '</a:t>
            </a:r>
            <a:r>
              <a:rPr lang="ru-RU" sz="1600" b="1" i="1" dirty="0"/>
              <a:t>Рабочий день продолжается';</a:t>
            </a:r>
            <a:endParaRPr lang="ru-RU" sz="1600" dirty="0"/>
          </a:p>
          <a:p>
            <a:pPr fontAlgn="base">
              <a:spcAft>
                <a:spcPts val="400"/>
              </a:spcAft>
            </a:pPr>
            <a:r>
              <a:rPr lang="ru-RU" sz="1600" b="1" i="1" dirty="0"/>
              <a:t>  ...  $</a:t>
            </a:r>
            <a:r>
              <a:rPr lang="en-US" sz="1600" b="1" i="1" dirty="0"/>
              <a:t>state = '</a:t>
            </a:r>
            <a:r>
              <a:rPr lang="ru-RU" sz="1600" b="1" i="1" dirty="0"/>
              <a:t>Солнце заходит'; </a:t>
            </a:r>
            <a:endParaRPr lang="ru-RU" sz="1600" dirty="0"/>
          </a:p>
          <a:p>
            <a:pPr fontAlgn="base">
              <a:spcAft>
                <a:spcPts val="400"/>
              </a:spcAft>
            </a:pPr>
            <a:r>
              <a:rPr lang="ru-RU" sz="1600" b="1" i="1" dirty="0"/>
              <a:t>}  }</a:t>
            </a:r>
            <a:endParaRPr lang="ru-RU" sz="1600" dirty="0"/>
          </a:p>
          <a:p>
            <a:pPr>
              <a:spcAft>
                <a:spcPts val="400"/>
              </a:spcAft>
              <a:buNone/>
            </a:pPr>
            <a:endParaRPr lang="ru-RU" sz="1600" dirty="0"/>
          </a:p>
          <a:p>
            <a:pPr fontAlgn="base">
              <a:spcAft>
                <a:spcPts val="400"/>
              </a:spcAft>
            </a:pPr>
            <a:r>
              <a:rPr lang="en-US" sz="1600" b="1" i="1" dirty="0"/>
              <a:t>do{</a:t>
            </a:r>
            <a:endParaRPr lang="en-US" sz="1600" dirty="0"/>
          </a:p>
          <a:p>
            <a:pPr fontAlgn="base">
              <a:spcAft>
                <a:spcPts val="400"/>
              </a:spcAft>
            </a:pPr>
            <a:r>
              <a:rPr lang="en-US" sz="1600" b="1" i="1" dirty="0"/>
              <a:t>  </a:t>
            </a:r>
            <a:r>
              <a:rPr lang="ru-RU" sz="1600" b="1" i="1" dirty="0"/>
              <a:t>Действие;   </a:t>
            </a:r>
            <a:r>
              <a:rPr lang="en-US" sz="1600" b="1" i="1" dirty="0"/>
              <a:t>echo '</a:t>
            </a:r>
            <a:r>
              <a:rPr lang="ru-RU" sz="1600" b="1" i="1" dirty="0"/>
              <a:t>Пиф-паф';</a:t>
            </a:r>
            <a:endParaRPr lang="ru-RU" sz="1600" dirty="0"/>
          </a:p>
          <a:p>
            <a:pPr fontAlgn="base">
              <a:spcAft>
                <a:spcPts val="400"/>
              </a:spcAft>
            </a:pPr>
            <a:r>
              <a:rPr lang="ru-RU" sz="1600" b="1" i="1" dirty="0"/>
              <a:t>  ...  } </a:t>
            </a:r>
            <a:r>
              <a:rPr lang="en-US" sz="1600" b="1" i="1" dirty="0"/>
              <a:t>while ($state == '</a:t>
            </a:r>
            <a:r>
              <a:rPr lang="ru-RU" sz="1600" b="1" i="1" dirty="0"/>
              <a:t>Живой');</a:t>
            </a:r>
            <a:endParaRPr lang="ru-RU" sz="1600" dirty="0"/>
          </a:p>
          <a:p>
            <a:pPr>
              <a:spcAft>
                <a:spcPts val="400"/>
              </a:spcAft>
              <a:buNone/>
            </a:pP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1" dirty="0"/>
              <a:t>Управление циклами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Aft>
                <a:spcPts val="600"/>
              </a:spcAft>
            </a:pPr>
            <a:r>
              <a:rPr lang="ru-RU" sz="2400" b="1" i="1" dirty="0" err="1"/>
              <a:t>Break</a:t>
            </a:r>
            <a:r>
              <a:rPr lang="ru-RU" sz="2400" i="1" dirty="0"/>
              <a:t> прерывает работу цикла. Интерпретатор перейдет к выполнению инструкций, следующих за циклом.</a:t>
            </a:r>
            <a:endParaRPr lang="ru-RU" sz="2400" dirty="0"/>
          </a:p>
          <a:p>
            <a:pPr fontAlgn="base">
              <a:spcAft>
                <a:spcPts val="600"/>
              </a:spcAft>
            </a:pPr>
            <a:r>
              <a:rPr lang="ru-RU" sz="2400" b="1" i="1" dirty="0" err="1"/>
              <a:t>Continue</a:t>
            </a:r>
            <a:r>
              <a:rPr lang="ru-RU" sz="2400" i="1" dirty="0"/>
              <a:t> прерывает выполнение текущей итерации цикла. Цикл продолжит выполняться со следующей итерации.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Массив — это структура, в которой хранится упорядоченный набор данных. Эти данные называются элементами массива. Каждый элемент массива имеет свой уникальный индекс.</a:t>
            </a:r>
            <a:endParaRPr lang="ru-RU" dirty="0"/>
          </a:p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В PHP массив можно создать следующими способами:</a:t>
            </a:r>
            <a:endParaRPr lang="ru-RU" dirty="0"/>
          </a:p>
          <a:p>
            <a:pPr fontAlgn="base"/>
            <a:r>
              <a:rPr lang="ru-RU" i="1" dirty="0"/>
              <a:t>&lt;?</a:t>
            </a:r>
            <a:r>
              <a:rPr lang="ru-RU" i="1" dirty="0" err="1"/>
              <a:t>php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ru-RU" i="1" dirty="0" err="1"/>
              <a:t>zoo</a:t>
            </a:r>
            <a:r>
              <a:rPr lang="ru-RU" i="1" dirty="0"/>
              <a:t>[0] = 'слон';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ru-RU" i="1" dirty="0" err="1"/>
              <a:t>zoo</a:t>
            </a:r>
            <a:r>
              <a:rPr lang="ru-RU" i="1" dirty="0"/>
              <a:t>[6] = 'крокодил';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ru-RU" i="1" dirty="0" err="1"/>
              <a:t>zoo</a:t>
            </a:r>
            <a:r>
              <a:rPr lang="ru-RU" i="1" dirty="0"/>
              <a:t>[4] = 'жираф';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ru-RU" i="1" dirty="0" err="1"/>
              <a:t>zoo</a:t>
            </a:r>
            <a:r>
              <a:rPr lang="ru-RU" i="1" dirty="0"/>
              <a:t>[] = 'осел';  // Индекс равен 7</a:t>
            </a:r>
            <a:endParaRPr lang="ru-RU" dirty="0"/>
          </a:p>
          <a:p>
            <a:pPr fontAlgn="base"/>
            <a:r>
              <a:rPr lang="ru-RU" i="1" dirty="0"/>
              <a:t>  // или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ru-RU" i="1" dirty="0" err="1"/>
              <a:t>zoo</a:t>
            </a:r>
            <a:r>
              <a:rPr lang="ru-RU" i="1" dirty="0"/>
              <a:t> = </a:t>
            </a:r>
            <a:r>
              <a:rPr lang="ru-RU" i="1" dirty="0" err="1"/>
              <a:t>array</a:t>
            </a:r>
            <a:r>
              <a:rPr lang="ru-RU" i="1" dirty="0"/>
              <a:t> ('лев', '</a:t>
            </a:r>
            <a:r>
              <a:rPr lang="ru-RU" i="1" dirty="0" err="1"/>
              <a:t>медвед</a:t>
            </a:r>
            <a:r>
              <a:rPr lang="ru-RU" i="1" dirty="0"/>
              <a:t>', 'обезьяна');</a:t>
            </a:r>
            <a:endParaRPr lang="ru-RU" dirty="0"/>
          </a:p>
          <a:p>
            <a:pPr fontAlgn="base"/>
            <a:r>
              <a:rPr lang="ru-RU" i="1" dirty="0"/>
              <a:t>  </a:t>
            </a:r>
            <a:r>
              <a:rPr lang="ru-RU" i="1" dirty="0" err="1"/>
              <a:t>echo</a:t>
            </a:r>
            <a:r>
              <a:rPr lang="ru-RU" i="1" dirty="0"/>
              <a:t> </a:t>
            </a:r>
            <a:r>
              <a:rPr lang="ru-RU" i="1" dirty="0" err="1"/>
              <a:t>count</a:t>
            </a:r>
            <a:r>
              <a:rPr lang="ru-RU" i="1" dirty="0"/>
              <a:t> ($</a:t>
            </a:r>
            <a:r>
              <a:rPr lang="ru-RU" i="1" dirty="0" err="1"/>
              <a:t>zoo</a:t>
            </a:r>
            <a:r>
              <a:rPr lang="ru-RU" i="1" dirty="0"/>
              <a:t>);   // Количество элементов массива</a:t>
            </a:r>
            <a:endParaRPr lang="ru-RU" dirty="0"/>
          </a:p>
          <a:p>
            <a:pPr fontAlgn="base"/>
            <a:r>
              <a:rPr lang="ru-RU" i="1" dirty="0"/>
              <a:t>?&gt;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В ассоциативных массивах используется не числовой, а строковый индекс.</a:t>
            </a:r>
            <a:endParaRPr lang="ru-RU" dirty="0"/>
          </a:p>
          <a:p>
            <a:pPr fontAlgn="base"/>
            <a:r>
              <a:rPr lang="ru-RU" i="1" dirty="0"/>
              <a:t>&lt;?</a:t>
            </a:r>
            <a:r>
              <a:rPr lang="en-US" i="1" dirty="0" err="1"/>
              <a:t>php</a:t>
            </a:r>
            <a:endParaRPr lang="en-US" dirty="0"/>
          </a:p>
          <a:p>
            <a:pPr fontAlgn="base"/>
            <a:r>
              <a:rPr lang="en-US" i="1" dirty="0"/>
              <a:t>  $pets['dog'] = '</a:t>
            </a:r>
            <a:r>
              <a:rPr lang="ru-RU" i="1" dirty="0"/>
              <a:t>Бульдог';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en-US" i="1" dirty="0"/>
              <a:t>pets['cat'] = '</a:t>
            </a:r>
            <a:r>
              <a:rPr lang="ru-RU" i="1" dirty="0"/>
              <a:t>Шиншилла';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en-US" i="1" dirty="0"/>
              <a:t>pets['fish'] = '</a:t>
            </a:r>
            <a:r>
              <a:rPr lang="ru-RU" i="1" dirty="0"/>
              <a:t>Золотая';</a:t>
            </a:r>
            <a:endParaRPr lang="ru-RU" dirty="0"/>
          </a:p>
          <a:p>
            <a:pPr fontAlgn="base"/>
            <a:r>
              <a:rPr lang="ru-RU" i="1" dirty="0"/>
              <a:t> </a:t>
            </a:r>
            <a:endParaRPr lang="ru-RU" dirty="0"/>
          </a:p>
          <a:p>
            <a:pPr fontAlgn="base"/>
            <a:r>
              <a:rPr lang="ru-RU" i="1" dirty="0"/>
              <a:t>  // или</a:t>
            </a:r>
            <a:endParaRPr lang="ru-RU" dirty="0"/>
          </a:p>
          <a:p>
            <a:pPr fontAlgn="base"/>
            <a:r>
              <a:rPr lang="ru-RU" i="1" dirty="0"/>
              <a:t>  $</a:t>
            </a:r>
            <a:r>
              <a:rPr lang="en-US" i="1" dirty="0"/>
              <a:t>pets = array ('lizard' =&gt; '</a:t>
            </a:r>
            <a:r>
              <a:rPr lang="ru-RU" i="1" dirty="0"/>
              <a:t>Игуана',</a:t>
            </a:r>
            <a:endParaRPr lang="ru-RU" dirty="0"/>
          </a:p>
          <a:p>
            <a:pPr fontAlgn="base"/>
            <a:r>
              <a:rPr lang="ru-RU" i="1" dirty="0"/>
              <a:t>  '</a:t>
            </a:r>
            <a:r>
              <a:rPr lang="en-US" i="1" dirty="0"/>
              <a:t>spider' =&gt; '</a:t>
            </a:r>
            <a:r>
              <a:rPr lang="ru-RU" i="1" dirty="0"/>
              <a:t>Черная вдова',</a:t>
            </a:r>
            <a:endParaRPr lang="ru-RU" dirty="0"/>
          </a:p>
          <a:p>
            <a:pPr fontAlgn="base"/>
            <a:r>
              <a:rPr lang="ru-RU" i="1" dirty="0"/>
              <a:t>  '</a:t>
            </a:r>
            <a:r>
              <a:rPr lang="en-US" i="1" dirty="0"/>
              <a:t>parrot' =&gt; '</a:t>
            </a:r>
            <a:r>
              <a:rPr lang="ru-RU" i="1" dirty="0"/>
              <a:t>Ара');</a:t>
            </a:r>
            <a:endParaRPr lang="ru-RU" dirty="0"/>
          </a:p>
          <a:p>
            <a:pPr fontAlgn="base"/>
            <a:r>
              <a:rPr lang="ru-RU" i="1" dirty="0"/>
              <a:t>  </a:t>
            </a:r>
            <a:r>
              <a:rPr lang="en-US" i="1" dirty="0" err="1"/>
              <a:t>print_r</a:t>
            </a:r>
            <a:r>
              <a:rPr lang="en-US" i="1" dirty="0"/>
              <a:t> ($pets);  // </a:t>
            </a:r>
            <a:r>
              <a:rPr lang="ru-RU" i="1" dirty="0"/>
              <a:t>Печать массива</a:t>
            </a:r>
            <a:endParaRPr lang="ru-RU" dirty="0"/>
          </a:p>
          <a:p>
            <a:pPr fontAlgn="base"/>
            <a:r>
              <a:rPr lang="ru-RU" i="1" dirty="0"/>
              <a:t>?&gt;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i="1" dirty="0"/>
              <a:t>Массив называется многомерным тогда, когда в качестве его элементов выступают не только скалярные величины, но и сами массивы.</a:t>
            </a:r>
            <a:endParaRPr lang="ru-RU" dirty="0"/>
          </a:p>
          <a:p>
            <a:pPr fontAlgn="base"/>
            <a:r>
              <a:rPr lang="ru-RU" i="1" dirty="0"/>
              <a:t>&lt;?</a:t>
            </a:r>
            <a:r>
              <a:rPr lang="en-US" i="1" dirty="0" err="1"/>
              <a:t>php</a:t>
            </a:r>
            <a:endParaRPr lang="en-US" dirty="0"/>
          </a:p>
          <a:p>
            <a:pPr fontAlgn="base"/>
            <a:r>
              <a:rPr lang="en-US" i="1" dirty="0"/>
              <a:t>  $users = array (</a:t>
            </a:r>
            <a:endParaRPr lang="en-US" dirty="0"/>
          </a:p>
          <a:p>
            <a:pPr fontAlgn="base"/>
            <a:r>
              <a:rPr lang="en-US" i="1" dirty="0"/>
              <a:t>  0 =&gt; array (</a:t>
            </a:r>
            <a:endParaRPr lang="en-US" dirty="0"/>
          </a:p>
          <a:p>
            <a:pPr fontAlgn="base"/>
            <a:r>
              <a:rPr lang="en-US" i="1" dirty="0"/>
              <a:t>  'login' =&gt; 'admin',</a:t>
            </a:r>
            <a:endParaRPr lang="en-US" dirty="0"/>
          </a:p>
          <a:p>
            <a:pPr fontAlgn="base"/>
            <a:r>
              <a:rPr lang="en-US" i="1" dirty="0"/>
              <a:t>  'password' =&gt; '</a:t>
            </a:r>
            <a:r>
              <a:rPr lang="en-US" i="1" dirty="0" err="1"/>
              <a:t>hskdfuegefdjfdg</a:t>
            </a:r>
            <a:r>
              <a:rPr lang="en-US" i="1" dirty="0"/>
              <a:t>'</a:t>
            </a:r>
            <a:endParaRPr lang="en-US" dirty="0"/>
          </a:p>
          <a:p>
            <a:pPr fontAlgn="base"/>
            <a:r>
              <a:rPr lang="en-US" i="1" dirty="0"/>
              <a:t>  ),</a:t>
            </a:r>
            <a:endParaRPr lang="en-US" dirty="0"/>
          </a:p>
          <a:p>
            <a:pPr fontAlgn="base"/>
            <a:r>
              <a:rPr lang="en-US" i="1" dirty="0"/>
              <a:t>  1 =&gt; array (</a:t>
            </a:r>
            <a:endParaRPr lang="en-US" dirty="0"/>
          </a:p>
          <a:p>
            <a:pPr fontAlgn="base"/>
            <a:r>
              <a:rPr lang="en-US" i="1" dirty="0"/>
              <a:t>  'login' =&gt; '</a:t>
            </a:r>
            <a:r>
              <a:rPr lang="en-US" i="1" dirty="0" err="1"/>
              <a:t>telo</a:t>
            </a:r>
            <a:r>
              <a:rPr lang="en-US" i="1" dirty="0"/>
              <a:t>',</a:t>
            </a:r>
            <a:endParaRPr lang="en-US" dirty="0"/>
          </a:p>
          <a:p>
            <a:pPr fontAlgn="base"/>
            <a:r>
              <a:rPr lang="en-US" i="1" dirty="0"/>
              <a:t>  'password' =&gt; '</a:t>
            </a:r>
            <a:r>
              <a:rPr lang="en-US" i="1" dirty="0" err="1"/>
              <a:t>ppqmcnvkfghye</a:t>
            </a:r>
            <a:r>
              <a:rPr lang="en-US" i="1" dirty="0"/>
              <a:t>'</a:t>
            </a:r>
            <a:endParaRPr lang="en-US" dirty="0"/>
          </a:p>
          <a:p>
            <a:pPr fontAlgn="base"/>
            <a:r>
              <a:rPr lang="en-US" i="1" dirty="0"/>
              <a:t>    )</a:t>
            </a:r>
            <a:endParaRPr lang="en-US" dirty="0"/>
          </a:p>
          <a:p>
            <a:pPr fontAlgn="base"/>
            <a:r>
              <a:rPr lang="en-US" i="1" dirty="0"/>
              <a:t>  );</a:t>
            </a:r>
            <a:endParaRPr lang="en-US" dirty="0"/>
          </a:p>
          <a:p>
            <a:pPr fontAlgn="base"/>
            <a:r>
              <a:rPr lang="en-US" i="1" dirty="0"/>
              <a:t>  echo $users[0]['login'];  // admin</a:t>
            </a:r>
            <a:endParaRPr lang="en-US" dirty="0"/>
          </a:p>
          <a:p>
            <a:pPr fontAlgn="base"/>
            <a:r>
              <a:rPr lang="en-US" i="1" dirty="0"/>
              <a:t>?&gt;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массива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1340768"/>
            <a:ext cx="6347714" cy="5256584"/>
          </a:xfrm>
        </p:spPr>
        <p:txBody>
          <a:bodyPr>
            <a:noAutofit/>
          </a:bodyPr>
          <a:lstStyle/>
          <a:p>
            <a:pPr fontAlgn="base">
              <a:spcAft>
                <a:spcPts val="600"/>
              </a:spcAft>
              <a:buNone/>
            </a:pPr>
            <a:r>
              <a:rPr lang="ru-RU" sz="1600" i="1" dirty="0"/>
              <a:t>Указанные действия выполняются для </a:t>
            </a:r>
            <a:r>
              <a:rPr lang="ru-RU" sz="1600" b="1" i="1" dirty="0"/>
              <a:t>каждого </a:t>
            </a:r>
            <a:r>
              <a:rPr lang="ru-RU" sz="1600" i="1" dirty="0"/>
              <a:t>элемента массива $</a:t>
            </a:r>
            <a:r>
              <a:rPr lang="en-US" sz="1600" i="1" dirty="0"/>
              <a:t>array, </a:t>
            </a:r>
            <a:r>
              <a:rPr lang="ru-RU" sz="1600" i="1" dirty="0"/>
              <a:t>при этом</a:t>
            </a:r>
            <a:r>
              <a:rPr lang="ru-RU" sz="1600" b="1" i="1" dirty="0"/>
              <a:t> </a:t>
            </a:r>
            <a:r>
              <a:rPr lang="ru-RU" sz="1600" i="1" dirty="0"/>
              <a:t>$</a:t>
            </a:r>
            <a:r>
              <a:rPr lang="en-US" sz="1600" i="1" dirty="0"/>
              <a:t>key — </a:t>
            </a:r>
            <a:r>
              <a:rPr lang="ru-RU" sz="1600" i="1" dirty="0"/>
              <a:t>номер элемента массива $</a:t>
            </a:r>
            <a:r>
              <a:rPr lang="en-US" sz="1600" i="1" dirty="0"/>
              <a:t>array, $value — </a:t>
            </a:r>
            <a:r>
              <a:rPr lang="ru-RU" sz="1600" i="1" dirty="0"/>
              <a:t>значение этого элемента.</a:t>
            </a:r>
            <a:endParaRPr lang="ru-RU" sz="1600" dirty="0"/>
          </a:p>
          <a:p>
            <a:pPr fontAlgn="base"/>
            <a:r>
              <a:rPr lang="en-US" sz="1600" b="1" i="1" dirty="0" err="1"/>
              <a:t>foreach</a:t>
            </a:r>
            <a:r>
              <a:rPr lang="en-US" sz="1600" i="1" dirty="0"/>
              <a:t> ($array as [ $key =&gt; ] $value)</a:t>
            </a:r>
            <a:endParaRPr lang="ru-RU" sz="1600" dirty="0"/>
          </a:p>
          <a:p>
            <a:pPr fontAlgn="base"/>
            <a:r>
              <a:rPr lang="ru-RU" sz="1600" i="1" dirty="0"/>
              <a:t>  </a:t>
            </a:r>
            <a:r>
              <a:rPr lang="en-US" sz="1600" i="1" dirty="0"/>
              <a:t>{  </a:t>
            </a:r>
            <a:r>
              <a:rPr lang="ru-RU" sz="1600" i="1" dirty="0"/>
              <a:t>Действия;...</a:t>
            </a:r>
            <a:endParaRPr lang="ru-RU" sz="1600" dirty="0"/>
          </a:p>
          <a:p>
            <a:pPr fontAlgn="base"/>
            <a:r>
              <a:rPr lang="ru-RU" sz="1600" i="1" dirty="0"/>
              <a:t>}</a:t>
            </a:r>
          </a:p>
          <a:p>
            <a:pPr fontAlgn="base">
              <a:lnSpc>
                <a:spcPct val="120000"/>
              </a:lnSpc>
            </a:pPr>
            <a:endParaRPr lang="ru-RU" sz="1100" dirty="0"/>
          </a:p>
          <a:p>
            <a:pPr fontAlgn="base"/>
            <a:r>
              <a:rPr lang="ru-RU" sz="1600" i="1" dirty="0"/>
              <a:t>&lt;?</a:t>
            </a:r>
            <a:r>
              <a:rPr lang="en-US" sz="1600" i="1" dirty="0" err="1"/>
              <a:t>php</a:t>
            </a:r>
            <a:endParaRPr lang="en-US" sz="1600" dirty="0"/>
          </a:p>
          <a:p>
            <a:pPr fontAlgn="base"/>
            <a:r>
              <a:rPr lang="en-US" sz="1600" i="1" dirty="0"/>
              <a:t>  $pets[] = '</a:t>
            </a:r>
            <a:r>
              <a:rPr lang="ru-RU" sz="1600" i="1" dirty="0"/>
              <a:t>Собака';</a:t>
            </a:r>
            <a:endParaRPr lang="ru-RU" sz="1600" dirty="0"/>
          </a:p>
          <a:p>
            <a:pPr fontAlgn="base"/>
            <a:r>
              <a:rPr lang="ru-RU" sz="1600" i="1" dirty="0"/>
              <a:t>  $</a:t>
            </a:r>
            <a:r>
              <a:rPr lang="en-US" sz="1600" i="1" dirty="0"/>
              <a:t>pets[] = '</a:t>
            </a:r>
            <a:r>
              <a:rPr lang="ru-RU" sz="1600" i="1" dirty="0" err="1"/>
              <a:t>Кошак</a:t>
            </a:r>
            <a:r>
              <a:rPr lang="ru-RU" sz="1600" i="1" dirty="0"/>
              <a:t>';</a:t>
            </a:r>
            <a:endParaRPr lang="ru-RU" sz="1600" dirty="0"/>
          </a:p>
          <a:p>
            <a:pPr fontAlgn="base"/>
            <a:r>
              <a:rPr lang="ru-RU" sz="1600" i="1" dirty="0"/>
              <a:t>  $</a:t>
            </a:r>
            <a:r>
              <a:rPr lang="en-US" sz="1600" i="1" dirty="0"/>
              <a:t>pets[] = '</a:t>
            </a:r>
            <a:r>
              <a:rPr lang="ru-RU" sz="1600" i="1" dirty="0"/>
              <a:t>Рыбка';</a:t>
            </a:r>
            <a:endParaRPr lang="ru-RU" sz="1600" dirty="0"/>
          </a:p>
          <a:p>
            <a:pPr fontAlgn="base"/>
            <a:r>
              <a:rPr lang="ru-RU" sz="1600" i="1" dirty="0"/>
              <a:t>  </a:t>
            </a:r>
            <a:r>
              <a:rPr lang="en-US" sz="1600" b="1" i="1" dirty="0" err="1"/>
              <a:t>foreach</a:t>
            </a:r>
            <a:r>
              <a:rPr lang="en-US" sz="1600" i="1" dirty="0"/>
              <a:t> ($pets as $index =&gt; $value) </a:t>
            </a:r>
            <a:r>
              <a:rPr lang="ru-RU" sz="1600" i="1" dirty="0"/>
              <a:t/>
            </a:r>
            <a:br>
              <a:rPr lang="ru-RU" sz="1600" i="1" dirty="0"/>
            </a:br>
            <a:r>
              <a:rPr lang="en-US" sz="1600" i="1" dirty="0"/>
              <a:t>{ echo "</a:t>
            </a:r>
            <a:r>
              <a:rPr lang="ru-RU" sz="1600" i="1" dirty="0"/>
              <a:t>Элемент №$</a:t>
            </a:r>
            <a:r>
              <a:rPr lang="en-US" sz="1600" i="1" dirty="0"/>
              <a:t>index </a:t>
            </a:r>
            <a:r>
              <a:rPr lang="ru-RU" sz="1600" i="1" dirty="0"/>
              <a:t>имеет значение: \"$</a:t>
            </a:r>
            <a:r>
              <a:rPr lang="en-US" sz="1600" i="1" dirty="0"/>
              <a:t>value\"&lt;</a:t>
            </a:r>
            <a:r>
              <a:rPr lang="en-US" sz="1600" i="1" dirty="0" err="1"/>
              <a:t>br</a:t>
            </a:r>
            <a:r>
              <a:rPr lang="en-US" sz="1600" i="1" dirty="0"/>
              <a:t>&gt;“; }</a:t>
            </a:r>
            <a:endParaRPr lang="en-US" sz="1600" dirty="0"/>
          </a:p>
          <a:p>
            <a:pPr fontAlgn="base"/>
            <a:r>
              <a:rPr lang="en-US" sz="1600" i="1" dirty="0"/>
              <a:t>?&gt;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массивом</a:t>
            </a:r>
          </a:p>
        </p:txBody>
      </p:sp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xmlns="" id="{40D0D59A-F20B-45C3-A79F-FACD934EF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182494"/>
              </p:ext>
            </p:extLst>
          </p:nvPr>
        </p:nvGraphicFramePr>
        <p:xfrm>
          <a:off x="539065" y="2270194"/>
          <a:ext cx="8117920" cy="782765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50313">
                  <a:extLst>
                    <a:ext uri="{9D8B030D-6E8A-4147-A177-3AD203B41FA5}">
                      <a16:colId xmlns:a16="http://schemas.microsoft.com/office/drawing/2014/main" xmlns="" val="2036236309"/>
                    </a:ext>
                  </a:extLst>
                </a:gridCol>
                <a:gridCol w="7867607">
                  <a:extLst>
                    <a:ext uri="{9D8B030D-6E8A-4147-A177-3AD203B41FA5}">
                      <a16:colId xmlns:a16="http://schemas.microsoft.com/office/drawing/2014/main" xmlns="" val="1293400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>
                          <a:effectLst/>
                        </a:rPr>
                        <a:t>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>
                          <a:effectLst/>
                        </a:rPr>
                        <a:t>2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>
                          <a:effectLst/>
                        </a:rPr>
                        <a:t>3</a:t>
                      </a:r>
                      <a:endParaRPr lang="ru-RU" sz="16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$</a:t>
                      </a:r>
                      <a:r>
                        <a:rPr lang="ru-RU" sz="1600" b="0" i="1" dirty="0" err="1">
                          <a:effectLst/>
                        </a:rPr>
                        <a:t>number</a:t>
                      </a:r>
                      <a:r>
                        <a:rPr lang="ru-RU" sz="1600" b="0" i="1" dirty="0">
                          <a:effectLst/>
                        </a:rPr>
                        <a:t> = </a:t>
                      </a:r>
                      <a:r>
                        <a:rPr lang="ru-RU" sz="1600" b="0" i="1" dirty="0" err="1">
                          <a:effectLst/>
                        </a:rPr>
                        <a:t>count</a:t>
                      </a:r>
                      <a:r>
                        <a:rPr lang="ru-RU" sz="1600" b="0" i="1" dirty="0">
                          <a:effectLst/>
                        </a:rPr>
                        <a:t>($</a:t>
                      </a:r>
                      <a:r>
                        <a:rPr lang="ru-RU" sz="1600" b="0" i="1" dirty="0" err="1">
                          <a:effectLst/>
                        </a:rPr>
                        <a:t>technics</a:t>
                      </a:r>
                      <a:r>
                        <a:rPr lang="ru-RU" sz="1600" b="0" i="1" dirty="0">
                          <a:effectLst/>
                        </a:rPr>
                        <a:t>);</a:t>
                      </a:r>
                    </a:p>
                    <a:p>
                      <a:pPr marL="10731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// то же самое, что $</a:t>
                      </a:r>
                      <a:r>
                        <a:rPr lang="ru-RU" sz="1600" b="0" i="1" dirty="0" err="1">
                          <a:effectLst/>
                        </a:rPr>
                        <a:t>number</a:t>
                      </a:r>
                      <a:r>
                        <a:rPr lang="ru-RU" sz="1600" b="0" i="1" dirty="0">
                          <a:effectLst/>
                        </a:rPr>
                        <a:t> = </a:t>
                      </a:r>
                      <a:r>
                        <a:rPr lang="ru-RU" sz="1600" b="0" i="1" dirty="0" err="1">
                          <a:effectLst/>
                        </a:rPr>
                        <a:t>sizeof</a:t>
                      </a:r>
                      <a:r>
                        <a:rPr lang="ru-RU" sz="1600" b="0" i="1" dirty="0">
                          <a:effectLst/>
                        </a:rPr>
                        <a:t>($</a:t>
                      </a:r>
                      <a:r>
                        <a:rPr lang="ru-RU" sz="1600" b="0" i="1" dirty="0" err="1">
                          <a:effectLst/>
                        </a:rPr>
                        <a:t>technics</a:t>
                      </a:r>
                      <a:r>
                        <a:rPr lang="ru-RU" sz="1600" b="0" i="1" dirty="0">
                          <a:effectLst/>
                        </a:rPr>
                        <a:t>);</a:t>
                      </a:r>
                    </a:p>
                    <a:p>
                      <a:pPr marL="10731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 err="1">
                          <a:effectLst/>
                        </a:rPr>
                        <a:t>echo</a:t>
                      </a:r>
                      <a:r>
                        <a:rPr lang="ru-RU" sz="1600" b="0" i="1" dirty="0">
                          <a:effectLst/>
                        </a:rPr>
                        <a:t> "В массиве </a:t>
                      </a:r>
                      <a:r>
                        <a:rPr lang="ru-RU" sz="1600" b="0" i="1" dirty="0" err="1">
                          <a:effectLst/>
                        </a:rPr>
                        <a:t>technics</a:t>
                      </a:r>
                      <a:r>
                        <a:rPr lang="ru-RU" sz="1600" b="0" i="1" dirty="0">
                          <a:effectLst/>
                        </a:rPr>
                        <a:t> $</a:t>
                      </a:r>
                      <a:r>
                        <a:rPr lang="ru-RU" sz="1600" b="0" i="1" dirty="0" err="1">
                          <a:effectLst/>
                        </a:rPr>
                        <a:t>number</a:t>
                      </a:r>
                      <a:r>
                        <a:rPr lang="ru-RU" sz="1600" b="0" i="1" dirty="0">
                          <a:effectLst/>
                        </a:rPr>
                        <a:t> элементов";</a:t>
                      </a:r>
                      <a:endParaRPr lang="ru-RU" sz="1600" b="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3957714523"/>
                  </a:ext>
                </a:extLst>
              </a:tr>
            </a:tbl>
          </a:graphicData>
        </a:graphic>
      </p:graphicFrame>
      <p:sp>
        <p:nvSpPr>
          <p:cNvPr id="19" name="Rectangle 2">
            <a:extLst>
              <a:ext uri="{FF2B5EF4-FFF2-40B4-BE49-F238E27FC236}">
                <a16:creationId xmlns:a16="http://schemas.microsoft.com/office/drawing/2014/main" xmlns="" id="{ABE99011-514E-4826-B9AE-83BB45FE0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76" y="1300697"/>
            <a:ext cx="81838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is_array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is_array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проверяет, является ли переменная массивом, и если является, то возвращает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иначе возвращает </a:t>
            </a:r>
            <a:r>
              <a:rPr kumimoji="0" lang="ru-RU" altLang="ru-RU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false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A21A946F-B142-4F77-A458-DFA89491D203}"/>
              </a:ext>
            </a:extLst>
          </p:cNvPr>
          <p:cNvSpPr/>
          <p:nvPr/>
        </p:nvSpPr>
        <p:spPr>
          <a:xfrm>
            <a:off x="539065" y="3120060"/>
            <a:ext cx="8183880" cy="1258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b="1" dirty="0">
                <a:cs typeface="Times New Roman" panose="02020603050405020304" pitchFamily="18" charset="0"/>
              </a:rPr>
              <a:t>Функции </a:t>
            </a:r>
            <a:r>
              <a:rPr lang="ru-RU" b="1" dirty="0" err="1">
                <a:cs typeface="Times New Roman" panose="02020603050405020304" pitchFamily="18" charset="0"/>
              </a:rPr>
              <a:t>compact</a:t>
            </a:r>
            <a:endParaRPr lang="ru-RU" b="1" dirty="0"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cs typeface="Times New Roman" panose="02020603050405020304" pitchFamily="18" charset="0"/>
              </a:rPr>
              <a:t>Функция </a:t>
            </a:r>
            <a:r>
              <a:rPr lang="ru-RU" i="1" dirty="0" err="1">
                <a:cs typeface="Courier New" panose="02070309020205020404" pitchFamily="49" charset="0"/>
              </a:rPr>
              <a:t>compact</a:t>
            </a:r>
            <a:r>
              <a:rPr lang="ru-RU" dirty="0">
                <a:cs typeface="Times New Roman" panose="02020603050405020304" pitchFamily="18" charset="0"/>
              </a:rPr>
              <a:t> позволяет создать из набора переменных ассоциативный массив, где ключами будут сами имена переменных:</a:t>
            </a: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xmlns="" id="{D292F4D6-A23A-4EAE-8B5F-C0B623AF5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59846"/>
              </p:ext>
            </p:extLst>
          </p:nvPr>
        </p:nvGraphicFramePr>
        <p:xfrm>
          <a:off x="539065" y="4403757"/>
          <a:ext cx="8112359" cy="1833555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360527">
                  <a:extLst>
                    <a:ext uri="{9D8B030D-6E8A-4147-A177-3AD203B41FA5}">
                      <a16:colId xmlns:a16="http://schemas.microsoft.com/office/drawing/2014/main" xmlns="" val="2715496949"/>
                    </a:ext>
                  </a:extLst>
                </a:gridCol>
                <a:gridCol w="7751832">
                  <a:extLst>
                    <a:ext uri="{9D8B030D-6E8A-4147-A177-3AD203B41FA5}">
                      <a16:colId xmlns:a16="http://schemas.microsoft.com/office/drawing/2014/main" xmlns="" val="3383842486"/>
                    </a:ext>
                  </a:extLst>
                </a:gridCol>
              </a:tblGrid>
              <a:tr h="18335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1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2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3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4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5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6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7</a:t>
                      </a:r>
                      <a:endParaRPr lang="ru-RU" sz="1600" b="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1445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$</a:t>
                      </a:r>
                      <a:r>
                        <a:rPr lang="ru-RU" sz="1600" b="0" i="1" dirty="0" err="1">
                          <a:effectLst/>
                        </a:rPr>
                        <a:t>model</a:t>
                      </a:r>
                      <a:r>
                        <a:rPr lang="ru-RU" sz="1600" b="0" i="1" dirty="0">
                          <a:effectLst/>
                        </a:rPr>
                        <a:t> = "</a:t>
                      </a:r>
                      <a:r>
                        <a:rPr lang="ru-RU" sz="1600" b="0" i="1" dirty="0" err="1">
                          <a:effectLst/>
                        </a:rPr>
                        <a:t>Apple</a:t>
                      </a:r>
                      <a:r>
                        <a:rPr lang="ru-RU" sz="1600" b="0" i="1" dirty="0">
                          <a:effectLst/>
                        </a:rPr>
                        <a:t> II";</a:t>
                      </a:r>
                    </a:p>
                    <a:p>
                      <a:pPr marL="131445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$</a:t>
                      </a:r>
                      <a:r>
                        <a:rPr lang="ru-RU" sz="1600" b="0" i="1" dirty="0" err="1">
                          <a:effectLst/>
                        </a:rPr>
                        <a:t>producer</a:t>
                      </a:r>
                      <a:r>
                        <a:rPr lang="ru-RU" sz="1600" b="0" i="1" dirty="0">
                          <a:effectLst/>
                        </a:rPr>
                        <a:t> = "</a:t>
                      </a:r>
                      <a:r>
                        <a:rPr lang="ru-RU" sz="1600" b="0" i="1" dirty="0" err="1">
                          <a:effectLst/>
                        </a:rPr>
                        <a:t>Apple</a:t>
                      </a:r>
                      <a:r>
                        <a:rPr lang="ru-RU" sz="1600" b="0" i="1" dirty="0">
                          <a:effectLst/>
                        </a:rPr>
                        <a:t>";</a:t>
                      </a:r>
                    </a:p>
                    <a:p>
                      <a:pPr marL="131445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$</a:t>
                      </a:r>
                      <a:r>
                        <a:rPr lang="ru-RU" sz="1600" b="0" i="1" dirty="0" err="1">
                          <a:effectLst/>
                        </a:rPr>
                        <a:t>year</a:t>
                      </a:r>
                      <a:r>
                        <a:rPr lang="ru-RU" sz="1600" b="0" i="1" dirty="0">
                          <a:effectLst/>
                        </a:rPr>
                        <a:t> = 1978;</a:t>
                      </a:r>
                    </a:p>
                    <a:p>
                      <a:pPr marL="131445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$</a:t>
                      </a:r>
                      <a:r>
                        <a:rPr lang="ru-RU" sz="1600" b="0" i="1" dirty="0" err="1">
                          <a:effectLst/>
                        </a:rPr>
                        <a:t>data</a:t>
                      </a:r>
                      <a:r>
                        <a:rPr lang="ru-RU" sz="1600" b="0" i="1" dirty="0">
                          <a:effectLst/>
                        </a:rPr>
                        <a:t> = </a:t>
                      </a:r>
                      <a:r>
                        <a:rPr lang="ru-RU" sz="1600" b="0" i="1" dirty="0" err="1">
                          <a:effectLst/>
                        </a:rPr>
                        <a:t>compact</a:t>
                      </a:r>
                      <a:r>
                        <a:rPr lang="ru-RU" sz="1600" b="0" i="1" dirty="0">
                          <a:effectLst/>
                        </a:rPr>
                        <a:t>('</a:t>
                      </a:r>
                      <a:r>
                        <a:rPr lang="ru-RU" sz="1600" b="0" i="1" dirty="0" err="1">
                          <a:effectLst/>
                        </a:rPr>
                        <a:t>model</a:t>
                      </a:r>
                      <a:r>
                        <a:rPr lang="ru-RU" sz="1600" b="0" i="1" dirty="0">
                          <a:effectLst/>
                        </a:rPr>
                        <a:t>', '</a:t>
                      </a:r>
                      <a:r>
                        <a:rPr lang="ru-RU" sz="1600" b="0" i="1" dirty="0" err="1">
                          <a:effectLst/>
                        </a:rPr>
                        <a:t>producer</a:t>
                      </a:r>
                      <a:r>
                        <a:rPr lang="ru-RU" sz="1600" b="0" i="1" dirty="0">
                          <a:effectLst/>
                        </a:rPr>
                        <a:t>', '</a:t>
                      </a:r>
                      <a:r>
                        <a:rPr lang="ru-RU" sz="1600" b="0" i="1" dirty="0" err="1">
                          <a:effectLst/>
                        </a:rPr>
                        <a:t>year</a:t>
                      </a:r>
                      <a:r>
                        <a:rPr lang="ru-RU" sz="1600" b="0" i="1" dirty="0">
                          <a:effectLst/>
                        </a:rPr>
                        <a:t>’);</a:t>
                      </a:r>
                    </a:p>
                    <a:p>
                      <a:pPr marL="131445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 err="1">
                          <a:effectLst/>
                        </a:rPr>
                        <a:t>print_r</a:t>
                      </a:r>
                      <a:r>
                        <a:rPr lang="ru-RU" sz="1600" b="0" i="1" dirty="0">
                          <a:effectLst/>
                        </a:rPr>
                        <a:t>($</a:t>
                      </a:r>
                      <a:r>
                        <a:rPr lang="ru-RU" sz="1600" b="0" i="1" dirty="0" err="1">
                          <a:effectLst/>
                        </a:rPr>
                        <a:t>data</a:t>
                      </a:r>
                      <a:r>
                        <a:rPr lang="ru-RU" sz="1600" b="0" i="1" dirty="0">
                          <a:effectLst/>
                        </a:rPr>
                        <a:t>);</a:t>
                      </a:r>
                    </a:p>
                    <a:p>
                      <a:pPr marL="131445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 dirty="0">
                          <a:effectLst/>
                        </a:rPr>
                        <a:t>// вывод: </a:t>
                      </a:r>
                      <a:r>
                        <a:rPr lang="ru-RU" sz="1600" b="0" i="1" dirty="0" err="1">
                          <a:effectLst/>
                        </a:rPr>
                        <a:t>Array</a:t>
                      </a:r>
                      <a:r>
                        <a:rPr lang="ru-RU" sz="1600" b="0" i="1" dirty="0">
                          <a:effectLst/>
                        </a:rPr>
                        <a:t> ( [</a:t>
                      </a:r>
                      <a:r>
                        <a:rPr lang="ru-RU" sz="1600" b="0" i="1" dirty="0" err="1">
                          <a:effectLst/>
                        </a:rPr>
                        <a:t>model</a:t>
                      </a:r>
                      <a:r>
                        <a:rPr lang="ru-RU" sz="1600" b="0" i="1" dirty="0">
                          <a:effectLst/>
                        </a:rPr>
                        <a:t>] =&gt; </a:t>
                      </a:r>
                      <a:r>
                        <a:rPr lang="ru-RU" sz="1600" b="0" i="1" dirty="0" err="1">
                          <a:effectLst/>
                        </a:rPr>
                        <a:t>Apple</a:t>
                      </a:r>
                      <a:r>
                        <a:rPr lang="ru-RU" sz="1600" b="0" i="1" dirty="0">
                          <a:effectLst/>
                        </a:rPr>
                        <a:t> II [</a:t>
                      </a:r>
                      <a:r>
                        <a:rPr lang="ru-RU" sz="1600" b="0" i="1" dirty="0" err="1">
                          <a:effectLst/>
                        </a:rPr>
                        <a:t>producer</a:t>
                      </a:r>
                      <a:r>
                        <a:rPr lang="ru-RU" sz="1600" b="0" i="1" dirty="0">
                          <a:effectLst/>
                        </a:rPr>
                        <a:t>] =&gt; </a:t>
                      </a:r>
                      <a:r>
                        <a:rPr lang="ru-RU" sz="1600" b="0" i="1" dirty="0" err="1">
                          <a:effectLst/>
                        </a:rPr>
                        <a:t>Apple</a:t>
                      </a:r>
                      <a:r>
                        <a:rPr lang="ru-RU" sz="1600" b="0" i="1" dirty="0">
                          <a:effectLst/>
                        </a:rPr>
                        <a:t> [</a:t>
                      </a:r>
                      <a:r>
                        <a:rPr lang="ru-RU" sz="1600" b="0" i="1" dirty="0" err="1">
                          <a:effectLst/>
                        </a:rPr>
                        <a:t>year</a:t>
                      </a:r>
                      <a:r>
                        <a:rPr lang="ru-RU" sz="1600" b="0" i="1" dirty="0">
                          <a:effectLst/>
                        </a:rPr>
                        <a:t>] =&gt; 1978 )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2288975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36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массивом</a:t>
            </a:r>
          </a:p>
        </p:txBody>
      </p:sp>
      <p:graphicFrame>
        <p:nvGraphicFramePr>
          <p:cNvPr id="12" name="Объект 16">
            <a:extLst>
              <a:ext uri="{FF2B5EF4-FFF2-40B4-BE49-F238E27FC236}">
                <a16:creationId xmlns:a16="http://schemas.microsoft.com/office/drawing/2014/main" xmlns="" id="{389C5F1C-4FE7-4D2A-972D-1E2C6E3ED1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801215"/>
              </p:ext>
            </p:extLst>
          </p:nvPr>
        </p:nvGraphicFramePr>
        <p:xfrm>
          <a:off x="567640" y="2302040"/>
          <a:ext cx="8117920" cy="521843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3529">
                  <a:extLst>
                    <a:ext uri="{9D8B030D-6E8A-4147-A177-3AD203B41FA5}">
                      <a16:colId xmlns:a16="http://schemas.microsoft.com/office/drawing/2014/main" xmlns="" val="314045853"/>
                    </a:ext>
                  </a:extLst>
                </a:gridCol>
                <a:gridCol w="7904391">
                  <a:extLst>
                    <a:ext uri="{9D8B030D-6E8A-4147-A177-3AD203B41FA5}">
                      <a16:colId xmlns:a16="http://schemas.microsoft.com/office/drawing/2014/main" xmlns="" val="13731377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>
                          <a:effectLst/>
                        </a:rPr>
                        <a:t>1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1">
                          <a:effectLst/>
                        </a:rPr>
                        <a:t>2</a:t>
                      </a:r>
                      <a:endParaRPr lang="ru-RU" sz="16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effectLst/>
                        </a:rPr>
                        <a:t>$</a:t>
                      </a:r>
                      <a:r>
                        <a:rPr lang="en-US" sz="1600" b="0" i="1" dirty="0" err="1">
                          <a:effectLst/>
                        </a:rPr>
                        <a:t>isar</a:t>
                      </a:r>
                      <a:r>
                        <a:rPr lang="en-US" sz="1600" b="0" i="1" dirty="0">
                          <a:effectLst/>
                        </a:rPr>
                        <a:t> = </a:t>
                      </a:r>
                      <a:r>
                        <a:rPr lang="en-US" sz="1600" b="0" i="1" dirty="0" err="1">
                          <a:effectLst/>
                        </a:rPr>
                        <a:t>is_array</a:t>
                      </a:r>
                      <a:r>
                        <a:rPr lang="en-US" sz="1600" b="0" i="1" dirty="0">
                          <a:effectLst/>
                        </a:rPr>
                        <a:t>($technics);</a:t>
                      </a:r>
                      <a:endParaRPr lang="ru-RU" sz="1600" b="0" i="1" dirty="0">
                        <a:effectLst/>
                      </a:endParaRPr>
                    </a:p>
                    <a:p>
                      <a:pPr marL="107315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="0" i="1" dirty="0">
                          <a:effectLst/>
                        </a:rPr>
                        <a:t>echo ($</a:t>
                      </a:r>
                      <a:r>
                        <a:rPr lang="en-US" sz="1600" b="0" i="1" dirty="0" err="1">
                          <a:effectLst/>
                        </a:rPr>
                        <a:t>isar</a:t>
                      </a:r>
                      <a:r>
                        <a:rPr lang="en-US" sz="1600" b="0" i="1" dirty="0">
                          <a:effectLst/>
                        </a:rPr>
                        <a:t>==true)?"</a:t>
                      </a:r>
                      <a:r>
                        <a:rPr lang="ru-RU" sz="1600" b="0" i="1" dirty="0">
                          <a:effectLst/>
                        </a:rPr>
                        <a:t>это массив</a:t>
                      </a:r>
                      <a:r>
                        <a:rPr lang="en-US" sz="1600" b="0" i="1" dirty="0">
                          <a:effectLst/>
                        </a:rPr>
                        <a:t>":"</a:t>
                      </a:r>
                      <a:r>
                        <a:rPr lang="ru-RU" sz="1600" b="0" i="1" dirty="0">
                          <a:effectLst/>
                        </a:rPr>
                        <a:t>это не массив</a:t>
                      </a:r>
                      <a:r>
                        <a:rPr lang="en-US" sz="1600" b="0" i="1" dirty="0">
                          <a:effectLst/>
                        </a:rPr>
                        <a:t>";</a:t>
                      </a:r>
                      <a:endParaRPr lang="ru-RU" sz="1600" b="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2313659064"/>
                  </a:ext>
                </a:extLst>
              </a:tr>
            </a:tbl>
          </a:graphicData>
        </a:graphic>
      </p:graphicFrame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D5AD28F8-0EC2-473D-9A54-19CE969E2A87}"/>
              </a:ext>
            </a:extLst>
          </p:cNvPr>
          <p:cNvSpPr/>
          <p:nvPr/>
        </p:nvSpPr>
        <p:spPr>
          <a:xfrm>
            <a:off x="500124" y="2892371"/>
            <a:ext cx="8095665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b="1" dirty="0">
                <a:cs typeface="Times New Roman" panose="02020603050405020304" pitchFamily="18" charset="0"/>
              </a:rPr>
              <a:t>Функции </a:t>
            </a:r>
            <a:r>
              <a:rPr lang="ru-RU" sz="2000" b="1" dirty="0" err="1">
                <a:cs typeface="Times New Roman" panose="02020603050405020304" pitchFamily="18" charset="0"/>
              </a:rPr>
              <a:t>shuffle</a:t>
            </a:r>
            <a:endParaRPr lang="ru-RU" sz="2000" b="1" dirty="0"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</a:pPr>
            <a:r>
              <a:rPr lang="ru-RU" dirty="0">
                <a:cs typeface="Times New Roman" panose="02020603050405020304" pitchFamily="18" charset="0"/>
              </a:rPr>
              <a:t>Функция </a:t>
            </a:r>
            <a:r>
              <a:rPr lang="ru-RU" i="1" dirty="0" err="1">
                <a:cs typeface="Courier New" panose="02070309020205020404" pitchFamily="49" charset="0"/>
              </a:rPr>
              <a:t>shuffle</a:t>
            </a:r>
            <a:r>
              <a:rPr lang="ru-RU" dirty="0">
                <a:cs typeface="Courier New" panose="02070309020205020404" pitchFamily="49" charset="0"/>
              </a:rPr>
              <a:t> </a:t>
            </a:r>
            <a:r>
              <a:rPr lang="ru-RU" dirty="0">
                <a:cs typeface="Times New Roman" panose="02020603050405020304" pitchFamily="18" charset="0"/>
              </a:rPr>
              <a:t>перемешивает элементы массивы случайным образом: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6F31DF40-1EC6-45FD-B677-00C1AA702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460531"/>
              </p:ext>
            </p:extLst>
          </p:nvPr>
        </p:nvGraphicFramePr>
        <p:xfrm>
          <a:off x="526284" y="3838718"/>
          <a:ext cx="8102432" cy="203855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75830">
                  <a:extLst>
                    <a:ext uri="{9D8B030D-6E8A-4147-A177-3AD203B41FA5}">
                      <a16:colId xmlns:a16="http://schemas.microsoft.com/office/drawing/2014/main" xmlns="" val="1778760181"/>
                    </a:ext>
                  </a:extLst>
                </a:gridCol>
                <a:gridCol w="7826602">
                  <a:extLst>
                    <a:ext uri="{9D8B030D-6E8A-4147-A177-3AD203B41FA5}">
                      <a16:colId xmlns:a16="http://schemas.microsoft.com/office/drawing/2014/main" xmlns="" val="2271556786"/>
                    </a:ext>
                  </a:extLst>
                </a:gridCol>
              </a:tblGrid>
              <a:tr h="2038554"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>
                          <a:effectLst/>
                        </a:rPr>
                        <a:t>1</a:t>
                      </a: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kumimoji="0" lang="ru-RU" sz="1600" b="0" i="1" kern="1200" dirty="0">
                        <a:effectLst/>
                      </a:endParaRP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>
                          <a:effectLst/>
                        </a:rPr>
                        <a:t>2</a:t>
                      </a: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>
                          <a:effectLst/>
                        </a:rPr>
                        <a:t>3</a:t>
                      </a: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>
                          <a:effectLst/>
                        </a:rPr>
                        <a:t>4</a:t>
                      </a:r>
                      <a:endParaRPr kumimoji="0" lang="ru-RU" sz="1600" b="0" i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>
                          <a:effectLst/>
                        </a:rPr>
                        <a:t>$</a:t>
                      </a:r>
                      <a:r>
                        <a:rPr kumimoji="0" lang="ru-RU" sz="1600" b="0" i="1" kern="1200" dirty="0" err="1">
                          <a:effectLst/>
                        </a:rPr>
                        <a:t>os</a:t>
                      </a:r>
                      <a:r>
                        <a:rPr kumimoji="0" lang="ru-RU" sz="1600" b="0" i="1" kern="1200" dirty="0">
                          <a:effectLst/>
                        </a:rPr>
                        <a:t> = </a:t>
                      </a:r>
                      <a:r>
                        <a:rPr kumimoji="0" lang="ru-RU" sz="1600" b="0" i="1" kern="1200" dirty="0" err="1">
                          <a:effectLst/>
                        </a:rPr>
                        <a:t>array</a:t>
                      </a:r>
                      <a:r>
                        <a:rPr kumimoji="0" lang="ru-RU" sz="1600" b="0" i="1" kern="1200" dirty="0">
                          <a:effectLst/>
                        </a:rPr>
                        <a:t>("</a:t>
                      </a:r>
                      <a:r>
                        <a:rPr kumimoji="0" lang="ru-RU" sz="1600" b="0" i="1" kern="1200" dirty="0" err="1">
                          <a:effectLst/>
                        </a:rPr>
                        <a:t>Windows</a:t>
                      </a:r>
                      <a:r>
                        <a:rPr kumimoji="0" lang="ru-RU" sz="1600" b="0" i="1" kern="1200" dirty="0">
                          <a:effectLst/>
                        </a:rPr>
                        <a:t> 95", "</a:t>
                      </a:r>
                      <a:r>
                        <a:rPr kumimoji="0" lang="ru-RU" sz="1600" b="0" i="1" kern="1200" dirty="0" err="1">
                          <a:effectLst/>
                        </a:rPr>
                        <a:t>Windows</a:t>
                      </a:r>
                      <a:r>
                        <a:rPr kumimoji="0" lang="ru-RU" sz="1600" b="0" i="1" kern="1200" dirty="0">
                          <a:effectLst/>
                        </a:rPr>
                        <a:t> XP", "</a:t>
                      </a:r>
                      <a:r>
                        <a:rPr kumimoji="0" lang="ru-RU" sz="1600" b="0" i="1" kern="1200" dirty="0" err="1">
                          <a:effectLst/>
                        </a:rPr>
                        <a:t>Windows</a:t>
                      </a:r>
                      <a:r>
                        <a:rPr kumimoji="0" lang="ru-RU" sz="1600" b="0" i="1" kern="1200" dirty="0">
                          <a:effectLst/>
                        </a:rPr>
                        <a:t> </a:t>
                      </a:r>
                      <a:r>
                        <a:rPr kumimoji="0" lang="ru-RU" sz="1600" b="0" i="1" kern="1200" dirty="0" err="1">
                          <a:effectLst/>
                        </a:rPr>
                        <a:t>Vista</a:t>
                      </a:r>
                      <a:r>
                        <a:rPr kumimoji="0" lang="ru-RU" sz="1600" b="0" i="1" kern="1200" dirty="0">
                          <a:effectLst/>
                        </a:rPr>
                        <a:t>", "</a:t>
                      </a:r>
                      <a:r>
                        <a:rPr kumimoji="0" lang="ru-RU" sz="1600" b="0" i="1" kern="1200" dirty="0" err="1">
                          <a:effectLst/>
                        </a:rPr>
                        <a:t>Windows</a:t>
                      </a:r>
                      <a:r>
                        <a:rPr kumimoji="0" lang="ru-RU" sz="1600" b="0" i="1" kern="1200" dirty="0">
                          <a:effectLst/>
                        </a:rPr>
                        <a:t> 7", "</a:t>
                      </a:r>
                      <a:r>
                        <a:rPr kumimoji="0" lang="ru-RU" sz="1600" b="0" i="1" kern="1200" dirty="0" err="1">
                          <a:effectLst/>
                        </a:rPr>
                        <a:t>Windows</a:t>
                      </a:r>
                      <a:r>
                        <a:rPr kumimoji="0" lang="ru-RU" sz="1600" b="0" i="1" kern="1200" dirty="0">
                          <a:effectLst/>
                        </a:rPr>
                        <a:t> 8", "</a:t>
                      </a:r>
                      <a:r>
                        <a:rPr kumimoji="0" lang="ru-RU" sz="1600" b="0" i="1" kern="1200" dirty="0" err="1">
                          <a:effectLst/>
                        </a:rPr>
                        <a:t>Windows</a:t>
                      </a:r>
                      <a:r>
                        <a:rPr kumimoji="0" lang="ru-RU" sz="1600" b="0" i="1" kern="1200" dirty="0">
                          <a:effectLst/>
                        </a:rPr>
                        <a:t> 10");</a:t>
                      </a: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 err="1">
                          <a:effectLst/>
                        </a:rPr>
                        <a:t>shuffle</a:t>
                      </a:r>
                      <a:r>
                        <a:rPr kumimoji="0" lang="ru-RU" sz="1600" b="0" i="1" kern="1200" dirty="0">
                          <a:effectLst/>
                        </a:rPr>
                        <a:t>($</a:t>
                      </a:r>
                      <a:r>
                        <a:rPr kumimoji="0" lang="ru-RU" sz="1600" b="0" i="1" kern="1200" dirty="0" err="1">
                          <a:effectLst/>
                        </a:rPr>
                        <a:t>os</a:t>
                      </a:r>
                      <a:r>
                        <a:rPr kumimoji="0" lang="ru-RU" sz="1600" b="0" i="1" kern="1200" dirty="0">
                          <a:effectLst/>
                        </a:rPr>
                        <a:t>);</a:t>
                      </a: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ru-RU" sz="1600" b="0" i="1" kern="1200" dirty="0" err="1">
                          <a:effectLst/>
                        </a:rPr>
                        <a:t>print_r</a:t>
                      </a:r>
                      <a:r>
                        <a:rPr kumimoji="0" lang="ru-RU" sz="1600" b="0" i="1" kern="1200" dirty="0">
                          <a:effectLst/>
                        </a:rPr>
                        <a:t>($</a:t>
                      </a:r>
                      <a:r>
                        <a:rPr kumimoji="0" lang="ru-RU" sz="1600" b="0" i="1" kern="1200" dirty="0" err="1">
                          <a:effectLst/>
                        </a:rPr>
                        <a:t>os</a:t>
                      </a:r>
                      <a:r>
                        <a:rPr kumimoji="0" lang="ru-RU" sz="1600" b="0" i="1" kern="1200" dirty="0">
                          <a:effectLst/>
                        </a:rPr>
                        <a:t>);</a:t>
                      </a:r>
                    </a:p>
                    <a:p>
                      <a:pPr marL="0" algn="l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600" b="0" i="1" kern="1200" dirty="0">
                          <a:effectLst/>
                        </a:rPr>
                        <a:t>/* </a:t>
                      </a:r>
                      <a:r>
                        <a:rPr kumimoji="0" lang="ru-RU" sz="1600" b="0" i="1" kern="1200" dirty="0">
                          <a:effectLst/>
                        </a:rPr>
                        <a:t>один из возможных вариантов</a:t>
                      </a:r>
                      <a:r>
                        <a:rPr kumimoji="0" lang="en-US" sz="1600" b="0" i="1" kern="1200" dirty="0">
                          <a:effectLst/>
                        </a:rPr>
                        <a:t>: Array ( [0] =&gt; Windows 95 [1] =&gt; Windows 7 [2] =&gt; Windows Vista [3] =&gt; Windows XP [4] =&gt; Windows 10 [5] =&gt; Windows 8) */</a:t>
                      </a:r>
                      <a:endParaRPr kumimoji="0" lang="ru-RU" sz="1600" b="0" i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4224873002"/>
                  </a:ext>
                </a:extLst>
              </a:tr>
            </a:tbl>
          </a:graphicData>
        </a:graphic>
      </p:graphicFrame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1EBA5062-2D55-43C7-BB8C-FE6EDC29E761}"/>
              </a:ext>
            </a:extLst>
          </p:cNvPr>
          <p:cNvSpPr/>
          <p:nvPr/>
        </p:nvSpPr>
        <p:spPr>
          <a:xfrm>
            <a:off x="506910" y="1376785"/>
            <a:ext cx="81218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ru-RU" altLang="ru-RU" sz="20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ru-RU" altLang="ru-RU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altLang="ru-RU" sz="2000" b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endParaRPr lang="ru-RU" altLang="ru-RU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i="1" dirty="0" err="1">
                <a:ea typeface="Times New Roman" panose="02020603050405020304" pitchFamily="18" charset="0"/>
                <a:cs typeface="Courier New" panose="02070309020205020404" pitchFamily="49" charset="0"/>
              </a:rPr>
              <a:t>count</a:t>
            </a:r>
            <a:r>
              <a:rPr lang="ru-RU" altLang="ru-RU" i="1" dirty="0"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ru-RU" altLang="ru-RU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altLang="ru-RU" i="1" dirty="0" err="1">
                <a:ea typeface="Times New Roman" panose="02020603050405020304" pitchFamily="18" charset="0"/>
                <a:cs typeface="Courier New" panose="02070309020205020404" pitchFamily="49" charset="0"/>
              </a:rPr>
              <a:t>sizeof</a:t>
            </a:r>
            <a:r>
              <a:rPr lang="ru-RU" altLang="ru-RU" i="1" dirty="0"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ru-RU" alt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 получают количество элементов массива: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77636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1" y="609600"/>
            <a:ext cx="6912768" cy="1320800"/>
          </a:xfrm>
        </p:spPr>
        <p:txBody>
          <a:bodyPr/>
          <a:lstStyle/>
          <a:p>
            <a:r>
              <a:rPr lang="ru-RU" dirty="0" smtClean="0"/>
              <a:t>Форматированный вывод в </a:t>
            </a:r>
            <a:r>
              <a:rPr lang="en-US" dirty="0" smtClean="0"/>
              <a:t>PHP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599" y="1613194"/>
            <a:ext cx="6770713" cy="497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28528" rIns="0" bIns="22852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 err="1" smtClean="0"/>
              <a:t>printf</a:t>
            </a:r>
            <a:r>
              <a:rPr lang="ru-RU" b="1" dirty="0"/>
              <a:t>()</a:t>
            </a:r>
            <a:r>
              <a:rPr lang="ru-RU" dirty="0"/>
              <a:t> </a:t>
            </a:r>
            <a:r>
              <a:rPr lang="ru-RU" sz="1600" dirty="0"/>
              <a:t>- выводит отформатированную строку в окно браузера;</a:t>
            </a:r>
          </a:p>
          <a:p>
            <a:r>
              <a:rPr lang="ru-RU" b="1" dirty="0" err="1"/>
              <a:t>sprintf</a:t>
            </a:r>
            <a:r>
              <a:rPr lang="ru-RU" b="1" dirty="0"/>
              <a:t>()</a:t>
            </a:r>
            <a:r>
              <a:rPr lang="ru-RU" dirty="0"/>
              <a:t> </a:t>
            </a:r>
            <a:r>
              <a:rPr lang="ru-RU" sz="1600" dirty="0"/>
              <a:t>- выводит отформатированную строку в переменную. </a:t>
            </a:r>
            <a:endParaRPr lang="ru-RU" sz="1600" dirty="0" smtClean="0"/>
          </a:p>
          <a:p>
            <a:pPr marL="0" indent="0">
              <a:buNone/>
            </a:pPr>
            <a:r>
              <a:rPr lang="ru-RU" sz="1600" dirty="0" smtClean="0"/>
              <a:t>Этим </a:t>
            </a:r>
            <a:r>
              <a:rPr lang="ru-RU" sz="1600" dirty="0"/>
              <a:t>функциям передаются строка управления форматом и сами форматируемые данные. Строка управления форматом включает в себя обычные символы, которые прямо копируются в результат, и определители преобразования. Каждый определитель преобразования начинается с символа процента (</a:t>
            </a:r>
            <a:r>
              <a:rPr lang="ru-RU" sz="1600" b="1" dirty="0"/>
              <a:t>%</a:t>
            </a:r>
            <a:r>
              <a:rPr lang="ru-RU" sz="1600" dirty="0"/>
              <a:t>) и включает следующие элементы:</a:t>
            </a:r>
          </a:p>
          <a:p>
            <a:r>
              <a:rPr lang="ru-RU" sz="1600" b="1" u="sng" dirty="0"/>
              <a:t>указатель заполнения</a:t>
            </a:r>
            <a:r>
              <a:rPr lang="ru-RU" sz="1600" u="sng" dirty="0"/>
              <a:t> </a:t>
            </a:r>
            <a:r>
              <a:rPr lang="ru-RU" sz="1600" dirty="0"/>
              <a:t>используется, если необходимо увеличить размер строки. По умолчанию выполняется заполнение пробелами. Можно указать и 0. Перед любым другим символом заполнения надо поставить одинарную кавычку (</a:t>
            </a:r>
            <a:r>
              <a:rPr lang="ru-RU" sz="1600" b="1" dirty="0"/>
              <a:t>'</a:t>
            </a:r>
            <a:r>
              <a:rPr lang="ru-RU" sz="1600" dirty="0"/>
              <a:t>). Необязательный параметр;</a:t>
            </a:r>
          </a:p>
          <a:p>
            <a:r>
              <a:rPr lang="ru-RU" sz="1600" b="1" u="sng" dirty="0"/>
              <a:t>указатель выравнивания</a:t>
            </a:r>
            <a:r>
              <a:rPr lang="ru-RU" sz="1600" dirty="0"/>
              <a:t>, заданный знаком минус (</a:t>
            </a:r>
            <a:r>
              <a:rPr lang="ru-RU" sz="1600" b="1" dirty="0"/>
              <a:t>-</a:t>
            </a:r>
            <a:r>
              <a:rPr lang="ru-RU" sz="1600" dirty="0"/>
              <a:t>), определяет выравнивание влево. По умолчанию выполняется выравнивание вправо. Необязательный параметр</a:t>
            </a:r>
            <a:r>
              <a:rPr lang="ru-RU" sz="1600" dirty="0" smtClean="0"/>
              <a:t>;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7507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4048" y="1340768"/>
            <a:ext cx="6347714" cy="2880320"/>
          </a:xfrm>
        </p:spPr>
        <p:txBody>
          <a:bodyPr>
            <a:normAutofit lnSpcReduction="10000"/>
          </a:bodyPr>
          <a:lstStyle/>
          <a:p>
            <a:r>
              <a:rPr lang="ru-RU" b="1" u="sng" dirty="0"/>
              <a:t>указатель ширины</a:t>
            </a:r>
            <a:r>
              <a:rPr lang="ru-RU" u="sng" dirty="0"/>
              <a:t> </a:t>
            </a:r>
            <a:r>
              <a:rPr lang="ru-RU" dirty="0"/>
              <a:t>задает количество символов, которое должно содержаться в выводимых данных. Необязательный параметр;</a:t>
            </a:r>
          </a:p>
          <a:p>
            <a:r>
              <a:rPr lang="ru-RU" b="1" u="sng" dirty="0"/>
              <a:t>указатель точности</a:t>
            </a:r>
            <a:r>
              <a:rPr lang="ru-RU" dirty="0"/>
              <a:t> задает количество десятичных знаков, отображаемых для чисел с плавающей запятой. Необязательный параметр;</a:t>
            </a:r>
          </a:p>
          <a:p>
            <a:r>
              <a:rPr lang="ru-RU" b="1" u="sng" dirty="0"/>
              <a:t>указатель типа</a:t>
            </a:r>
            <a:r>
              <a:rPr lang="ru-RU" u="sng" dirty="0"/>
              <a:t> </a:t>
            </a:r>
            <a:r>
              <a:rPr lang="ru-RU" dirty="0"/>
              <a:t>задает тип, в соответствии с которым следует обрабатывать выводимые данные.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Возможные </a:t>
            </a:r>
            <a:r>
              <a:rPr lang="ru-RU" dirty="0"/>
              <a:t>значения: </a:t>
            </a:r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51521" y="609600"/>
            <a:ext cx="6912768" cy="1320800"/>
          </a:xfrm>
        </p:spPr>
        <p:txBody>
          <a:bodyPr/>
          <a:lstStyle/>
          <a:p>
            <a:r>
              <a:rPr lang="ru-RU" dirty="0" smtClean="0"/>
              <a:t>Форматированный вывод в </a:t>
            </a:r>
            <a:r>
              <a:rPr lang="en-US" dirty="0" smtClean="0"/>
              <a:t>PHP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504965"/>
              </p:ext>
            </p:extLst>
          </p:nvPr>
        </p:nvGraphicFramePr>
        <p:xfrm>
          <a:off x="932845" y="4149080"/>
          <a:ext cx="5550120" cy="2592286"/>
        </p:xfrm>
        <a:graphic>
          <a:graphicData uri="http://schemas.openxmlformats.org/drawingml/2006/table">
            <a:tbl>
              <a:tblPr/>
              <a:tblGrid>
                <a:gridCol w="744757"/>
                <a:gridCol w="4805363"/>
              </a:tblGrid>
              <a:tr h="3018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десятичное число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8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двоичное число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8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ASCII-</a:t>
                      </a:r>
                      <a:r>
                        <a:rPr lang="ru-RU" sz="1600" dirty="0"/>
                        <a:t>эквивалент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0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число с плавающей точкой двойной точности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8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восьмеричное число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8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строка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0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шестнадцатеричное число в нижнем регистре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0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шестнадцатеричное число в верхнем регистре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21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1" y="609600"/>
            <a:ext cx="6912768" cy="1320800"/>
          </a:xfrm>
        </p:spPr>
        <p:txBody>
          <a:bodyPr/>
          <a:lstStyle/>
          <a:p>
            <a:r>
              <a:rPr lang="ru-RU" dirty="0" smtClean="0"/>
              <a:t>Форматированный вывод в </a:t>
            </a:r>
            <a:r>
              <a:rPr lang="en-US" dirty="0" smtClean="0"/>
              <a:t>PHP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09599" y="1431093"/>
            <a:ext cx="6461705" cy="5339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28528" rIns="0" bIns="22852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&lt;?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php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$TOVARY =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array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("помидоры" =&gt; 15, "огурцы" =&gt; 11, 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"картофель" =&gt; 10);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echo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"&lt;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&gt;";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printf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("%-25s%25sn%'=50sn", "Наименование", "Цена", "");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foreach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($товары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$NAME =&gt; $PRICE) </a:t>
            </a:r>
            <a:b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printf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("%'.-25s%'.22.2fn", $NAME, $PRICE);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echo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"&lt;/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&gt;"; ?&gt;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 примера: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Наименование                                  Цена        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=====================================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помидоры............................</a:t>
            </a:r>
            <a:r>
              <a:rPr lang="ru-RU" altLang="ru-RU" dirty="0" smtClean="0">
                <a:solidFill>
                  <a:schemeClr val="tx1"/>
                </a:solidFill>
                <a:latin typeface="Arial Unicode MS" panose="020B0604020202020204" pitchFamily="34" charset="-128"/>
              </a:rPr>
              <a:t>....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.........15.00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огурцы..............................................11.00 </a:t>
            </a:r>
            <a:endPara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картофель........................................10.00</a:t>
            </a:r>
            <a:endParaRPr kumimoji="0" lang="ru-RU" altLang="ru-R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83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183880" cy="720080"/>
          </a:xfrm>
        </p:spPr>
        <p:txBody>
          <a:bodyPr/>
          <a:lstStyle/>
          <a:p>
            <a:r>
              <a:rPr lang="ru-RU" dirty="0"/>
              <a:t>Практическая работа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556792"/>
            <a:ext cx="7488832" cy="4824536"/>
          </a:xfrm>
        </p:spPr>
        <p:txBody>
          <a:bodyPr>
            <a:noAutofit/>
          </a:bodyPr>
          <a:lstStyle/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5. Используя условный переход, выведите сообщение «Счастливчик!» если $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age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попадает в диапазон между 18 и 35. Если значение иное, выведите «Не повезло».  Расширьте предыдущую конструкцию сообщением «Слишком молод», если $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age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в диапазоне между 1 и 17.</a:t>
            </a:r>
          </a:p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6. Используя циклы, сформируйте массив четных чисел из диапазона от 1 до 100. Выводя массив на экран, исключите из вывода все числа, которые  не делятся на 5.</a:t>
            </a:r>
          </a:p>
          <a:p>
            <a:pPr fontAlgn="base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7. Создайте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двумерный массив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 следующими элементами: 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Phone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Mail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и заполните его. С помощью цикла 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foreach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осуществите форматированный вывод массива в виде: «элемент: значение».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447</TotalTime>
  <Words>869</Words>
  <Application>Microsoft Office PowerPoint</Application>
  <PresentationFormat>Экран (4:3)</PresentationFormat>
  <Paragraphs>369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7" baseType="lpstr">
      <vt:lpstr>Arial Unicode MS</vt:lpstr>
      <vt:lpstr>Arial</vt:lpstr>
      <vt:lpstr>Calibri</vt:lpstr>
      <vt:lpstr>Courier New</vt:lpstr>
      <vt:lpstr>Times New Roman</vt:lpstr>
      <vt:lpstr>Trebuchet MS</vt:lpstr>
      <vt:lpstr>Wingdings 2</vt:lpstr>
      <vt:lpstr>Wingdings 3</vt:lpstr>
      <vt:lpstr>Грань</vt:lpstr>
      <vt:lpstr>ВВЕДЕНИЕ В PHP</vt:lpstr>
      <vt:lpstr>Базовый синтаксис</vt:lpstr>
      <vt:lpstr>Требования, которые необходимо соблюдать при программировании на PHP:</vt:lpstr>
      <vt:lpstr>Примеры</vt:lpstr>
      <vt:lpstr>PHP поддерживает три вида комментариев: один многострочный и два однострочных</vt:lpstr>
      <vt:lpstr>Переменные</vt:lpstr>
      <vt:lpstr>Допустимые и недопустимые имена переменных</vt:lpstr>
      <vt:lpstr>Пример</vt:lpstr>
      <vt:lpstr>Предопределенные переменные</vt:lpstr>
      <vt:lpstr>Типы данных</vt:lpstr>
      <vt:lpstr>Пример</vt:lpstr>
      <vt:lpstr>Типы данных. Полезные функции</vt:lpstr>
      <vt:lpstr>Константы</vt:lpstr>
      <vt:lpstr>Пример</vt:lpstr>
      <vt:lpstr>Операторы</vt:lpstr>
      <vt:lpstr>Арифметические операции</vt:lpstr>
      <vt:lpstr>Операции сравнения</vt:lpstr>
      <vt:lpstr>Логические операции</vt:lpstr>
      <vt:lpstr>Побитовые операции</vt:lpstr>
      <vt:lpstr>Специфичные операции</vt:lpstr>
      <vt:lpstr>Инкремент / Декремент</vt:lpstr>
      <vt:lpstr>Тернарная операция</vt:lpstr>
      <vt:lpstr>Практическая работа</vt:lpstr>
      <vt:lpstr>Управляющие конструкции</vt:lpstr>
      <vt:lpstr>Конструкция elseif</vt:lpstr>
      <vt:lpstr>Конструкция switch</vt:lpstr>
      <vt:lpstr>Циклы</vt:lpstr>
      <vt:lpstr>Управление циклами</vt:lpstr>
      <vt:lpstr>Массивы</vt:lpstr>
      <vt:lpstr>Массивы</vt:lpstr>
      <vt:lpstr>Массивы</vt:lpstr>
      <vt:lpstr>Обработка массива</vt:lpstr>
      <vt:lpstr>Работа с массивом</vt:lpstr>
      <vt:lpstr>Работа с массивом</vt:lpstr>
      <vt:lpstr>Форматированный вывод в PHP</vt:lpstr>
      <vt:lpstr>Форматированный вывод в PHP</vt:lpstr>
      <vt:lpstr>Форматированный вывод в PHP</vt:lpstr>
      <vt:lpstr>Практическая работа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PHP</dc:title>
  <dc:creator>A P</dc:creator>
  <cp:lastModifiedBy>Пестов Александр Игоревич</cp:lastModifiedBy>
  <cp:revision>20</cp:revision>
  <dcterms:created xsi:type="dcterms:W3CDTF">2017-10-30T19:33:40Z</dcterms:created>
  <dcterms:modified xsi:type="dcterms:W3CDTF">2018-10-23T08:30:58Z</dcterms:modified>
</cp:coreProperties>
</file>