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2F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0" autoAdjust="0"/>
    <p:restoredTop sz="94660"/>
  </p:normalViewPr>
  <p:slideViewPr>
    <p:cSldViewPr snapToGrid="0">
      <p:cViewPr varScale="1">
        <p:scale>
          <a:sx n="77" d="100"/>
          <a:sy n="77" d="100"/>
        </p:scale>
        <p:origin x="114" y="26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162DC1-AFA6-4E56-B02B-743D8A717114}" type="datetimeFigureOut">
              <a:rPr lang="ru-RU" smtClean="0"/>
              <a:t>18.12.2018</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BE052-9336-45E7-BFE8-79132914B52A}" type="slidenum">
              <a:rPr lang="ru-RU" smtClean="0"/>
              <a:t>‹#›</a:t>
            </a:fld>
            <a:endParaRPr lang="ru-RU"/>
          </a:p>
        </p:txBody>
      </p:sp>
    </p:spTree>
    <p:extLst>
      <p:ext uri="{BB962C8B-B14F-4D97-AF65-F5344CB8AC3E}">
        <p14:creationId xmlns:p14="http://schemas.microsoft.com/office/powerpoint/2010/main" val="1833187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Функция </a:t>
            </a:r>
            <a:r>
              <a:rPr lang="ru-RU" dirty="0" err="1"/>
              <a:t>mysqli_get_host_info</a:t>
            </a:r>
            <a:r>
              <a:rPr lang="ru-RU" dirty="0"/>
              <a:t>()</a:t>
            </a:r>
            <a:r>
              <a:rPr lang="ru-RU" sz="1200" b="0" i="0" kern="1200" dirty="0">
                <a:solidFill>
                  <a:schemeClr val="tx1"/>
                </a:solidFill>
                <a:effectLst/>
                <a:latin typeface="+mn-lt"/>
                <a:ea typeface="+mn-ea"/>
                <a:cs typeface="+mn-cs"/>
              </a:rPr>
              <a:t> возвращает строку, содержащую тип используемого соединения.</a:t>
            </a:r>
            <a:endParaRPr lang="ru-RU" dirty="0"/>
          </a:p>
        </p:txBody>
      </p:sp>
      <p:sp>
        <p:nvSpPr>
          <p:cNvPr id="4" name="Номер слайда 3"/>
          <p:cNvSpPr>
            <a:spLocks noGrp="1"/>
          </p:cNvSpPr>
          <p:nvPr>
            <p:ph type="sldNum" sz="quarter" idx="5"/>
          </p:nvPr>
        </p:nvSpPr>
        <p:spPr/>
        <p:txBody>
          <a:bodyPr/>
          <a:lstStyle/>
          <a:p>
            <a:fld id="{F50BE052-9336-45E7-BFE8-79132914B52A}" type="slidenum">
              <a:rPr lang="ru-RU" smtClean="0"/>
              <a:t>3</a:t>
            </a:fld>
            <a:endParaRPr lang="ru-RU"/>
          </a:p>
        </p:txBody>
      </p:sp>
    </p:spTree>
    <p:extLst>
      <p:ext uri="{BB962C8B-B14F-4D97-AF65-F5344CB8AC3E}">
        <p14:creationId xmlns:p14="http://schemas.microsoft.com/office/powerpoint/2010/main" val="1846986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Давайте создадим таблицу с именем </a:t>
            </a:r>
            <a:r>
              <a:rPr lang="ru-RU" b="1" dirty="0" err="1"/>
              <a:t>users</a:t>
            </a:r>
            <a:r>
              <a:rPr lang="ru-RU" dirty="0"/>
              <a:t> в столбцах которой будут храниться логины (</a:t>
            </a:r>
            <a:r>
              <a:rPr lang="ru-RU" b="1" dirty="0"/>
              <a:t>столбец </a:t>
            </a:r>
            <a:r>
              <a:rPr lang="ru-RU" b="1" dirty="0" err="1"/>
              <a:t>login</a:t>
            </a:r>
            <a:r>
              <a:rPr lang="ru-RU" dirty="0"/>
              <a:t>) и пароли (</a:t>
            </a:r>
            <a:r>
              <a:rPr lang="ru-RU" b="1" dirty="0"/>
              <a:t>столбец </a:t>
            </a:r>
            <a:r>
              <a:rPr lang="ru-RU" b="1" dirty="0" err="1"/>
              <a:t>password</a:t>
            </a:r>
            <a:r>
              <a:rPr lang="ru-RU" dirty="0"/>
              <a:t>) пользователей.</a:t>
            </a:r>
          </a:p>
          <a:p>
            <a:r>
              <a:rPr lang="ru-RU" sz="1200" b="0" i="0" kern="1200" dirty="0">
                <a:solidFill>
                  <a:schemeClr val="tx1"/>
                </a:solidFill>
                <a:effectLst/>
                <a:latin typeface="+mn-lt"/>
                <a:ea typeface="+mn-ea"/>
                <a:cs typeface="+mn-cs"/>
              </a:rPr>
              <a:t>Запрос SQL не обязательно записывать в переменную, его можно сразу записать как аргумент функции </a:t>
            </a:r>
            <a:r>
              <a:rPr lang="ru-RU" dirty="0" err="1"/>
              <a:t>mysql_query</a:t>
            </a:r>
            <a:r>
              <a:rPr lang="ru-RU" dirty="0"/>
              <a:t>()</a:t>
            </a:r>
            <a:r>
              <a:rPr lang="ru-RU" sz="1200" b="0" i="0" kern="1200" dirty="0">
                <a:solidFill>
                  <a:schemeClr val="tx1"/>
                </a:solidFill>
                <a:effectLst/>
                <a:latin typeface="+mn-lt"/>
                <a:ea typeface="+mn-ea"/>
                <a:cs typeface="+mn-cs"/>
              </a:rPr>
              <a:t>.</a:t>
            </a:r>
            <a:endParaRPr lang="ru-RU" dirty="0"/>
          </a:p>
        </p:txBody>
      </p:sp>
      <p:sp>
        <p:nvSpPr>
          <p:cNvPr id="4" name="Номер слайда 3"/>
          <p:cNvSpPr>
            <a:spLocks noGrp="1"/>
          </p:cNvSpPr>
          <p:nvPr>
            <p:ph type="sldNum" sz="quarter" idx="5"/>
          </p:nvPr>
        </p:nvSpPr>
        <p:spPr/>
        <p:txBody>
          <a:bodyPr/>
          <a:lstStyle/>
          <a:p>
            <a:fld id="{F50BE052-9336-45E7-BFE8-79132914B52A}" type="slidenum">
              <a:rPr lang="ru-RU" smtClean="0"/>
              <a:t>5</a:t>
            </a:fld>
            <a:endParaRPr lang="ru-RU"/>
          </a:p>
        </p:txBody>
      </p:sp>
    </p:spTree>
    <p:extLst>
      <p:ext uri="{BB962C8B-B14F-4D97-AF65-F5344CB8AC3E}">
        <p14:creationId xmlns:p14="http://schemas.microsoft.com/office/powerpoint/2010/main" val="2823019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50BE052-9336-45E7-BFE8-79132914B52A}" type="slidenum">
              <a:rPr lang="ru-RU" smtClean="0"/>
              <a:t>6</a:t>
            </a:fld>
            <a:endParaRPr lang="ru-RU"/>
          </a:p>
        </p:txBody>
      </p:sp>
    </p:spTree>
    <p:extLst>
      <p:ext uri="{BB962C8B-B14F-4D97-AF65-F5344CB8AC3E}">
        <p14:creationId xmlns:p14="http://schemas.microsoft.com/office/powerpoint/2010/main" val="3940596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50BE052-9336-45E7-BFE8-79132914B52A}" type="slidenum">
              <a:rPr lang="ru-RU" smtClean="0"/>
              <a:t>7</a:t>
            </a:fld>
            <a:endParaRPr lang="ru-RU"/>
          </a:p>
        </p:txBody>
      </p:sp>
    </p:spTree>
    <p:extLst>
      <p:ext uri="{BB962C8B-B14F-4D97-AF65-F5344CB8AC3E}">
        <p14:creationId xmlns:p14="http://schemas.microsoft.com/office/powerpoint/2010/main" val="1725711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SQL запрос состоит из команды </a:t>
            </a:r>
            <a:r>
              <a:rPr lang="ru-RU" dirty="0">
                <a:solidFill>
                  <a:srgbClr val="C00000"/>
                </a:solidFill>
              </a:rPr>
              <a:t>INSERT INTO</a:t>
            </a:r>
            <a:r>
              <a:rPr lang="ru-RU" dirty="0"/>
              <a:t>, имени базы данных </a:t>
            </a:r>
            <a:r>
              <a:rPr lang="ru-RU" dirty="0" err="1">
                <a:solidFill>
                  <a:srgbClr val="C00000"/>
                </a:solidFill>
              </a:rPr>
              <a:t>users</a:t>
            </a:r>
            <a:r>
              <a:rPr lang="ru-RU" dirty="0"/>
              <a:t>, затем в скобках идут имена полей, потом слово VALUE, после которого в скобках следуют добавляемые значения. Значения берутся в кавычки.</a:t>
            </a:r>
          </a:p>
        </p:txBody>
      </p:sp>
      <p:sp>
        <p:nvSpPr>
          <p:cNvPr id="4" name="Номер слайда 3"/>
          <p:cNvSpPr>
            <a:spLocks noGrp="1"/>
          </p:cNvSpPr>
          <p:nvPr>
            <p:ph type="sldNum" sz="quarter" idx="5"/>
          </p:nvPr>
        </p:nvSpPr>
        <p:spPr/>
        <p:txBody>
          <a:bodyPr/>
          <a:lstStyle/>
          <a:p>
            <a:fld id="{F50BE052-9336-45E7-BFE8-79132914B52A}" type="slidenum">
              <a:rPr lang="ru-RU" smtClean="0"/>
              <a:t>8</a:t>
            </a:fld>
            <a:endParaRPr lang="ru-RU"/>
          </a:p>
        </p:txBody>
      </p:sp>
    </p:spTree>
    <p:extLst>
      <p:ext uri="{BB962C8B-B14F-4D97-AF65-F5344CB8AC3E}">
        <p14:creationId xmlns:p14="http://schemas.microsoft.com/office/powerpoint/2010/main" val="4292365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Кавычки во вторых скобках обязательны.</a:t>
            </a:r>
          </a:p>
          <a:p>
            <a:r>
              <a:rPr lang="ru-RU" sz="1200" b="0" i="0" kern="1200" dirty="0">
                <a:solidFill>
                  <a:schemeClr val="tx1"/>
                </a:solidFill>
                <a:effectLst/>
                <a:latin typeface="+mn-lt"/>
                <a:ea typeface="+mn-ea"/>
                <a:cs typeface="+mn-cs"/>
              </a:rPr>
              <a:t>На месте значений могут быть переменные.</a:t>
            </a:r>
          </a:p>
        </p:txBody>
      </p:sp>
      <p:sp>
        <p:nvSpPr>
          <p:cNvPr id="4" name="Номер слайда 3"/>
          <p:cNvSpPr>
            <a:spLocks noGrp="1"/>
          </p:cNvSpPr>
          <p:nvPr>
            <p:ph type="sldNum" sz="quarter" idx="5"/>
          </p:nvPr>
        </p:nvSpPr>
        <p:spPr/>
        <p:txBody>
          <a:bodyPr/>
          <a:lstStyle/>
          <a:p>
            <a:fld id="{F50BE052-9336-45E7-BFE8-79132914B52A}" type="slidenum">
              <a:rPr lang="ru-RU" smtClean="0"/>
              <a:t>9</a:t>
            </a:fld>
            <a:endParaRPr lang="ru-RU"/>
          </a:p>
        </p:txBody>
      </p:sp>
    </p:spTree>
    <p:extLst>
      <p:ext uri="{BB962C8B-B14F-4D97-AF65-F5344CB8AC3E}">
        <p14:creationId xmlns:p14="http://schemas.microsoft.com/office/powerpoint/2010/main" val="3459925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Кавычки во вторых скобках обязательны.</a:t>
            </a:r>
          </a:p>
          <a:p>
            <a:r>
              <a:rPr lang="ru-RU" sz="1200" b="0" i="0" kern="1200" dirty="0">
                <a:solidFill>
                  <a:schemeClr val="tx1"/>
                </a:solidFill>
                <a:effectLst/>
                <a:latin typeface="+mn-lt"/>
                <a:ea typeface="+mn-ea"/>
                <a:cs typeface="+mn-cs"/>
              </a:rPr>
              <a:t>На месте значений могут быть переменные.</a:t>
            </a:r>
          </a:p>
        </p:txBody>
      </p:sp>
      <p:sp>
        <p:nvSpPr>
          <p:cNvPr id="4" name="Номер слайда 3"/>
          <p:cNvSpPr>
            <a:spLocks noGrp="1"/>
          </p:cNvSpPr>
          <p:nvPr>
            <p:ph type="sldNum" sz="quarter" idx="5"/>
          </p:nvPr>
        </p:nvSpPr>
        <p:spPr/>
        <p:txBody>
          <a:bodyPr/>
          <a:lstStyle/>
          <a:p>
            <a:fld id="{F50BE052-9336-45E7-BFE8-79132914B52A}" type="slidenum">
              <a:rPr lang="ru-RU" smtClean="0"/>
              <a:t>10</a:t>
            </a:fld>
            <a:endParaRPr lang="ru-RU"/>
          </a:p>
        </p:txBody>
      </p:sp>
    </p:spTree>
    <p:extLst>
      <p:ext uri="{BB962C8B-B14F-4D97-AF65-F5344CB8AC3E}">
        <p14:creationId xmlns:p14="http://schemas.microsoft.com/office/powerpoint/2010/main" val="2612998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37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ru-RU"/>
              <a:t>Образец заголовка</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12/18/2018</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ru-RU"/>
              <a:t>Образец заголовка</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8A87A34-81AB-432B-8DAE-1953F412C126}" type="datetimeFigureOut">
              <a:rPr lang="en-US" dirty="0"/>
              <a:t>12/18/2018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447191" y="2824269"/>
            <a:ext cx="4645152" cy="2644457"/>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412362" y="2821491"/>
            <a:ext cx="4645152" cy="263737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12/18/2018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12/18/2018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ru-RU"/>
              <a:t>Образец заголовка</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8A87A34-81AB-432B-8DAE-1953F412C126}" type="datetimeFigureOut">
              <a:rPr lang="en-US" dirty="0"/>
              <a:t>12/18/2018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12/18/2018</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ru-RU"/>
              <a:t>Образец заголовка</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12/18/2018</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0FEB022-BB61-4EE9-AFA5-25666920F3C4}"/>
              </a:ext>
            </a:extLst>
          </p:cNvPr>
          <p:cNvSpPr>
            <a:spLocks noGrp="1"/>
          </p:cNvSpPr>
          <p:nvPr>
            <p:ph type="ctrTitle"/>
          </p:nvPr>
        </p:nvSpPr>
        <p:spPr/>
        <p:txBody>
          <a:bodyPr/>
          <a:lstStyle/>
          <a:p>
            <a:r>
              <a:rPr lang="en-US" dirty="0"/>
              <a:t>PHP </a:t>
            </a:r>
            <a:r>
              <a:rPr lang="ru-RU" dirty="0"/>
              <a:t>и </a:t>
            </a:r>
            <a:r>
              <a:rPr lang="en-US" dirty="0"/>
              <a:t>MySQL</a:t>
            </a:r>
            <a:endParaRPr lang="ru-RU" dirty="0"/>
          </a:p>
        </p:txBody>
      </p:sp>
      <p:sp>
        <p:nvSpPr>
          <p:cNvPr id="3" name="Подзаголовок 2">
            <a:extLst>
              <a:ext uri="{FF2B5EF4-FFF2-40B4-BE49-F238E27FC236}">
                <a16:creationId xmlns:a16="http://schemas.microsoft.com/office/drawing/2014/main" xmlns="" id="{893BB46B-B92A-4A41-9A2D-DC51DE57432C}"/>
              </a:ext>
            </a:extLst>
          </p:cNvPr>
          <p:cNvSpPr>
            <a:spLocks noGrp="1"/>
          </p:cNvSpPr>
          <p:nvPr>
            <p:ph type="subTitle" idx="1"/>
          </p:nvPr>
        </p:nvSpPr>
        <p:spPr/>
        <p:txBody>
          <a:bodyPr/>
          <a:lstStyle/>
          <a:p>
            <a:pPr algn="r"/>
            <a:r>
              <a:rPr lang="ru-RU" dirty="0"/>
              <a:t>Пестов А.И.</a:t>
            </a:r>
          </a:p>
        </p:txBody>
      </p:sp>
    </p:spTree>
    <p:extLst>
      <p:ext uri="{BB962C8B-B14F-4D97-AF65-F5344CB8AC3E}">
        <p14:creationId xmlns:p14="http://schemas.microsoft.com/office/powerpoint/2010/main" val="6684932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3B2236A-E8ED-4307-8EBF-24715670FC77}"/>
              </a:ext>
            </a:extLst>
          </p:cNvPr>
          <p:cNvSpPr>
            <a:spLocks noGrp="1"/>
          </p:cNvSpPr>
          <p:nvPr>
            <p:ph type="title"/>
          </p:nvPr>
        </p:nvSpPr>
        <p:spPr/>
        <p:txBody>
          <a:bodyPr/>
          <a:lstStyle/>
          <a:p>
            <a:r>
              <a:rPr lang="ru-RU" dirty="0"/>
              <a:t>Подключение к серверу </a:t>
            </a:r>
            <a:r>
              <a:rPr lang="en-US" dirty="0"/>
              <a:t>MySQL</a:t>
            </a:r>
            <a:endParaRPr lang="ru-RU" dirty="0"/>
          </a:p>
        </p:txBody>
      </p:sp>
      <p:sp>
        <p:nvSpPr>
          <p:cNvPr id="4" name="Rectangle 1">
            <a:extLst>
              <a:ext uri="{FF2B5EF4-FFF2-40B4-BE49-F238E27FC236}">
                <a16:creationId xmlns:a16="http://schemas.microsoft.com/office/drawing/2014/main" xmlns="" id="{EF0816B0-AD15-458C-A593-25D3388D41A9}"/>
              </a:ext>
            </a:extLst>
          </p:cNvPr>
          <p:cNvSpPr>
            <a:spLocks noGrp="1" noChangeArrowheads="1"/>
          </p:cNvSpPr>
          <p:nvPr>
            <p:ph idx="1"/>
          </p:nvPr>
        </p:nvSpPr>
        <p:spPr bwMode="auto">
          <a:xfrm>
            <a:off x="558800" y="1982495"/>
            <a:ext cx="6921500" cy="1467389"/>
          </a:xfrm>
          <a:prstGeom prst="rect">
            <a:avLst/>
          </a:prstGeom>
          <a:solidFill>
            <a:srgbClr val="F9F2F4"/>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ru-RU" altLang="ru-RU" sz="1800" b="0" i="0" u="none" strike="noStrike" cap="none" normalizeH="0" baseline="0" dirty="0">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Для подключения к серверу </a:t>
            </a:r>
            <a:r>
              <a:rPr kumimoji="0" lang="ru-RU" altLang="ru-RU" sz="1800" b="0" i="0" u="none" strike="noStrike" cap="none" normalizeH="0" baseline="0" dirty="0" err="1">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MySQL</a:t>
            </a:r>
            <a:r>
              <a:rPr kumimoji="0" lang="ru-RU" altLang="ru-RU" sz="1800" b="0" i="0" u="none" strike="noStrike" cap="none" normalizeH="0" baseline="0" dirty="0">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 в PHP используется функция </a:t>
            </a:r>
            <a:r>
              <a:rPr lang="ru-RU" altLang="ru-RU" sz="1800" i="1" dirty="0" err="1">
                <a:solidFill>
                  <a:schemeClr val="accent1"/>
                </a:solidFill>
                <a:latin typeface="Tahoma" panose="020B0604030504040204" pitchFamily="34" charset="0"/>
                <a:ea typeface="Tahoma" panose="020B0604030504040204" pitchFamily="34" charset="0"/>
                <a:cs typeface="Tahoma" panose="020B0604030504040204" pitchFamily="34" charset="0"/>
              </a:rPr>
              <a:t>mysqli_connect</a:t>
            </a:r>
            <a:r>
              <a:rPr lang="ru-RU" altLang="ru-RU" sz="1800" i="1" dirty="0">
                <a:solidFill>
                  <a:schemeClr val="accent1"/>
                </a:solidFill>
                <a:latin typeface="Tahoma" panose="020B0604030504040204" pitchFamily="34" charset="0"/>
                <a:ea typeface="Tahoma" panose="020B0604030504040204" pitchFamily="34" charset="0"/>
                <a:cs typeface="Tahoma" panose="020B0604030504040204" pitchFamily="34" charset="0"/>
              </a:rPr>
              <a:t>(). </a:t>
            </a:r>
          </a:p>
          <a:p>
            <a:pPr marL="0" marR="0" lvl="0" indent="0" algn="l" defTabSz="914400" rtl="0" eaLnBrk="0" fontAlgn="base" latinLnBrk="0" hangingPunct="0">
              <a:spcBef>
                <a:spcPct val="0"/>
              </a:spcBef>
              <a:spcAft>
                <a:spcPts val="600"/>
              </a:spcAft>
              <a:buClrTx/>
              <a:buSzTx/>
              <a:buFontTx/>
              <a:buNone/>
              <a:tabLst/>
            </a:pPr>
            <a:r>
              <a:rPr kumimoji="0" lang="ru-RU" altLang="ru-RU" sz="1800" b="0" i="0" u="none" strike="noStrike" cap="none" normalizeH="0" baseline="0" dirty="0">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Данная функция получает три аргумента: имя сервера, имя пользователя и пароль.</a:t>
            </a:r>
            <a:r>
              <a:rPr kumimoji="0" lang="ru-RU" altLang="ru-RU"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p>
        </p:txBody>
      </p:sp>
      <p:sp>
        <p:nvSpPr>
          <p:cNvPr id="6" name="Rectangle 3">
            <a:extLst>
              <a:ext uri="{FF2B5EF4-FFF2-40B4-BE49-F238E27FC236}">
                <a16:creationId xmlns:a16="http://schemas.microsoft.com/office/drawing/2014/main" xmlns="" id="{19AC0466-D1AF-42BF-83B3-B8FC28309008}"/>
              </a:ext>
            </a:extLst>
          </p:cNvPr>
          <p:cNvSpPr>
            <a:spLocks noChangeArrowheads="1"/>
          </p:cNvSpPr>
          <p:nvPr/>
        </p:nvSpPr>
        <p:spPr bwMode="auto">
          <a:xfrm>
            <a:off x="7264400" y="2959987"/>
            <a:ext cx="4368800" cy="1386277"/>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lnSpc>
                <a:spcPct val="120000"/>
              </a:lnSpc>
              <a:spcAft>
                <a:spcPts val="600"/>
              </a:spcAft>
            </a:pPr>
            <a:r>
              <a:rPr lang="ru-RU" altLang="ru-RU" dirty="0">
                <a:solidFill>
                  <a:srgbClr val="333333"/>
                </a:solidFill>
                <a:latin typeface="Tahoma" panose="020B0604030504040204" pitchFamily="34" charset="0"/>
                <a:cs typeface="Tahoma" panose="020B0604030504040204" pitchFamily="34" charset="0"/>
              </a:rPr>
              <a:t>Соединение также нужно закрыть, после завершения работы с </a:t>
            </a:r>
            <a:r>
              <a:rPr lang="ru-RU" altLang="ru-RU" dirty="0" err="1">
                <a:solidFill>
                  <a:srgbClr val="333333"/>
                </a:solidFill>
                <a:latin typeface="Tahoma" panose="020B0604030504040204" pitchFamily="34" charset="0"/>
                <a:cs typeface="Tahoma" panose="020B0604030504040204" pitchFamily="34" charset="0"/>
              </a:rPr>
              <a:t>MySQL</a:t>
            </a:r>
            <a:r>
              <a:rPr lang="ru-RU" altLang="ru-RU" dirty="0">
                <a:solidFill>
                  <a:srgbClr val="333333"/>
                </a:solidFill>
                <a:latin typeface="Tahoma" panose="020B0604030504040204" pitchFamily="34" charset="0"/>
                <a:cs typeface="Tahoma" panose="020B0604030504040204" pitchFamily="34" charset="0"/>
              </a:rPr>
              <a:t>. Для закрытия соединения используется функция </a:t>
            </a:r>
            <a:r>
              <a:rPr lang="ru-RU" altLang="ru-RU" i="1" dirty="0" err="1">
                <a:solidFill>
                  <a:schemeClr val="accent1"/>
                </a:solidFill>
                <a:latin typeface="Tahoma" panose="020B0604030504040204" pitchFamily="34" charset="0"/>
                <a:cs typeface="Tahoma" panose="020B0604030504040204" pitchFamily="34" charset="0"/>
              </a:rPr>
              <a:t>mysqli_close</a:t>
            </a:r>
            <a:r>
              <a:rPr lang="ru-RU" altLang="ru-RU" i="1" dirty="0">
                <a:solidFill>
                  <a:schemeClr val="accent1"/>
                </a:solidFill>
                <a:latin typeface="Tahoma" panose="020B0604030504040204" pitchFamily="34" charset="0"/>
                <a:cs typeface="Tahoma" panose="020B0604030504040204" pitchFamily="34" charset="0"/>
              </a:rPr>
              <a:t>().  </a:t>
            </a:r>
          </a:p>
        </p:txBody>
      </p:sp>
      <p:sp>
        <p:nvSpPr>
          <p:cNvPr id="8" name="Прямоугольник: загнутый угол 7">
            <a:extLst>
              <a:ext uri="{FF2B5EF4-FFF2-40B4-BE49-F238E27FC236}">
                <a16:creationId xmlns:a16="http://schemas.microsoft.com/office/drawing/2014/main" xmlns="" id="{3F45EE76-4310-4A5F-9C46-5E7422653870}"/>
              </a:ext>
            </a:extLst>
          </p:cNvPr>
          <p:cNvSpPr/>
          <p:nvPr/>
        </p:nvSpPr>
        <p:spPr>
          <a:xfrm>
            <a:off x="304800" y="3759200"/>
            <a:ext cx="5791200" cy="1467388"/>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spcAft>
                <a:spcPts val="600"/>
              </a:spcAft>
            </a:pPr>
            <a:r>
              <a:rPr lang="ru-RU" altLang="ru-RU" dirty="0">
                <a:solidFill>
                  <a:srgbClr val="333333"/>
                </a:solidFill>
                <a:latin typeface="Menlo"/>
              </a:rPr>
              <a:t>$</a:t>
            </a:r>
            <a:r>
              <a:rPr lang="ru-RU" altLang="ru-RU" dirty="0" err="1">
                <a:solidFill>
                  <a:srgbClr val="333333"/>
                </a:solidFill>
                <a:latin typeface="Menlo"/>
              </a:rPr>
              <a:t>link</a:t>
            </a:r>
            <a:r>
              <a:rPr lang="ru-RU" altLang="ru-RU" dirty="0">
                <a:solidFill>
                  <a:srgbClr val="333333"/>
                </a:solidFill>
                <a:latin typeface="Menlo"/>
              </a:rPr>
              <a:t> = </a:t>
            </a:r>
            <a:r>
              <a:rPr lang="ru-RU" altLang="ru-RU" dirty="0" err="1">
                <a:solidFill>
                  <a:srgbClr val="333333"/>
                </a:solidFill>
                <a:latin typeface="Menlo"/>
              </a:rPr>
              <a:t>mysqli_connect</a:t>
            </a:r>
            <a:r>
              <a:rPr lang="ru-RU" altLang="ru-RU" dirty="0">
                <a:solidFill>
                  <a:srgbClr val="333333"/>
                </a:solidFill>
                <a:latin typeface="Menlo"/>
              </a:rPr>
              <a:t>('</a:t>
            </a:r>
            <a:r>
              <a:rPr lang="ru-RU" altLang="ru-RU" dirty="0" err="1">
                <a:solidFill>
                  <a:srgbClr val="333333"/>
                </a:solidFill>
                <a:latin typeface="Menlo"/>
              </a:rPr>
              <a:t>localhost</a:t>
            </a:r>
            <a:r>
              <a:rPr lang="ru-RU" altLang="ru-RU" dirty="0">
                <a:solidFill>
                  <a:srgbClr val="333333"/>
                </a:solidFill>
                <a:latin typeface="Menlo"/>
              </a:rPr>
              <a:t>', "</a:t>
            </a:r>
            <a:r>
              <a:rPr lang="ru-RU" altLang="ru-RU" dirty="0" err="1">
                <a:solidFill>
                  <a:srgbClr val="333333"/>
                </a:solidFill>
                <a:latin typeface="Menlo"/>
              </a:rPr>
              <a:t>root</a:t>
            </a:r>
            <a:r>
              <a:rPr lang="ru-RU" altLang="ru-RU" dirty="0">
                <a:solidFill>
                  <a:srgbClr val="333333"/>
                </a:solidFill>
                <a:latin typeface="Menlo"/>
              </a:rPr>
              <a:t>", ‘’);</a:t>
            </a:r>
          </a:p>
          <a:p>
            <a:pPr>
              <a:spcAft>
                <a:spcPts val="600"/>
              </a:spcAft>
            </a:pPr>
            <a:r>
              <a:rPr lang="ru-RU" altLang="ru-RU" dirty="0" err="1">
                <a:solidFill>
                  <a:srgbClr val="333333"/>
                </a:solidFill>
                <a:latin typeface="Menlo"/>
              </a:rPr>
              <a:t>if</a:t>
            </a:r>
            <a:r>
              <a:rPr lang="ru-RU" altLang="ru-RU" dirty="0">
                <a:solidFill>
                  <a:srgbClr val="333333"/>
                </a:solidFill>
                <a:latin typeface="Menlo"/>
              </a:rPr>
              <a:t> ( !$</a:t>
            </a:r>
            <a:r>
              <a:rPr lang="ru-RU" altLang="ru-RU" dirty="0" err="1">
                <a:solidFill>
                  <a:srgbClr val="333333"/>
                </a:solidFill>
                <a:latin typeface="Menlo"/>
              </a:rPr>
              <a:t>link</a:t>
            </a:r>
            <a:r>
              <a:rPr lang="ru-RU" altLang="ru-RU" dirty="0">
                <a:solidFill>
                  <a:srgbClr val="333333"/>
                </a:solidFill>
                <a:latin typeface="Menlo"/>
              </a:rPr>
              <a:t> ) </a:t>
            </a:r>
            <a:r>
              <a:rPr lang="ru-RU" altLang="ru-RU" dirty="0" err="1">
                <a:solidFill>
                  <a:srgbClr val="333333"/>
                </a:solidFill>
                <a:latin typeface="Menlo"/>
              </a:rPr>
              <a:t>die</a:t>
            </a:r>
            <a:r>
              <a:rPr lang="ru-RU" altLang="ru-RU" dirty="0">
                <a:solidFill>
                  <a:srgbClr val="333333"/>
                </a:solidFill>
                <a:latin typeface="Menlo"/>
              </a:rPr>
              <a:t>("</a:t>
            </a:r>
            <a:r>
              <a:rPr lang="ru-RU" altLang="ru-RU" dirty="0" err="1">
                <a:solidFill>
                  <a:srgbClr val="333333"/>
                </a:solidFill>
                <a:latin typeface="Menlo"/>
              </a:rPr>
              <a:t>Error</a:t>
            </a:r>
            <a:r>
              <a:rPr lang="ru-RU" altLang="ru-RU" dirty="0">
                <a:solidFill>
                  <a:srgbClr val="333333"/>
                </a:solidFill>
                <a:latin typeface="Menlo"/>
              </a:rPr>
              <a:t>"); </a:t>
            </a:r>
          </a:p>
          <a:p>
            <a:pPr>
              <a:spcAft>
                <a:spcPts val="600"/>
              </a:spcAft>
            </a:pPr>
            <a:r>
              <a:rPr lang="ru-RU" altLang="ru-RU" dirty="0" err="1">
                <a:solidFill>
                  <a:srgbClr val="333333"/>
                </a:solidFill>
                <a:latin typeface="Menlo"/>
              </a:rPr>
              <a:t>mysqli_close</a:t>
            </a:r>
            <a:r>
              <a:rPr lang="ru-RU" altLang="ru-RU" dirty="0">
                <a:solidFill>
                  <a:srgbClr val="333333"/>
                </a:solidFill>
                <a:latin typeface="Menlo"/>
              </a:rPr>
              <a:t>($</a:t>
            </a:r>
            <a:r>
              <a:rPr lang="ru-RU" altLang="ru-RU" dirty="0" err="1">
                <a:solidFill>
                  <a:srgbClr val="333333"/>
                </a:solidFill>
                <a:latin typeface="Menlo"/>
              </a:rPr>
              <a:t>link</a:t>
            </a:r>
            <a:r>
              <a:rPr lang="ru-RU" altLang="ru-RU" dirty="0">
                <a:solidFill>
                  <a:srgbClr val="333333"/>
                </a:solidFill>
                <a:latin typeface="Menlo"/>
              </a:rPr>
              <a:t>);</a:t>
            </a:r>
            <a:r>
              <a:rPr lang="ru-RU" altLang="ru-RU" sz="2800" dirty="0">
                <a:solidFill>
                  <a:schemeClr val="tx1"/>
                </a:solidFill>
              </a:rPr>
              <a:t> </a:t>
            </a:r>
            <a:endParaRPr lang="ru-RU" altLang="ru-RU" sz="4000" dirty="0">
              <a:solidFill>
                <a:schemeClr val="tx1"/>
              </a:solidFill>
              <a:latin typeface="Arial" panose="020B0604020202020204" pitchFamily="34" charset="0"/>
            </a:endParaRPr>
          </a:p>
          <a:p>
            <a:pPr algn="ctr"/>
            <a:endParaRPr lang="ru-RU" dirty="0"/>
          </a:p>
        </p:txBody>
      </p:sp>
      <p:sp>
        <p:nvSpPr>
          <p:cNvPr id="9" name="Rectangle 5">
            <a:extLst>
              <a:ext uri="{FF2B5EF4-FFF2-40B4-BE49-F238E27FC236}">
                <a16:creationId xmlns:a16="http://schemas.microsoft.com/office/drawing/2014/main" xmlns="" id="{25CCE7F0-259D-4D5F-9F80-B529E4934C4F}"/>
              </a:ext>
            </a:extLst>
          </p:cNvPr>
          <p:cNvSpPr>
            <a:spLocks noChangeArrowheads="1"/>
          </p:cNvSpPr>
          <p:nvPr/>
        </p:nvSpPr>
        <p:spPr bwMode="auto">
          <a:xfrm flipH="1">
            <a:off x="6284275" y="4862091"/>
            <a:ext cx="4534674" cy="923330"/>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b="0" i="0" u="none" strike="noStrike" cap="none" normalizeH="0" baseline="0" dirty="0">
                <a:ln>
                  <a:noFill/>
                </a:ln>
                <a:solidFill>
                  <a:srgbClr val="333333"/>
                </a:solidFill>
                <a:effectLst/>
                <a:latin typeface="Tahoma" panose="020B0604030504040204" pitchFamily="34" charset="0"/>
                <a:cs typeface="Tahoma" panose="020B0604030504040204" pitchFamily="34" charset="0"/>
              </a:rPr>
              <a:t>функция </a:t>
            </a:r>
            <a:r>
              <a:rPr lang="ru-RU" altLang="ru-RU" i="1" dirty="0" err="1">
                <a:solidFill>
                  <a:schemeClr val="accent1"/>
                </a:solidFill>
                <a:latin typeface="Tahoma" panose="020B0604030504040204" pitchFamily="34" charset="0"/>
                <a:cs typeface="Tahoma" panose="020B0604030504040204" pitchFamily="34" charset="0"/>
              </a:rPr>
              <a:t>die</a:t>
            </a:r>
            <a:r>
              <a:rPr lang="ru-RU" altLang="ru-RU" i="1" dirty="0">
                <a:solidFill>
                  <a:schemeClr val="accent1"/>
                </a:solidFill>
                <a:latin typeface="Tahoma" panose="020B0604030504040204" pitchFamily="34" charset="0"/>
                <a:cs typeface="Tahoma" panose="020B0604030504040204" pitchFamily="34" charset="0"/>
              </a:rPr>
              <a:t>() </a:t>
            </a:r>
            <a:r>
              <a:rPr kumimoji="0" lang="ru-RU" altLang="ru-RU" b="0" i="0" u="none" strike="noStrike" cap="none" normalizeH="0" baseline="0" dirty="0">
                <a:ln>
                  <a:noFill/>
                </a:ln>
                <a:solidFill>
                  <a:srgbClr val="333333"/>
                </a:solidFill>
                <a:effectLst/>
                <a:latin typeface="Tahoma" panose="020B0604030504040204" pitchFamily="34" charset="0"/>
                <a:cs typeface="Tahoma" panose="020B0604030504040204" pitchFamily="34" charset="0"/>
              </a:rPr>
              <a:t>остановит выполнение и выведет в браузер сообщение об ошибке</a:t>
            </a:r>
            <a:r>
              <a:rPr kumimoji="0" lang="ru-RU" altLang="ru-RU" b="0" i="0" u="none" strike="noStrike" cap="none" normalizeH="0" baseline="0" dirty="0">
                <a:ln>
                  <a:noFill/>
                </a:ln>
                <a:solidFill>
                  <a:schemeClr val="tx1"/>
                </a:solidFill>
                <a:effectLst/>
              </a:rPr>
              <a:t> </a:t>
            </a:r>
            <a:endParaRPr kumimoji="0" lang="ru-RU" altLang="ru-RU"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93717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8A2AA9C-DD66-46B3-83E3-EDF669F9F142}"/>
              </a:ext>
            </a:extLst>
          </p:cNvPr>
          <p:cNvSpPr>
            <a:spLocks noGrp="1"/>
          </p:cNvSpPr>
          <p:nvPr>
            <p:ph type="title"/>
          </p:nvPr>
        </p:nvSpPr>
        <p:spPr/>
        <p:txBody>
          <a:bodyPr/>
          <a:lstStyle/>
          <a:p>
            <a:r>
              <a:rPr lang="ru-RU" dirty="0"/>
              <a:t>Ошибки подключения</a:t>
            </a:r>
          </a:p>
        </p:txBody>
      </p:sp>
      <p:sp>
        <p:nvSpPr>
          <p:cNvPr id="3" name="Объект 2">
            <a:extLst>
              <a:ext uri="{FF2B5EF4-FFF2-40B4-BE49-F238E27FC236}">
                <a16:creationId xmlns:a16="http://schemas.microsoft.com/office/drawing/2014/main" xmlns="" id="{9F782E0B-0839-4BB6-83EE-C5D539511FF0}"/>
              </a:ext>
            </a:extLst>
          </p:cNvPr>
          <p:cNvSpPr>
            <a:spLocks noGrp="1"/>
          </p:cNvSpPr>
          <p:nvPr>
            <p:ph idx="1"/>
          </p:nvPr>
        </p:nvSpPr>
        <p:spPr>
          <a:xfrm>
            <a:off x="1451578" y="1912458"/>
            <a:ext cx="9603275" cy="2094709"/>
          </a:xfrm>
          <a:solidFill>
            <a:srgbClr val="F9F2F4"/>
          </a:solidFill>
        </p:spPr>
        <p:txBody>
          <a:bodyPr>
            <a:normAutofit lnSpcReduction="10000"/>
          </a:bodyPr>
          <a:lstStyle/>
          <a:p>
            <a:pPr marL="0" indent="0">
              <a:buNone/>
            </a:pPr>
            <a:r>
              <a:rPr lang="ru-RU" dirty="0">
                <a:latin typeface="Tahoma" panose="020B0604030504040204" pitchFamily="34" charset="0"/>
                <a:ea typeface="Tahoma" panose="020B0604030504040204" pitchFamily="34" charset="0"/>
                <a:cs typeface="Tahoma" panose="020B0604030504040204" pitchFamily="34" charset="0"/>
              </a:rPr>
              <a:t>Для проверки подключения используются следующие функции:</a:t>
            </a:r>
          </a:p>
          <a:p>
            <a:r>
              <a:rPr lang="ru-RU" i="1" dirty="0" err="1">
                <a:solidFill>
                  <a:schemeClr val="accent1"/>
                </a:solidFill>
                <a:latin typeface="Tahoma" panose="020B0604030504040204" pitchFamily="34" charset="0"/>
                <a:ea typeface="Tahoma" panose="020B0604030504040204" pitchFamily="34" charset="0"/>
                <a:cs typeface="Tahoma" panose="020B0604030504040204" pitchFamily="34" charset="0"/>
              </a:rPr>
              <a:t>mysqli_connect_errno</a:t>
            </a:r>
            <a:r>
              <a:rPr lang="ru-RU" i="1" dirty="0">
                <a:solidFill>
                  <a:schemeClr val="accent1"/>
                </a:solidFill>
                <a:latin typeface="Tahoma" panose="020B0604030504040204" pitchFamily="34" charset="0"/>
                <a:ea typeface="Tahoma" panose="020B0604030504040204" pitchFamily="34" charset="0"/>
                <a:cs typeface="Tahoma" panose="020B0604030504040204" pitchFamily="34" charset="0"/>
              </a:rPr>
              <a:t>()</a:t>
            </a:r>
            <a:r>
              <a:rPr lang="ru-RU" dirty="0">
                <a:latin typeface="Tahoma" panose="020B0604030504040204" pitchFamily="34" charset="0"/>
                <a:ea typeface="Tahoma" panose="020B0604030504040204" pitchFamily="34" charset="0"/>
                <a:cs typeface="Tahoma" panose="020B0604030504040204" pitchFamily="34" charset="0"/>
              </a:rPr>
              <a:t> — возвращает код ошибки последней попытки соединения. При отсутствие ошибок возвращает ноль.</a:t>
            </a:r>
          </a:p>
          <a:p>
            <a:r>
              <a:rPr lang="ru-RU" i="1" dirty="0" err="1">
                <a:solidFill>
                  <a:schemeClr val="accent1"/>
                </a:solidFill>
                <a:latin typeface="Tahoma" panose="020B0604030504040204" pitchFamily="34" charset="0"/>
                <a:ea typeface="Tahoma" panose="020B0604030504040204" pitchFamily="34" charset="0"/>
                <a:cs typeface="Tahoma" panose="020B0604030504040204" pitchFamily="34" charset="0"/>
              </a:rPr>
              <a:t>mysqli_connect_error</a:t>
            </a:r>
            <a:r>
              <a:rPr lang="ru-RU" i="1" dirty="0">
                <a:solidFill>
                  <a:schemeClr val="accent1"/>
                </a:solidFill>
                <a:latin typeface="Tahoma" panose="020B0604030504040204" pitchFamily="34" charset="0"/>
                <a:ea typeface="Tahoma" panose="020B0604030504040204" pitchFamily="34" charset="0"/>
                <a:cs typeface="Tahoma" panose="020B0604030504040204" pitchFamily="34" charset="0"/>
              </a:rPr>
              <a:t>()</a:t>
            </a:r>
            <a:r>
              <a:rPr lang="ru-RU" dirty="0">
                <a:latin typeface="Tahoma" panose="020B0604030504040204" pitchFamily="34" charset="0"/>
                <a:ea typeface="Tahoma" panose="020B0604030504040204" pitchFamily="34" charset="0"/>
                <a:cs typeface="Tahoma" panose="020B0604030504040204" pitchFamily="34" charset="0"/>
              </a:rPr>
              <a:t> — возвращает описание последней ошибки подключения к серверу </a:t>
            </a:r>
            <a:r>
              <a:rPr lang="ru-RU" dirty="0" err="1">
                <a:latin typeface="Tahoma" panose="020B0604030504040204" pitchFamily="34" charset="0"/>
                <a:ea typeface="Tahoma" panose="020B0604030504040204" pitchFamily="34" charset="0"/>
                <a:cs typeface="Tahoma" panose="020B0604030504040204" pitchFamily="34" charset="0"/>
              </a:rPr>
              <a:t>MySQL</a:t>
            </a:r>
            <a:r>
              <a:rPr lang="ru-RU" dirty="0">
                <a:latin typeface="Tahoma" panose="020B0604030504040204" pitchFamily="34" charset="0"/>
                <a:ea typeface="Tahoma" panose="020B0604030504040204" pitchFamily="34" charset="0"/>
                <a:cs typeface="Tahoma" panose="020B0604030504040204" pitchFamily="34" charset="0"/>
              </a:rPr>
              <a:t>.</a:t>
            </a:r>
          </a:p>
        </p:txBody>
      </p:sp>
      <p:sp>
        <p:nvSpPr>
          <p:cNvPr id="5" name="Прямоугольник: загнутый угол 4">
            <a:extLst>
              <a:ext uri="{FF2B5EF4-FFF2-40B4-BE49-F238E27FC236}">
                <a16:creationId xmlns:a16="http://schemas.microsoft.com/office/drawing/2014/main" xmlns="" id="{CD37C609-A4DE-4817-A781-6EED03ED1D5B}"/>
              </a:ext>
            </a:extLst>
          </p:cNvPr>
          <p:cNvSpPr/>
          <p:nvPr/>
        </p:nvSpPr>
        <p:spPr>
          <a:xfrm>
            <a:off x="4467113" y="3860925"/>
            <a:ext cx="7589520" cy="2244039"/>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gn="ctr">
              <a:lnSpc>
                <a:spcPct val="120000"/>
              </a:lnSpc>
              <a:spcAft>
                <a:spcPts val="600"/>
              </a:spcAft>
            </a:pPr>
            <a:r>
              <a:rPr lang="ru-RU" altLang="ru-RU" dirty="0">
                <a:solidFill>
                  <a:srgbClr val="333333"/>
                </a:solidFill>
                <a:latin typeface="Menlo"/>
              </a:rPr>
              <a:t>/* проверка соединения */ </a:t>
            </a:r>
          </a:p>
          <a:p>
            <a:pPr>
              <a:lnSpc>
                <a:spcPct val="120000"/>
              </a:lnSpc>
              <a:spcAft>
                <a:spcPts val="600"/>
              </a:spcAft>
            </a:pPr>
            <a:r>
              <a:rPr lang="ru-RU" altLang="ru-RU" dirty="0" err="1">
                <a:solidFill>
                  <a:srgbClr val="333333"/>
                </a:solidFill>
                <a:latin typeface="Menlo"/>
              </a:rPr>
              <a:t>if</a:t>
            </a:r>
            <a:r>
              <a:rPr lang="ru-RU" altLang="ru-RU" dirty="0">
                <a:solidFill>
                  <a:srgbClr val="333333"/>
                </a:solidFill>
                <a:latin typeface="Menlo"/>
              </a:rPr>
              <a:t> ( </a:t>
            </a:r>
            <a:r>
              <a:rPr lang="ru-RU" altLang="ru-RU" dirty="0" err="1">
                <a:solidFill>
                  <a:srgbClr val="333333"/>
                </a:solidFill>
                <a:latin typeface="Menlo"/>
              </a:rPr>
              <a:t>mysqli_connect_errno</a:t>
            </a:r>
            <a:r>
              <a:rPr lang="ru-RU" altLang="ru-RU" dirty="0">
                <a:solidFill>
                  <a:srgbClr val="333333"/>
                </a:solidFill>
                <a:latin typeface="Menlo"/>
              </a:rPr>
              <a:t>() ) </a:t>
            </a:r>
          </a:p>
          <a:p>
            <a:pPr>
              <a:lnSpc>
                <a:spcPct val="120000"/>
              </a:lnSpc>
              <a:spcAft>
                <a:spcPts val="600"/>
              </a:spcAft>
            </a:pPr>
            <a:r>
              <a:rPr lang="ru-RU" altLang="ru-RU" dirty="0">
                <a:solidFill>
                  <a:srgbClr val="333333"/>
                </a:solidFill>
                <a:latin typeface="Menlo"/>
              </a:rPr>
              <a:t>    { </a:t>
            </a:r>
            <a:r>
              <a:rPr lang="ru-RU" altLang="ru-RU" dirty="0" err="1">
                <a:solidFill>
                  <a:srgbClr val="333333"/>
                </a:solidFill>
                <a:latin typeface="Menlo"/>
              </a:rPr>
              <a:t>printf</a:t>
            </a:r>
            <a:r>
              <a:rPr lang="ru-RU" altLang="ru-RU" dirty="0">
                <a:solidFill>
                  <a:srgbClr val="333333"/>
                </a:solidFill>
                <a:latin typeface="Menlo"/>
              </a:rPr>
              <a:t>("Не удалось подключиться: %s\n", </a:t>
            </a:r>
            <a:r>
              <a:rPr lang="ru-RU" altLang="ru-RU" dirty="0" err="1">
                <a:solidFill>
                  <a:srgbClr val="333333"/>
                </a:solidFill>
                <a:latin typeface="Menlo"/>
              </a:rPr>
              <a:t>mysqli_connect_error</a:t>
            </a:r>
            <a:r>
              <a:rPr lang="ru-RU" altLang="ru-RU" dirty="0">
                <a:solidFill>
                  <a:srgbClr val="333333"/>
                </a:solidFill>
                <a:latin typeface="Menlo"/>
              </a:rPr>
              <a:t>()); </a:t>
            </a:r>
            <a:r>
              <a:rPr lang="ru-RU" altLang="ru-RU" dirty="0" err="1">
                <a:solidFill>
                  <a:srgbClr val="333333"/>
                </a:solidFill>
                <a:latin typeface="Menlo"/>
              </a:rPr>
              <a:t>exit</a:t>
            </a:r>
            <a:r>
              <a:rPr lang="ru-RU" altLang="ru-RU" dirty="0">
                <a:solidFill>
                  <a:srgbClr val="333333"/>
                </a:solidFill>
                <a:latin typeface="Menlo"/>
              </a:rPr>
              <a:t>(); }</a:t>
            </a:r>
          </a:p>
          <a:p>
            <a:pPr>
              <a:lnSpc>
                <a:spcPct val="120000"/>
              </a:lnSpc>
              <a:spcAft>
                <a:spcPts val="600"/>
              </a:spcAft>
            </a:pPr>
            <a:r>
              <a:rPr lang="ru-RU" altLang="ru-RU" dirty="0" err="1">
                <a:solidFill>
                  <a:srgbClr val="333333"/>
                </a:solidFill>
                <a:latin typeface="Menlo"/>
              </a:rPr>
              <a:t>else</a:t>
            </a:r>
            <a:r>
              <a:rPr lang="ru-RU" altLang="ru-RU" dirty="0">
                <a:solidFill>
                  <a:srgbClr val="333333"/>
                </a:solidFill>
                <a:latin typeface="Menlo"/>
              </a:rPr>
              <a:t> { </a:t>
            </a:r>
            <a:r>
              <a:rPr lang="ru-RU" altLang="ru-RU" dirty="0" err="1">
                <a:solidFill>
                  <a:srgbClr val="333333"/>
                </a:solidFill>
                <a:latin typeface="Menlo"/>
              </a:rPr>
              <a:t>printf</a:t>
            </a:r>
            <a:r>
              <a:rPr lang="ru-RU" altLang="ru-RU" dirty="0">
                <a:solidFill>
                  <a:srgbClr val="333333"/>
                </a:solidFill>
                <a:latin typeface="Menlo"/>
              </a:rPr>
              <a:t>("Удалось подключиться: %s\n", </a:t>
            </a:r>
            <a:r>
              <a:rPr lang="ru-RU" altLang="ru-RU" dirty="0" err="1">
                <a:solidFill>
                  <a:srgbClr val="333333"/>
                </a:solidFill>
                <a:latin typeface="Menlo"/>
              </a:rPr>
              <a:t>mysqli_get_host_info</a:t>
            </a:r>
            <a:r>
              <a:rPr lang="ru-RU" altLang="ru-RU" dirty="0">
                <a:solidFill>
                  <a:srgbClr val="333333"/>
                </a:solidFill>
                <a:latin typeface="Menlo"/>
              </a:rPr>
              <a:t>($</a:t>
            </a:r>
            <a:r>
              <a:rPr lang="ru-RU" altLang="ru-RU" dirty="0" err="1">
                <a:solidFill>
                  <a:srgbClr val="333333"/>
                </a:solidFill>
                <a:latin typeface="Menlo"/>
              </a:rPr>
              <a:t>link</a:t>
            </a:r>
            <a:r>
              <a:rPr lang="ru-RU" altLang="ru-RU" dirty="0">
                <a:solidFill>
                  <a:srgbClr val="333333"/>
                </a:solidFill>
                <a:latin typeface="Menlo"/>
              </a:rPr>
              <a:t>)); }</a:t>
            </a:r>
            <a:r>
              <a:rPr lang="ru-RU" altLang="ru-RU" dirty="0">
                <a:solidFill>
                  <a:schemeClr val="tx1"/>
                </a:solidFill>
              </a:rPr>
              <a:t> </a:t>
            </a:r>
            <a:endParaRPr lang="ru-RU" altLang="ru-RU" dirty="0">
              <a:solidFill>
                <a:schemeClr val="tx1"/>
              </a:solidFill>
              <a:latin typeface="Arial" panose="020B0604020202020204" pitchFamily="34" charset="0"/>
            </a:endParaRPr>
          </a:p>
          <a:p>
            <a:pPr algn="ctr">
              <a:lnSpc>
                <a:spcPct val="120000"/>
              </a:lnSpc>
              <a:spcAft>
                <a:spcPts val="600"/>
              </a:spcAft>
            </a:pPr>
            <a:endParaRPr lang="ru-RU" dirty="0"/>
          </a:p>
        </p:txBody>
      </p:sp>
    </p:spTree>
    <p:extLst>
      <p:ext uri="{BB962C8B-B14F-4D97-AF65-F5344CB8AC3E}">
        <p14:creationId xmlns:p14="http://schemas.microsoft.com/office/powerpoint/2010/main" val="4656318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15548E9-52CC-4ADB-A1D7-D12350C3C0B3}"/>
              </a:ext>
            </a:extLst>
          </p:cNvPr>
          <p:cNvSpPr>
            <a:spLocks noGrp="1"/>
          </p:cNvSpPr>
          <p:nvPr>
            <p:ph type="title"/>
          </p:nvPr>
        </p:nvSpPr>
        <p:spPr/>
        <p:txBody>
          <a:bodyPr/>
          <a:lstStyle/>
          <a:p>
            <a:r>
              <a:rPr lang="ru-RU" dirty="0"/>
              <a:t>Выбор базы данных</a:t>
            </a:r>
          </a:p>
        </p:txBody>
      </p:sp>
      <p:sp>
        <p:nvSpPr>
          <p:cNvPr id="3" name="Объект 2">
            <a:extLst>
              <a:ext uri="{FF2B5EF4-FFF2-40B4-BE49-F238E27FC236}">
                <a16:creationId xmlns:a16="http://schemas.microsoft.com/office/drawing/2014/main" xmlns="" id="{0233C58F-740E-4427-89E2-0B699DC430FD}"/>
              </a:ext>
            </a:extLst>
          </p:cNvPr>
          <p:cNvSpPr>
            <a:spLocks noGrp="1"/>
          </p:cNvSpPr>
          <p:nvPr>
            <p:ph idx="1"/>
          </p:nvPr>
        </p:nvSpPr>
        <p:spPr>
          <a:xfrm>
            <a:off x="1451579" y="2015732"/>
            <a:ext cx="8156655" cy="1049235"/>
          </a:xfrm>
          <a:solidFill>
            <a:srgbClr val="F9F2F4"/>
          </a:solidFill>
        </p:spPr>
        <p:txBody>
          <a:bodyPr/>
          <a:lstStyle/>
          <a:p>
            <a:r>
              <a:rPr lang="ru-RU" dirty="0">
                <a:latin typeface="Tahoma" panose="020B0604030504040204" pitchFamily="34" charset="0"/>
                <a:ea typeface="Tahoma" panose="020B0604030504040204" pitchFamily="34" charset="0"/>
                <a:cs typeface="Tahoma" panose="020B0604030504040204" pitchFamily="34" charset="0"/>
              </a:rPr>
              <a:t>В PHP для этого в функции </a:t>
            </a:r>
            <a:r>
              <a:rPr lang="ru-RU" sz="1800" i="1" dirty="0" err="1">
                <a:solidFill>
                  <a:schemeClr val="accent1"/>
                </a:solidFill>
                <a:latin typeface="Tahoma" panose="020B0604030504040204" pitchFamily="34" charset="0"/>
                <a:ea typeface="Tahoma" panose="020B0604030504040204" pitchFamily="34" charset="0"/>
                <a:cs typeface="Tahoma" panose="020B0604030504040204" pitchFamily="34" charset="0"/>
              </a:rPr>
              <a:t>mysqli_connect</a:t>
            </a:r>
            <a:r>
              <a:rPr lang="ru-RU" sz="1800" i="1" dirty="0">
                <a:solidFill>
                  <a:schemeClr val="accent1"/>
                </a:solidFill>
                <a:latin typeface="Tahoma" panose="020B0604030504040204" pitchFamily="34" charset="0"/>
                <a:ea typeface="Tahoma" panose="020B0604030504040204" pitchFamily="34" charset="0"/>
                <a:cs typeface="Tahoma" panose="020B0604030504040204" pitchFamily="34" charset="0"/>
              </a:rPr>
              <a:t>() </a:t>
            </a:r>
            <a:r>
              <a:rPr lang="ru-RU" dirty="0">
                <a:latin typeface="Tahoma" panose="020B0604030504040204" pitchFamily="34" charset="0"/>
                <a:ea typeface="Tahoma" panose="020B0604030504040204" pitchFamily="34" charset="0"/>
                <a:cs typeface="Tahoma" panose="020B0604030504040204" pitchFamily="34" charset="0"/>
              </a:rPr>
              <a:t>есть ещё один параметр — имя базы данных.</a:t>
            </a:r>
          </a:p>
        </p:txBody>
      </p:sp>
      <p:sp>
        <p:nvSpPr>
          <p:cNvPr id="4" name="Прямоугольник: загнутый угол 3">
            <a:extLst>
              <a:ext uri="{FF2B5EF4-FFF2-40B4-BE49-F238E27FC236}">
                <a16:creationId xmlns:a16="http://schemas.microsoft.com/office/drawing/2014/main" xmlns="" id="{F57B5BFD-70D6-473C-B71B-8A37FB92570B}"/>
              </a:ext>
            </a:extLst>
          </p:cNvPr>
          <p:cNvSpPr/>
          <p:nvPr/>
        </p:nvSpPr>
        <p:spPr>
          <a:xfrm>
            <a:off x="5444196" y="3429000"/>
            <a:ext cx="5610657" cy="1757374"/>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altLang="ru-RU" dirty="0">
                <a:solidFill>
                  <a:srgbClr val="333333"/>
                </a:solidFill>
                <a:latin typeface="Menlo"/>
              </a:rPr>
              <a:t>$link = </a:t>
            </a:r>
            <a:r>
              <a:rPr lang="en-US" altLang="ru-RU" dirty="0" err="1">
                <a:solidFill>
                  <a:srgbClr val="333333"/>
                </a:solidFill>
                <a:latin typeface="Menlo"/>
              </a:rPr>
              <a:t>mysqli_connect</a:t>
            </a:r>
            <a:r>
              <a:rPr lang="en-US" altLang="ru-RU" dirty="0">
                <a:solidFill>
                  <a:srgbClr val="333333"/>
                </a:solidFill>
                <a:latin typeface="Menlo"/>
              </a:rPr>
              <a:t>(</a:t>
            </a:r>
            <a:r>
              <a:rPr lang="en-US" altLang="ru-RU" sz="2000" dirty="0">
                <a:solidFill>
                  <a:srgbClr val="333333"/>
                </a:solidFill>
                <a:latin typeface="Menlo"/>
              </a:rPr>
              <a:t>'localhost', "root", '', </a:t>
            </a:r>
            <a:r>
              <a:rPr lang="en-US" altLang="ru-RU" sz="2000" b="1" dirty="0">
                <a:solidFill>
                  <a:schemeClr val="accent1"/>
                </a:solidFill>
                <a:latin typeface="Menlo"/>
              </a:rPr>
              <a:t>'tester'</a:t>
            </a:r>
            <a:r>
              <a:rPr lang="en-US" altLang="ru-RU" sz="2000" dirty="0">
                <a:solidFill>
                  <a:srgbClr val="333333"/>
                </a:solidFill>
                <a:latin typeface="Menlo"/>
              </a:rPr>
              <a:t>);</a:t>
            </a:r>
          </a:p>
          <a:p>
            <a:pPr>
              <a:lnSpc>
                <a:spcPct val="120000"/>
              </a:lnSpc>
              <a:spcAft>
                <a:spcPts val="600"/>
              </a:spcAft>
            </a:pPr>
            <a:r>
              <a:rPr lang="en-US" altLang="ru-RU" sz="2000" dirty="0">
                <a:solidFill>
                  <a:srgbClr val="333333"/>
                </a:solidFill>
                <a:latin typeface="Menlo"/>
              </a:rPr>
              <a:t>if ( !$link ) die("Error");</a:t>
            </a:r>
          </a:p>
          <a:p>
            <a:pPr>
              <a:lnSpc>
                <a:spcPct val="120000"/>
              </a:lnSpc>
              <a:spcAft>
                <a:spcPts val="600"/>
              </a:spcAft>
            </a:pPr>
            <a:r>
              <a:rPr lang="en-US" altLang="ru-RU" sz="2000" dirty="0" err="1">
                <a:solidFill>
                  <a:srgbClr val="333333"/>
                </a:solidFill>
                <a:latin typeface="Menlo"/>
              </a:rPr>
              <a:t>mysql_close</a:t>
            </a:r>
            <a:r>
              <a:rPr lang="en-US" altLang="ru-RU" sz="2000" dirty="0">
                <a:solidFill>
                  <a:srgbClr val="333333"/>
                </a:solidFill>
                <a:latin typeface="Menlo"/>
              </a:rPr>
              <a:t>($link</a:t>
            </a:r>
            <a:r>
              <a:rPr lang="en-US" altLang="ru-RU" dirty="0">
                <a:solidFill>
                  <a:srgbClr val="333333"/>
                </a:solidFill>
                <a:latin typeface="Menlo"/>
              </a:rPr>
              <a:t>);</a:t>
            </a:r>
            <a:endParaRPr lang="ru-RU" dirty="0"/>
          </a:p>
        </p:txBody>
      </p:sp>
    </p:spTree>
    <p:extLst>
      <p:ext uri="{BB962C8B-B14F-4D97-AF65-F5344CB8AC3E}">
        <p14:creationId xmlns:p14="http://schemas.microsoft.com/office/powerpoint/2010/main" val="17951123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5B6F25-F51B-479A-806C-35620AA139CC}"/>
              </a:ext>
            </a:extLst>
          </p:cNvPr>
          <p:cNvSpPr>
            <a:spLocks noGrp="1"/>
          </p:cNvSpPr>
          <p:nvPr>
            <p:ph type="title"/>
          </p:nvPr>
        </p:nvSpPr>
        <p:spPr/>
        <p:txBody>
          <a:bodyPr/>
          <a:lstStyle/>
          <a:p>
            <a:r>
              <a:rPr lang="ru-RU" dirty="0"/>
              <a:t>Создаём таблицу</a:t>
            </a:r>
          </a:p>
        </p:txBody>
      </p:sp>
      <p:sp>
        <p:nvSpPr>
          <p:cNvPr id="4" name="Rectangle 1">
            <a:extLst>
              <a:ext uri="{FF2B5EF4-FFF2-40B4-BE49-F238E27FC236}">
                <a16:creationId xmlns:a16="http://schemas.microsoft.com/office/drawing/2014/main" xmlns="" id="{84C8A204-3888-4A33-B119-E09C696FB50D}"/>
              </a:ext>
            </a:extLst>
          </p:cNvPr>
          <p:cNvSpPr>
            <a:spLocks noGrp="1" noChangeArrowheads="1"/>
          </p:cNvSpPr>
          <p:nvPr>
            <p:ph idx="1"/>
          </p:nvPr>
        </p:nvSpPr>
        <p:spPr bwMode="auto">
          <a:xfrm>
            <a:off x="600355" y="2131939"/>
            <a:ext cx="5610657" cy="707886"/>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b="0" i="0" u="none" strike="noStrike" cap="none" normalizeH="0" baseline="0" dirty="0">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Чтобы создать таблицу нам просто нужно указать команду </a:t>
            </a:r>
            <a:r>
              <a:rPr kumimoji="0" lang="ru-RU" altLang="ru-RU" b="0" i="1" u="none" strike="noStrike" cap="none" normalizeH="0" baseline="0" dirty="0">
                <a:ln>
                  <a:noFill/>
                </a:ln>
                <a:solidFill>
                  <a:srgbClr val="C7254E"/>
                </a:solidFill>
                <a:effectLst/>
                <a:latin typeface="Tahoma" panose="020B0604030504040204" pitchFamily="34" charset="0"/>
                <a:ea typeface="Tahoma" panose="020B0604030504040204" pitchFamily="34" charset="0"/>
                <a:cs typeface="Tahoma" panose="020B0604030504040204" pitchFamily="34" charset="0"/>
              </a:rPr>
              <a:t>CREATE TABLE</a:t>
            </a:r>
            <a:r>
              <a:rPr kumimoji="0" lang="ru-RU" altLang="ru-RU" b="0" i="1" u="none" strike="noStrike" cap="none" normalizeH="0" baseline="0" dirty="0">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a:t>
            </a:r>
            <a:r>
              <a:rPr kumimoji="0" lang="ru-RU" altLang="ru-RU" b="0" i="1"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p>
        </p:txBody>
      </p:sp>
      <p:sp>
        <p:nvSpPr>
          <p:cNvPr id="5" name="Прямоугольник: загнутый угол 4">
            <a:extLst>
              <a:ext uri="{FF2B5EF4-FFF2-40B4-BE49-F238E27FC236}">
                <a16:creationId xmlns:a16="http://schemas.microsoft.com/office/drawing/2014/main" xmlns="" id="{63E06FF8-3EFE-4CD9-9C31-724ABB81B344}"/>
              </a:ext>
            </a:extLst>
          </p:cNvPr>
          <p:cNvSpPr/>
          <p:nvPr/>
        </p:nvSpPr>
        <p:spPr>
          <a:xfrm>
            <a:off x="6253216" y="2550313"/>
            <a:ext cx="5610657" cy="1757374"/>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dirty="0"/>
              <a:t>$query = 'CREATE TABLE users(</a:t>
            </a:r>
          </a:p>
          <a:p>
            <a:pPr>
              <a:lnSpc>
                <a:spcPct val="120000"/>
              </a:lnSpc>
              <a:spcAft>
                <a:spcPts val="600"/>
              </a:spcAft>
            </a:pPr>
            <a:r>
              <a:rPr lang="en-US" dirty="0"/>
              <a:t>    </a:t>
            </a:r>
            <a:r>
              <a:rPr lang="ru-RU" dirty="0"/>
              <a:t>				</a:t>
            </a:r>
            <a:r>
              <a:rPr lang="en-US" dirty="0"/>
              <a:t>login       VARCHAR(20),</a:t>
            </a:r>
          </a:p>
          <a:p>
            <a:pPr>
              <a:lnSpc>
                <a:spcPct val="120000"/>
              </a:lnSpc>
              <a:spcAft>
                <a:spcPts val="600"/>
              </a:spcAft>
            </a:pPr>
            <a:r>
              <a:rPr lang="en-US" dirty="0"/>
              <a:t>    </a:t>
            </a:r>
            <a:r>
              <a:rPr lang="ru-RU" dirty="0"/>
              <a:t>				</a:t>
            </a:r>
            <a:r>
              <a:rPr lang="en-US" dirty="0"/>
              <a:t>password    VARCHAR(20)</a:t>
            </a:r>
          </a:p>
          <a:p>
            <a:pPr>
              <a:lnSpc>
                <a:spcPct val="120000"/>
              </a:lnSpc>
              <a:spcAft>
                <a:spcPts val="600"/>
              </a:spcAft>
            </a:pPr>
            <a:r>
              <a:rPr lang="ru-RU" dirty="0"/>
              <a:t>		</a:t>
            </a:r>
            <a:r>
              <a:rPr lang="en-US" dirty="0"/>
              <a:t>)';</a:t>
            </a:r>
            <a:endParaRPr lang="ru-RU" dirty="0"/>
          </a:p>
        </p:txBody>
      </p:sp>
      <p:sp>
        <p:nvSpPr>
          <p:cNvPr id="6" name="Rectangle 2">
            <a:extLst>
              <a:ext uri="{FF2B5EF4-FFF2-40B4-BE49-F238E27FC236}">
                <a16:creationId xmlns:a16="http://schemas.microsoft.com/office/drawing/2014/main" xmlns="" id="{3285B6B6-D86E-48EB-84B3-5BC52B8E7825}"/>
              </a:ext>
            </a:extLst>
          </p:cNvPr>
          <p:cNvSpPr>
            <a:spLocks noChangeArrowheads="1"/>
          </p:cNvSpPr>
          <p:nvPr/>
        </p:nvSpPr>
        <p:spPr bwMode="auto">
          <a:xfrm>
            <a:off x="600354" y="3255276"/>
            <a:ext cx="5610657" cy="1015663"/>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Чтобы отправить наш запрос на сервер </a:t>
            </a:r>
            <a:r>
              <a:rPr kumimoji="0" lang="ru-RU" altLang="ru-RU" sz="2000" b="0" i="0" u="none" strike="noStrike" cap="none" normalizeH="0" baseline="0" dirty="0" err="1">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MySQL</a:t>
            </a:r>
            <a:r>
              <a:rPr kumimoji="0" lang="ru-RU" altLang="ru-RU" sz="2000" b="0" i="0" u="none" strike="noStrike" cap="none" normalizeH="0" baseline="0" dirty="0">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 мы используем PHP функцию </a:t>
            </a:r>
            <a:r>
              <a:rPr kumimoji="0" lang="ru-RU" altLang="ru-RU" sz="2000" b="0" i="1" u="none" strike="noStrike" cap="none" normalizeH="0" baseline="0" dirty="0" err="1">
                <a:ln>
                  <a:noFill/>
                </a:ln>
                <a:solidFill>
                  <a:srgbClr val="C7254E"/>
                </a:solidFill>
                <a:effectLst/>
                <a:latin typeface="Tahoma" panose="020B0604030504040204" pitchFamily="34" charset="0"/>
                <a:ea typeface="Tahoma" panose="020B0604030504040204" pitchFamily="34" charset="0"/>
                <a:cs typeface="Tahoma" panose="020B0604030504040204" pitchFamily="34" charset="0"/>
              </a:rPr>
              <a:t>mysqli_query</a:t>
            </a:r>
            <a:r>
              <a:rPr kumimoji="0" lang="ru-RU" altLang="ru-RU" sz="2000" b="0" i="1" u="none" strike="noStrike" cap="none" normalizeH="0" baseline="0" dirty="0">
                <a:ln>
                  <a:noFill/>
                </a:ln>
                <a:solidFill>
                  <a:srgbClr val="C7254E"/>
                </a:solidFill>
                <a:effectLst/>
                <a:latin typeface="Tahoma" panose="020B0604030504040204" pitchFamily="34" charset="0"/>
                <a:ea typeface="Tahoma" panose="020B0604030504040204" pitchFamily="34" charset="0"/>
                <a:cs typeface="Tahoma" panose="020B0604030504040204" pitchFamily="34" charset="0"/>
              </a:rPr>
              <a:t>()</a:t>
            </a:r>
            <a:r>
              <a:rPr kumimoji="0" lang="ru-RU" altLang="ru-RU" sz="2000" b="0" i="1" u="none" strike="noStrike" cap="none" normalizeH="0" baseline="0" dirty="0">
                <a:ln>
                  <a:noFill/>
                </a:ln>
                <a:solidFill>
                  <a:srgbClr val="333333"/>
                </a:solidFill>
                <a:effectLst/>
                <a:latin typeface="Tahoma" panose="020B0604030504040204" pitchFamily="34" charset="0"/>
                <a:ea typeface="Tahoma" panose="020B0604030504040204" pitchFamily="34" charset="0"/>
                <a:cs typeface="Tahoma" panose="020B0604030504040204" pitchFamily="34" charset="0"/>
              </a:rPr>
              <a:t>.</a:t>
            </a:r>
            <a:r>
              <a:rPr kumimoji="0" lang="ru-RU" altLang="ru-RU" sz="2000" b="0" i="1"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p>
        </p:txBody>
      </p:sp>
      <p:sp>
        <p:nvSpPr>
          <p:cNvPr id="7" name="Прямоугольник: загнутый угол 6">
            <a:extLst>
              <a:ext uri="{FF2B5EF4-FFF2-40B4-BE49-F238E27FC236}">
                <a16:creationId xmlns:a16="http://schemas.microsoft.com/office/drawing/2014/main" xmlns="" id="{A0BD7CFC-1A6D-4568-AE2D-3923893F59AE}"/>
              </a:ext>
            </a:extLst>
          </p:cNvPr>
          <p:cNvSpPr/>
          <p:nvPr/>
        </p:nvSpPr>
        <p:spPr>
          <a:xfrm>
            <a:off x="6253216" y="2550313"/>
            <a:ext cx="5610657" cy="3467889"/>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dirty="0"/>
              <a:t>$link = </a:t>
            </a:r>
            <a:r>
              <a:rPr lang="en-US" dirty="0" err="1"/>
              <a:t>mysqli_connect</a:t>
            </a:r>
            <a:r>
              <a:rPr lang="en-US" dirty="0"/>
              <a:t>('localhost', "root", '', 'tester');</a:t>
            </a:r>
          </a:p>
          <a:p>
            <a:pPr>
              <a:lnSpc>
                <a:spcPct val="120000"/>
              </a:lnSpc>
              <a:spcAft>
                <a:spcPts val="600"/>
              </a:spcAft>
            </a:pPr>
            <a:r>
              <a:rPr lang="en-US" dirty="0"/>
              <a:t>if ( !$link ) die("Error");</a:t>
            </a:r>
          </a:p>
          <a:p>
            <a:pPr>
              <a:lnSpc>
                <a:spcPct val="120000"/>
              </a:lnSpc>
              <a:spcAft>
                <a:spcPts val="600"/>
              </a:spcAft>
            </a:pPr>
            <a:r>
              <a:rPr lang="en-US" dirty="0"/>
              <a:t>$query = 'CREATE TABLE users(</a:t>
            </a:r>
          </a:p>
          <a:p>
            <a:pPr>
              <a:lnSpc>
                <a:spcPct val="120000"/>
              </a:lnSpc>
              <a:spcAft>
                <a:spcPts val="600"/>
              </a:spcAft>
            </a:pPr>
            <a:r>
              <a:rPr lang="en-US" dirty="0"/>
              <a:t>   </a:t>
            </a:r>
            <a:r>
              <a:rPr lang="ru-RU" dirty="0"/>
              <a:t>			</a:t>
            </a:r>
            <a:r>
              <a:rPr lang="en-US" dirty="0"/>
              <a:t> login       VARCHAR(20),</a:t>
            </a:r>
          </a:p>
          <a:p>
            <a:pPr>
              <a:lnSpc>
                <a:spcPct val="120000"/>
              </a:lnSpc>
              <a:spcAft>
                <a:spcPts val="600"/>
              </a:spcAft>
            </a:pPr>
            <a:r>
              <a:rPr lang="en-US" dirty="0"/>
              <a:t>   </a:t>
            </a:r>
            <a:r>
              <a:rPr lang="ru-RU" dirty="0"/>
              <a:t>			</a:t>
            </a:r>
            <a:r>
              <a:rPr lang="en-US" dirty="0"/>
              <a:t> password    VARCHAR(20)</a:t>
            </a:r>
          </a:p>
          <a:p>
            <a:pPr>
              <a:lnSpc>
                <a:spcPct val="120000"/>
              </a:lnSpc>
              <a:spcAft>
                <a:spcPts val="600"/>
              </a:spcAft>
            </a:pPr>
            <a:r>
              <a:rPr lang="ru-RU" dirty="0"/>
              <a:t>		</a:t>
            </a:r>
            <a:r>
              <a:rPr lang="en-US" dirty="0"/>
              <a:t>)';</a:t>
            </a:r>
          </a:p>
          <a:p>
            <a:pPr>
              <a:lnSpc>
                <a:spcPct val="120000"/>
              </a:lnSpc>
              <a:spcAft>
                <a:spcPts val="600"/>
              </a:spcAft>
            </a:pPr>
            <a:r>
              <a:rPr lang="en-US" dirty="0" err="1"/>
              <a:t>mysqli_query</a:t>
            </a:r>
            <a:r>
              <a:rPr lang="en-US" dirty="0"/>
              <a:t>($query);</a:t>
            </a:r>
          </a:p>
          <a:p>
            <a:pPr>
              <a:lnSpc>
                <a:spcPct val="120000"/>
              </a:lnSpc>
              <a:spcAft>
                <a:spcPts val="600"/>
              </a:spcAft>
            </a:pPr>
            <a:r>
              <a:rPr lang="en-US" dirty="0" err="1"/>
              <a:t>mysqli_close</a:t>
            </a:r>
            <a:r>
              <a:rPr lang="en-US" dirty="0"/>
              <a:t>($link);</a:t>
            </a:r>
            <a:endParaRPr lang="ru-RU" dirty="0"/>
          </a:p>
        </p:txBody>
      </p:sp>
    </p:spTree>
    <p:extLst>
      <p:ext uri="{BB962C8B-B14F-4D97-AF65-F5344CB8AC3E}">
        <p14:creationId xmlns:p14="http://schemas.microsoft.com/office/powerpoint/2010/main" val="25498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outVertic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5B6F25-F51B-479A-806C-35620AA139CC}"/>
              </a:ext>
            </a:extLst>
          </p:cNvPr>
          <p:cNvSpPr>
            <a:spLocks noGrp="1"/>
          </p:cNvSpPr>
          <p:nvPr>
            <p:ph type="title"/>
          </p:nvPr>
        </p:nvSpPr>
        <p:spPr/>
        <p:txBody>
          <a:bodyPr/>
          <a:lstStyle/>
          <a:p>
            <a:r>
              <a:rPr lang="ru-RU" dirty="0"/>
              <a:t>Обработка ошибок</a:t>
            </a:r>
          </a:p>
        </p:txBody>
      </p:sp>
      <p:sp>
        <p:nvSpPr>
          <p:cNvPr id="7" name="Объект 6">
            <a:extLst>
              <a:ext uri="{FF2B5EF4-FFF2-40B4-BE49-F238E27FC236}">
                <a16:creationId xmlns:a16="http://schemas.microsoft.com/office/drawing/2014/main" xmlns="" id="{4EFC1717-9C5E-49CD-9C52-C57EA6944229}"/>
              </a:ext>
            </a:extLst>
          </p:cNvPr>
          <p:cNvSpPr>
            <a:spLocks noGrp="1"/>
          </p:cNvSpPr>
          <p:nvPr>
            <p:ph idx="1"/>
          </p:nvPr>
        </p:nvSpPr>
        <p:spPr>
          <a:xfrm>
            <a:off x="652610" y="2015732"/>
            <a:ext cx="4801638" cy="2643354"/>
          </a:xfrm>
          <a:solidFill>
            <a:srgbClr val="F9F2F4"/>
          </a:solidFill>
        </p:spPr>
        <p:txBody>
          <a:bodyPr>
            <a:noAutofit/>
          </a:bodyPr>
          <a:lstStyle/>
          <a:p>
            <a:pPr marL="0" indent="0">
              <a:buNone/>
            </a:pPr>
            <a:r>
              <a:rPr lang="ru-RU" dirty="0">
                <a:latin typeface="Tahoma" panose="020B0604030504040204" pitchFamily="34" charset="0"/>
                <a:ea typeface="Tahoma" panose="020B0604030504040204" pitchFamily="34" charset="0"/>
                <a:cs typeface="Tahoma" panose="020B0604030504040204" pitchFamily="34" charset="0"/>
              </a:rPr>
              <a:t>Для доступа к этим данным в PHP </a:t>
            </a:r>
            <a:br>
              <a:rPr lang="ru-RU" dirty="0">
                <a:latin typeface="Tahoma" panose="020B0604030504040204" pitchFamily="34" charset="0"/>
                <a:ea typeface="Tahoma" panose="020B0604030504040204" pitchFamily="34" charset="0"/>
                <a:cs typeface="Tahoma" panose="020B0604030504040204" pitchFamily="34" charset="0"/>
              </a:rPr>
            </a:br>
            <a:r>
              <a:rPr lang="ru-RU" dirty="0">
                <a:latin typeface="Tahoma" panose="020B0604030504040204" pitchFamily="34" charset="0"/>
                <a:ea typeface="Tahoma" panose="020B0604030504040204" pitchFamily="34" charset="0"/>
                <a:cs typeface="Tahoma" panose="020B0604030504040204" pitchFamily="34" charset="0"/>
              </a:rPr>
              <a:t>есть специальные функции.</a:t>
            </a:r>
          </a:p>
          <a:p>
            <a:pPr algn="r"/>
            <a:r>
              <a:rPr lang="ru-RU" dirty="0" err="1">
                <a:solidFill>
                  <a:schemeClr val="accent1"/>
                </a:solidFill>
                <a:latin typeface="Tahoma" panose="020B0604030504040204" pitchFamily="34" charset="0"/>
                <a:ea typeface="Tahoma" panose="020B0604030504040204" pitchFamily="34" charset="0"/>
                <a:cs typeface="Tahoma" panose="020B0604030504040204" pitchFamily="34" charset="0"/>
              </a:rPr>
              <a:t>mysqli_errno</a:t>
            </a:r>
            <a:r>
              <a:rPr lang="ru-RU" dirty="0">
                <a:solidFill>
                  <a:schemeClr val="accent1"/>
                </a:solidFill>
                <a:latin typeface="Tahoma" panose="020B0604030504040204" pitchFamily="34" charset="0"/>
                <a:ea typeface="Tahoma" panose="020B0604030504040204" pitchFamily="34" charset="0"/>
                <a:cs typeface="Tahoma" panose="020B0604030504040204" pitchFamily="34" charset="0"/>
              </a:rPr>
              <a:t>() </a:t>
            </a:r>
            <a:r>
              <a:rPr lang="ru-RU" dirty="0">
                <a:latin typeface="Tahoma" panose="020B0604030504040204" pitchFamily="34" charset="0"/>
                <a:ea typeface="Tahoma" panose="020B0604030504040204" pitchFamily="34" charset="0"/>
                <a:cs typeface="Tahoma" panose="020B0604030504040204" pitchFamily="34" charset="0"/>
              </a:rPr>
              <a:t>— возвращает номер ошибки.</a:t>
            </a:r>
          </a:p>
          <a:p>
            <a:pPr algn="r"/>
            <a:r>
              <a:rPr lang="ru-RU" dirty="0" err="1">
                <a:solidFill>
                  <a:schemeClr val="accent1"/>
                </a:solidFill>
                <a:latin typeface="Tahoma" panose="020B0604030504040204" pitchFamily="34" charset="0"/>
                <a:ea typeface="Tahoma" panose="020B0604030504040204" pitchFamily="34" charset="0"/>
                <a:cs typeface="Tahoma" panose="020B0604030504040204" pitchFamily="34" charset="0"/>
              </a:rPr>
              <a:t>mysqli_error</a:t>
            </a:r>
            <a:r>
              <a:rPr lang="ru-RU" dirty="0">
                <a:solidFill>
                  <a:schemeClr val="accent1"/>
                </a:solidFill>
                <a:latin typeface="Tahoma" panose="020B0604030504040204" pitchFamily="34" charset="0"/>
                <a:ea typeface="Tahoma" panose="020B0604030504040204" pitchFamily="34" charset="0"/>
                <a:cs typeface="Tahoma" panose="020B0604030504040204" pitchFamily="34" charset="0"/>
              </a:rPr>
              <a:t>() </a:t>
            </a:r>
            <a:r>
              <a:rPr lang="ru-RU" dirty="0">
                <a:latin typeface="Tahoma" panose="020B0604030504040204" pitchFamily="34" charset="0"/>
                <a:ea typeface="Tahoma" panose="020B0604030504040204" pitchFamily="34" charset="0"/>
                <a:cs typeface="Tahoma" panose="020B0604030504040204" pitchFamily="34" charset="0"/>
              </a:rPr>
              <a:t>— возвращает строку с описанием ошибки.</a:t>
            </a:r>
          </a:p>
        </p:txBody>
      </p:sp>
      <p:sp>
        <p:nvSpPr>
          <p:cNvPr id="5" name="Прямоугольник: загнутый угол 4">
            <a:extLst>
              <a:ext uri="{FF2B5EF4-FFF2-40B4-BE49-F238E27FC236}">
                <a16:creationId xmlns:a16="http://schemas.microsoft.com/office/drawing/2014/main" xmlns="" id="{63E06FF8-3EFE-4CD9-9C31-724ABB81B344}"/>
              </a:ext>
            </a:extLst>
          </p:cNvPr>
          <p:cNvSpPr/>
          <p:nvPr/>
        </p:nvSpPr>
        <p:spPr>
          <a:xfrm>
            <a:off x="5541331" y="2015732"/>
            <a:ext cx="6041601" cy="4037749"/>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sz="2000" dirty="0"/>
              <a:t>$link = </a:t>
            </a:r>
            <a:r>
              <a:rPr lang="en-US" sz="2000" dirty="0" err="1"/>
              <a:t>mysql_connect</a:t>
            </a:r>
            <a:r>
              <a:rPr lang="en-US" sz="2000" dirty="0"/>
              <a:t>('localhost', "root", '', 'tester');</a:t>
            </a:r>
          </a:p>
          <a:p>
            <a:pPr>
              <a:lnSpc>
                <a:spcPct val="120000"/>
              </a:lnSpc>
              <a:spcAft>
                <a:spcPts val="600"/>
              </a:spcAft>
            </a:pPr>
            <a:r>
              <a:rPr lang="en-US" sz="2000" dirty="0"/>
              <a:t>if ( !$link ) die("Error");</a:t>
            </a:r>
          </a:p>
          <a:p>
            <a:pPr>
              <a:lnSpc>
                <a:spcPct val="120000"/>
              </a:lnSpc>
              <a:spcAft>
                <a:spcPts val="600"/>
              </a:spcAft>
            </a:pPr>
            <a:r>
              <a:rPr lang="en-US" sz="2000" dirty="0"/>
              <a:t>$query = 'CREATE TABLE users(</a:t>
            </a:r>
          </a:p>
          <a:p>
            <a:pPr>
              <a:lnSpc>
                <a:spcPct val="120000"/>
              </a:lnSpc>
              <a:spcAft>
                <a:spcPts val="600"/>
              </a:spcAft>
            </a:pPr>
            <a:r>
              <a:rPr lang="en-US" sz="2000" dirty="0"/>
              <a:t>    </a:t>
            </a:r>
            <a:r>
              <a:rPr lang="ru-RU" sz="2000" dirty="0"/>
              <a:t>			</a:t>
            </a:r>
            <a:r>
              <a:rPr lang="en-US" sz="2000" dirty="0"/>
              <a:t>login       VARCHAR(20),</a:t>
            </a:r>
          </a:p>
          <a:p>
            <a:pPr>
              <a:lnSpc>
                <a:spcPct val="120000"/>
              </a:lnSpc>
              <a:spcAft>
                <a:spcPts val="600"/>
              </a:spcAft>
            </a:pPr>
            <a:r>
              <a:rPr lang="en-US" sz="2000" dirty="0"/>
              <a:t>    </a:t>
            </a:r>
            <a:r>
              <a:rPr lang="ru-RU" sz="2000" dirty="0"/>
              <a:t>			</a:t>
            </a:r>
            <a:r>
              <a:rPr lang="en-US" sz="2000" dirty="0"/>
              <a:t>password    VARCHAR(20)</a:t>
            </a:r>
          </a:p>
          <a:p>
            <a:pPr>
              <a:lnSpc>
                <a:spcPct val="120000"/>
              </a:lnSpc>
              <a:spcAft>
                <a:spcPts val="600"/>
              </a:spcAft>
            </a:pPr>
            <a:r>
              <a:rPr lang="ru-RU" sz="2000" dirty="0"/>
              <a:t>		</a:t>
            </a:r>
            <a:r>
              <a:rPr lang="en-US" sz="2000" dirty="0"/>
              <a:t>)';</a:t>
            </a:r>
          </a:p>
          <a:p>
            <a:pPr>
              <a:lnSpc>
                <a:spcPct val="120000"/>
              </a:lnSpc>
              <a:spcAft>
                <a:spcPts val="600"/>
              </a:spcAft>
            </a:pPr>
            <a:r>
              <a:rPr lang="en-US" sz="2000" dirty="0"/>
              <a:t>if (</a:t>
            </a:r>
            <a:r>
              <a:rPr lang="en-US" sz="2000" dirty="0" err="1"/>
              <a:t>mysqli_query</a:t>
            </a:r>
            <a:r>
              <a:rPr lang="en-US" sz="2000" dirty="0"/>
              <a:t>($query)) echo "</a:t>
            </a:r>
            <a:r>
              <a:rPr lang="ru-RU" sz="2000" dirty="0"/>
              <a:t>Таблица создана.";</a:t>
            </a:r>
          </a:p>
          <a:p>
            <a:pPr>
              <a:lnSpc>
                <a:spcPct val="120000"/>
              </a:lnSpc>
              <a:spcAft>
                <a:spcPts val="600"/>
              </a:spcAft>
            </a:pPr>
            <a:r>
              <a:rPr lang="en-US" sz="2000" dirty="0"/>
              <a:t>else echo "</a:t>
            </a:r>
            <a:r>
              <a:rPr lang="ru-RU" sz="2000" dirty="0"/>
              <a:t>Таблица не создана: ".</a:t>
            </a:r>
            <a:r>
              <a:rPr lang="en-US" sz="2000" dirty="0" err="1"/>
              <a:t>mysqli_error</a:t>
            </a:r>
            <a:r>
              <a:rPr lang="en-US" sz="2000" dirty="0"/>
              <a:t>();</a:t>
            </a:r>
          </a:p>
          <a:p>
            <a:pPr>
              <a:lnSpc>
                <a:spcPct val="120000"/>
              </a:lnSpc>
              <a:spcAft>
                <a:spcPts val="600"/>
              </a:spcAft>
            </a:pPr>
            <a:r>
              <a:rPr lang="en-US" sz="2000" dirty="0" err="1"/>
              <a:t>mysqli_close</a:t>
            </a:r>
            <a:r>
              <a:rPr lang="en-US" sz="2000" dirty="0"/>
              <a:t>($link);</a:t>
            </a:r>
            <a:endParaRPr lang="ru-RU" sz="2000" dirty="0"/>
          </a:p>
        </p:txBody>
      </p:sp>
    </p:spTree>
    <p:extLst>
      <p:ext uri="{BB962C8B-B14F-4D97-AF65-F5344CB8AC3E}">
        <p14:creationId xmlns:p14="http://schemas.microsoft.com/office/powerpoint/2010/main" val="30795136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5B6F25-F51B-479A-806C-35620AA139CC}"/>
              </a:ext>
            </a:extLst>
          </p:cNvPr>
          <p:cNvSpPr>
            <a:spLocks noGrp="1"/>
          </p:cNvSpPr>
          <p:nvPr>
            <p:ph type="title"/>
          </p:nvPr>
        </p:nvSpPr>
        <p:spPr/>
        <p:txBody>
          <a:bodyPr/>
          <a:lstStyle/>
          <a:p>
            <a:r>
              <a:rPr lang="ru-RU" dirty="0"/>
              <a:t>Удаление таблицы</a:t>
            </a:r>
          </a:p>
        </p:txBody>
      </p:sp>
      <p:sp>
        <p:nvSpPr>
          <p:cNvPr id="7" name="Объект 6">
            <a:extLst>
              <a:ext uri="{FF2B5EF4-FFF2-40B4-BE49-F238E27FC236}">
                <a16:creationId xmlns:a16="http://schemas.microsoft.com/office/drawing/2014/main" xmlns="" id="{4EFC1717-9C5E-49CD-9C52-C57EA6944229}"/>
              </a:ext>
            </a:extLst>
          </p:cNvPr>
          <p:cNvSpPr>
            <a:spLocks noGrp="1"/>
          </p:cNvSpPr>
          <p:nvPr>
            <p:ph idx="1"/>
          </p:nvPr>
        </p:nvSpPr>
        <p:spPr>
          <a:xfrm>
            <a:off x="652610" y="2015732"/>
            <a:ext cx="4801638" cy="1413268"/>
          </a:xfrm>
          <a:solidFill>
            <a:srgbClr val="F9F2F4"/>
          </a:solidFill>
        </p:spPr>
        <p:txBody>
          <a:bodyPr>
            <a:noAutofit/>
          </a:bodyPr>
          <a:lstStyle/>
          <a:p>
            <a:pPr marL="0" indent="0">
              <a:buNone/>
            </a:pPr>
            <a:r>
              <a:rPr lang="ru-RU" dirty="0">
                <a:latin typeface="Tahoma" panose="020B0604030504040204" pitchFamily="34" charset="0"/>
                <a:ea typeface="Tahoma" panose="020B0604030504040204" pitchFamily="34" charset="0"/>
                <a:cs typeface="Tahoma" panose="020B0604030504040204" pitchFamily="34" charset="0"/>
              </a:rPr>
              <a:t>Для удаления таблицы используется команда </a:t>
            </a:r>
            <a:r>
              <a:rPr lang="ru-RU" i="1" dirty="0">
                <a:solidFill>
                  <a:schemeClr val="accent1"/>
                </a:solidFill>
                <a:latin typeface="Tahoma" panose="020B0604030504040204" pitchFamily="34" charset="0"/>
                <a:ea typeface="Tahoma" panose="020B0604030504040204" pitchFamily="34" charset="0"/>
                <a:cs typeface="Tahoma" panose="020B0604030504040204" pitchFamily="34" charset="0"/>
              </a:rPr>
              <a:t>DROP TABLE</a:t>
            </a:r>
            <a:r>
              <a:rPr lang="ru-RU" dirty="0">
                <a:latin typeface="Tahoma" panose="020B0604030504040204" pitchFamily="34" charset="0"/>
                <a:ea typeface="Tahoma" panose="020B0604030504040204" pitchFamily="34" charset="0"/>
                <a:cs typeface="Tahoma" panose="020B0604030504040204" pitchFamily="34" charset="0"/>
              </a:rPr>
              <a:t>, за которой следует имя таблицы.</a:t>
            </a:r>
          </a:p>
        </p:txBody>
      </p:sp>
      <p:sp>
        <p:nvSpPr>
          <p:cNvPr id="5" name="Прямоугольник: загнутый угол 4">
            <a:extLst>
              <a:ext uri="{FF2B5EF4-FFF2-40B4-BE49-F238E27FC236}">
                <a16:creationId xmlns:a16="http://schemas.microsoft.com/office/drawing/2014/main" xmlns="" id="{63E06FF8-3EFE-4CD9-9C31-724ABB81B344}"/>
              </a:ext>
            </a:extLst>
          </p:cNvPr>
          <p:cNvSpPr/>
          <p:nvPr/>
        </p:nvSpPr>
        <p:spPr>
          <a:xfrm>
            <a:off x="5682008" y="2015732"/>
            <a:ext cx="6331801" cy="4037749"/>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sz="2000" dirty="0"/>
              <a:t>$link = </a:t>
            </a:r>
            <a:r>
              <a:rPr lang="en-US" sz="2000" dirty="0" err="1"/>
              <a:t>mysqli_connect</a:t>
            </a:r>
            <a:r>
              <a:rPr lang="en-US" sz="2000" dirty="0"/>
              <a:t>('localhost', "root", '', 'tester');</a:t>
            </a:r>
          </a:p>
          <a:p>
            <a:pPr>
              <a:lnSpc>
                <a:spcPct val="120000"/>
              </a:lnSpc>
              <a:spcAft>
                <a:spcPts val="600"/>
              </a:spcAft>
            </a:pPr>
            <a:r>
              <a:rPr lang="en-US" sz="2000" dirty="0"/>
              <a:t>if ( !$link ) die("Error");</a:t>
            </a:r>
          </a:p>
          <a:p>
            <a:pPr>
              <a:lnSpc>
                <a:spcPct val="120000"/>
              </a:lnSpc>
              <a:spcAft>
                <a:spcPts val="600"/>
              </a:spcAft>
            </a:pPr>
            <a:endParaRPr lang="en-US" sz="2000" dirty="0"/>
          </a:p>
          <a:p>
            <a:pPr>
              <a:lnSpc>
                <a:spcPct val="120000"/>
              </a:lnSpc>
              <a:spcAft>
                <a:spcPts val="600"/>
              </a:spcAft>
            </a:pPr>
            <a:r>
              <a:rPr lang="en-US" sz="2000" dirty="0"/>
              <a:t>$query = 'DROP TABLE users';</a:t>
            </a:r>
          </a:p>
          <a:p>
            <a:pPr>
              <a:lnSpc>
                <a:spcPct val="120000"/>
              </a:lnSpc>
              <a:spcAft>
                <a:spcPts val="600"/>
              </a:spcAft>
            </a:pPr>
            <a:endParaRPr lang="en-US" sz="2000" dirty="0"/>
          </a:p>
          <a:p>
            <a:pPr>
              <a:lnSpc>
                <a:spcPct val="120000"/>
              </a:lnSpc>
              <a:spcAft>
                <a:spcPts val="600"/>
              </a:spcAft>
            </a:pPr>
            <a:r>
              <a:rPr lang="en-US" sz="2000" dirty="0"/>
              <a:t>if ( !</a:t>
            </a:r>
            <a:r>
              <a:rPr lang="en-US" sz="2000" dirty="0" err="1"/>
              <a:t>mysqli_query</a:t>
            </a:r>
            <a:r>
              <a:rPr lang="en-US" sz="2000" dirty="0"/>
              <a:t>($query) ) echo "</a:t>
            </a:r>
            <a:r>
              <a:rPr lang="ru-RU" sz="2000" dirty="0"/>
              <a:t>Ошибка при удалении таблицы: ".</a:t>
            </a:r>
            <a:r>
              <a:rPr lang="en-US" sz="2000" dirty="0" err="1"/>
              <a:t>mysqli_error</a:t>
            </a:r>
            <a:r>
              <a:rPr lang="en-US" sz="2000" dirty="0"/>
              <a:t>();</a:t>
            </a:r>
          </a:p>
          <a:p>
            <a:pPr>
              <a:lnSpc>
                <a:spcPct val="120000"/>
              </a:lnSpc>
              <a:spcAft>
                <a:spcPts val="600"/>
              </a:spcAft>
            </a:pPr>
            <a:r>
              <a:rPr lang="en-US" sz="2000" dirty="0"/>
              <a:t>else echo "</a:t>
            </a:r>
            <a:r>
              <a:rPr lang="ru-RU" sz="2000" dirty="0"/>
              <a:t>Таблица удалена.";</a:t>
            </a:r>
          </a:p>
          <a:p>
            <a:pPr>
              <a:lnSpc>
                <a:spcPct val="120000"/>
              </a:lnSpc>
              <a:spcAft>
                <a:spcPts val="600"/>
              </a:spcAft>
            </a:pPr>
            <a:r>
              <a:rPr lang="en-US" sz="2000" dirty="0" err="1"/>
              <a:t>mysqli_close</a:t>
            </a:r>
            <a:r>
              <a:rPr lang="en-US" sz="2000" dirty="0"/>
              <a:t>($link);</a:t>
            </a:r>
            <a:endParaRPr lang="ru-RU" sz="2000" dirty="0"/>
          </a:p>
        </p:txBody>
      </p:sp>
    </p:spTree>
    <p:extLst>
      <p:ext uri="{BB962C8B-B14F-4D97-AF65-F5344CB8AC3E}">
        <p14:creationId xmlns:p14="http://schemas.microsoft.com/office/powerpoint/2010/main" val="2448348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5B6F25-F51B-479A-806C-35620AA139CC}"/>
              </a:ext>
            </a:extLst>
          </p:cNvPr>
          <p:cNvSpPr>
            <a:spLocks noGrp="1"/>
          </p:cNvSpPr>
          <p:nvPr>
            <p:ph type="title"/>
          </p:nvPr>
        </p:nvSpPr>
        <p:spPr/>
        <p:txBody>
          <a:bodyPr/>
          <a:lstStyle/>
          <a:p>
            <a:r>
              <a:rPr lang="ru-RU" dirty="0"/>
              <a:t>Добавление строк (записей) в таблицу — </a:t>
            </a:r>
            <a:r>
              <a:rPr lang="ru-RU" dirty="0">
                <a:solidFill>
                  <a:srgbClr val="C00000"/>
                </a:solidFill>
              </a:rPr>
              <a:t>INSERT</a:t>
            </a:r>
          </a:p>
        </p:txBody>
      </p:sp>
      <p:sp>
        <p:nvSpPr>
          <p:cNvPr id="7" name="Объект 6">
            <a:extLst>
              <a:ext uri="{FF2B5EF4-FFF2-40B4-BE49-F238E27FC236}">
                <a16:creationId xmlns:a16="http://schemas.microsoft.com/office/drawing/2014/main" xmlns="" id="{4EFC1717-9C5E-49CD-9C52-C57EA6944229}"/>
              </a:ext>
            </a:extLst>
          </p:cNvPr>
          <p:cNvSpPr>
            <a:spLocks noGrp="1"/>
          </p:cNvSpPr>
          <p:nvPr>
            <p:ph idx="1"/>
          </p:nvPr>
        </p:nvSpPr>
        <p:spPr>
          <a:xfrm>
            <a:off x="300910" y="2015732"/>
            <a:ext cx="4214812" cy="1413268"/>
          </a:xfrm>
          <a:solidFill>
            <a:srgbClr val="F9F2F4"/>
          </a:solidFill>
        </p:spPr>
        <p:txBody>
          <a:bodyPr>
            <a:noAutofit/>
          </a:bodyPr>
          <a:lstStyle/>
          <a:p>
            <a:pPr marL="0" indent="0">
              <a:buNone/>
            </a:pPr>
            <a:r>
              <a:rPr lang="ru-RU" dirty="0">
                <a:latin typeface="Tahoma" panose="020B0604030504040204" pitchFamily="34" charset="0"/>
                <a:ea typeface="Tahoma" panose="020B0604030504040204" pitchFamily="34" charset="0"/>
                <a:cs typeface="Tahoma" panose="020B0604030504040204" pitchFamily="34" charset="0"/>
              </a:rPr>
              <a:t>Добавить новую строку в таблицу можно при помощи </a:t>
            </a:r>
            <a:r>
              <a:rPr lang="ru-RU" dirty="0">
                <a:solidFill>
                  <a:srgbClr val="C00000"/>
                </a:solidFill>
                <a:latin typeface="Tahoma" panose="020B0604030504040204" pitchFamily="34" charset="0"/>
                <a:ea typeface="Tahoma" panose="020B0604030504040204" pitchFamily="34" charset="0"/>
                <a:cs typeface="Tahoma" panose="020B0604030504040204" pitchFamily="34" charset="0"/>
              </a:rPr>
              <a:t>SQL</a:t>
            </a:r>
            <a:r>
              <a:rPr lang="ru-RU" dirty="0">
                <a:latin typeface="Tahoma" panose="020B0604030504040204" pitchFamily="34" charset="0"/>
                <a:ea typeface="Tahoma" panose="020B0604030504040204" pitchFamily="34" charset="0"/>
                <a:cs typeface="Tahoma" panose="020B0604030504040204" pitchFamily="34" charset="0"/>
              </a:rPr>
              <a:t> команды </a:t>
            </a:r>
            <a:r>
              <a:rPr lang="ru-RU" i="1" dirty="0" err="1">
                <a:solidFill>
                  <a:srgbClr val="C00000"/>
                </a:solidFill>
                <a:latin typeface="Tahoma" panose="020B0604030504040204" pitchFamily="34" charset="0"/>
                <a:ea typeface="Tahoma" panose="020B0604030504040204" pitchFamily="34" charset="0"/>
                <a:cs typeface="Tahoma" panose="020B0604030504040204" pitchFamily="34" charset="0"/>
              </a:rPr>
              <a:t>insert</a:t>
            </a:r>
            <a:r>
              <a:rPr lang="ru-RU" dirty="0">
                <a:latin typeface="Tahoma" panose="020B0604030504040204" pitchFamily="34" charset="0"/>
                <a:ea typeface="Tahoma" panose="020B0604030504040204" pitchFamily="34" charset="0"/>
                <a:cs typeface="Tahoma" panose="020B0604030504040204" pitchFamily="34" charset="0"/>
              </a:rPr>
              <a:t>.</a:t>
            </a:r>
          </a:p>
        </p:txBody>
      </p:sp>
      <p:sp>
        <p:nvSpPr>
          <p:cNvPr id="5" name="Прямоугольник: загнутый угол 4">
            <a:extLst>
              <a:ext uri="{FF2B5EF4-FFF2-40B4-BE49-F238E27FC236}">
                <a16:creationId xmlns:a16="http://schemas.microsoft.com/office/drawing/2014/main" xmlns="" id="{63E06FF8-3EFE-4CD9-9C31-724ABB81B344}"/>
              </a:ext>
            </a:extLst>
          </p:cNvPr>
          <p:cNvSpPr/>
          <p:nvPr/>
        </p:nvSpPr>
        <p:spPr>
          <a:xfrm>
            <a:off x="4670474" y="2015732"/>
            <a:ext cx="7343335" cy="4037749"/>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sz="2000" dirty="0"/>
              <a:t>$link = </a:t>
            </a:r>
            <a:r>
              <a:rPr lang="en-US" sz="2000" dirty="0" err="1"/>
              <a:t>mysqli_connect</a:t>
            </a:r>
            <a:r>
              <a:rPr lang="en-US" sz="2000" dirty="0"/>
              <a:t>( 'localhost',  "root",  '',  'tester' );</a:t>
            </a:r>
          </a:p>
          <a:p>
            <a:pPr>
              <a:lnSpc>
                <a:spcPct val="120000"/>
              </a:lnSpc>
              <a:spcAft>
                <a:spcPts val="600"/>
              </a:spcAft>
            </a:pPr>
            <a:r>
              <a:rPr lang="en-US" sz="2000" dirty="0"/>
              <a:t>if (  !$link  )  die( "Error" );</a:t>
            </a:r>
          </a:p>
          <a:p>
            <a:pPr>
              <a:lnSpc>
                <a:spcPct val="120000"/>
              </a:lnSpc>
              <a:spcAft>
                <a:spcPts val="600"/>
              </a:spcAft>
            </a:pPr>
            <a:r>
              <a:rPr lang="en-US" sz="2000" dirty="0"/>
              <a:t>$query = "INSERT INTO users (login, password) VALUE ('</a:t>
            </a:r>
            <a:r>
              <a:rPr lang="en-US" sz="2000" dirty="0" err="1"/>
              <a:t>zeus</a:t>
            </a:r>
            <a:r>
              <a:rPr lang="en-US" sz="2000" dirty="0"/>
              <a:t>', 'pass123')";</a:t>
            </a:r>
          </a:p>
          <a:p>
            <a:pPr>
              <a:lnSpc>
                <a:spcPct val="120000"/>
              </a:lnSpc>
              <a:spcAft>
                <a:spcPts val="600"/>
              </a:spcAft>
            </a:pPr>
            <a:endParaRPr lang="en-US" sz="2000" dirty="0"/>
          </a:p>
          <a:p>
            <a:pPr>
              <a:lnSpc>
                <a:spcPct val="120000"/>
              </a:lnSpc>
              <a:spcAft>
                <a:spcPts val="600"/>
              </a:spcAft>
            </a:pPr>
            <a:r>
              <a:rPr lang="en-US" sz="2000" dirty="0"/>
              <a:t>if (  </a:t>
            </a:r>
            <a:r>
              <a:rPr lang="en-US" sz="2000" dirty="0" err="1"/>
              <a:t>mysqli_query</a:t>
            </a:r>
            <a:r>
              <a:rPr lang="en-US" sz="2000" dirty="0"/>
              <a:t>($link, $query)  ) echo "</a:t>
            </a:r>
            <a:r>
              <a:rPr lang="ru-RU" sz="2000" dirty="0"/>
              <a:t>Пользователь добавлен.";</a:t>
            </a:r>
          </a:p>
          <a:p>
            <a:pPr>
              <a:lnSpc>
                <a:spcPct val="120000"/>
              </a:lnSpc>
              <a:spcAft>
                <a:spcPts val="600"/>
              </a:spcAft>
            </a:pPr>
            <a:r>
              <a:rPr lang="en-US" sz="2000" dirty="0"/>
              <a:t>else echo "</a:t>
            </a:r>
            <a:r>
              <a:rPr lang="ru-RU" sz="2000" dirty="0"/>
              <a:t>Пользователь не добавлен: "  .  </a:t>
            </a:r>
            <a:r>
              <a:rPr lang="en-US" sz="2000" dirty="0" err="1"/>
              <a:t>mysqli_error</a:t>
            </a:r>
            <a:r>
              <a:rPr lang="en-US" sz="2000" dirty="0"/>
              <a:t>();</a:t>
            </a:r>
          </a:p>
          <a:p>
            <a:pPr>
              <a:lnSpc>
                <a:spcPct val="120000"/>
              </a:lnSpc>
              <a:spcAft>
                <a:spcPts val="600"/>
              </a:spcAft>
            </a:pPr>
            <a:r>
              <a:rPr lang="en-US" sz="2000" dirty="0" err="1"/>
              <a:t>mysqli_close</a:t>
            </a:r>
            <a:r>
              <a:rPr lang="en-US" sz="2000" dirty="0"/>
              <a:t>( $link );</a:t>
            </a:r>
            <a:endParaRPr lang="ru-RU" sz="2000" dirty="0"/>
          </a:p>
        </p:txBody>
      </p:sp>
    </p:spTree>
    <p:extLst>
      <p:ext uri="{BB962C8B-B14F-4D97-AF65-F5344CB8AC3E}">
        <p14:creationId xmlns:p14="http://schemas.microsoft.com/office/powerpoint/2010/main" val="25952080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5B6F25-F51B-479A-806C-35620AA139CC}"/>
              </a:ext>
            </a:extLst>
          </p:cNvPr>
          <p:cNvSpPr>
            <a:spLocks noGrp="1"/>
          </p:cNvSpPr>
          <p:nvPr>
            <p:ph type="title"/>
          </p:nvPr>
        </p:nvSpPr>
        <p:spPr/>
        <p:txBody>
          <a:bodyPr/>
          <a:lstStyle/>
          <a:p>
            <a:r>
              <a:rPr lang="ru-RU" dirty="0"/>
              <a:t>Добавление строк (записей) в таблицу — </a:t>
            </a:r>
            <a:r>
              <a:rPr lang="ru-RU" dirty="0">
                <a:solidFill>
                  <a:srgbClr val="C00000"/>
                </a:solidFill>
              </a:rPr>
              <a:t>INSERT</a:t>
            </a:r>
          </a:p>
        </p:txBody>
      </p:sp>
      <p:sp>
        <p:nvSpPr>
          <p:cNvPr id="7" name="Объект 6">
            <a:extLst>
              <a:ext uri="{FF2B5EF4-FFF2-40B4-BE49-F238E27FC236}">
                <a16:creationId xmlns:a16="http://schemas.microsoft.com/office/drawing/2014/main" xmlns="" id="{4EFC1717-9C5E-49CD-9C52-C57EA6944229}"/>
              </a:ext>
            </a:extLst>
          </p:cNvPr>
          <p:cNvSpPr>
            <a:spLocks noGrp="1"/>
          </p:cNvSpPr>
          <p:nvPr>
            <p:ph idx="1"/>
          </p:nvPr>
        </p:nvSpPr>
        <p:spPr>
          <a:xfrm>
            <a:off x="300910" y="2015732"/>
            <a:ext cx="4214812" cy="1413268"/>
          </a:xfrm>
          <a:solidFill>
            <a:srgbClr val="F9F2F4"/>
          </a:solidFill>
        </p:spPr>
        <p:txBody>
          <a:bodyPr>
            <a:noAutofit/>
          </a:bodyPr>
          <a:lstStyle/>
          <a:p>
            <a:r>
              <a:rPr lang="ru-RU" dirty="0">
                <a:latin typeface="Tahoma" panose="020B0604030504040204" pitchFamily="34" charset="0"/>
                <a:ea typeface="Tahoma" panose="020B0604030504040204" pitchFamily="34" charset="0"/>
                <a:cs typeface="Tahoma" panose="020B0604030504040204" pitchFamily="34" charset="0"/>
              </a:rPr>
              <a:t>На месте значений могут быть переменные.</a:t>
            </a:r>
          </a:p>
        </p:txBody>
      </p:sp>
      <p:sp>
        <p:nvSpPr>
          <p:cNvPr id="5" name="Прямоугольник: загнутый угол 4">
            <a:extLst>
              <a:ext uri="{FF2B5EF4-FFF2-40B4-BE49-F238E27FC236}">
                <a16:creationId xmlns:a16="http://schemas.microsoft.com/office/drawing/2014/main" xmlns="" id="{63E06FF8-3EFE-4CD9-9C31-724ABB81B344}"/>
              </a:ext>
            </a:extLst>
          </p:cNvPr>
          <p:cNvSpPr/>
          <p:nvPr/>
        </p:nvSpPr>
        <p:spPr>
          <a:xfrm>
            <a:off x="4670474" y="2015732"/>
            <a:ext cx="7343335" cy="4037749"/>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sz="2000" dirty="0"/>
              <a:t>$link = </a:t>
            </a:r>
            <a:r>
              <a:rPr lang="en-US" sz="2000" dirty="0" err="1"/>
              <a:t>mysqli_connect</a:t>
            </a:r>
            <a:r>
              <a:rPr lang="en-US" sz="2000" dirty="0"/>
              <a:t>( 'localhost',  "root",  '',  'tester' );</a:t>
            </a:r>
          </a:p>
          <a:p>
            <a:pPr>
              <a:lnSpc>
                <a:spcPct val="120000"/>
              </a:lnSpc>
              <a:spcAft>
                <a:spcPts val="600"/>
              </a:spcAft>
            </a:pPr>
            <a:r>
              <a:rPr lang="en-US" sz="2000" dirty="0"/>
              <a:t>if (  !$link  )  die( "Error" );</a:t>
            </a:r>
          </a:p>
          <a:p>
            <a:pPr>
              <a:lnSpc>
                <a:spcPct val="120000"/>
              </a:lnSpc>
              <a:spcAft>
                <a:spcPts val="600"/>
              </a:spcAft>
            </a:pPr>
            <a:r>
              <a:rPr lang="en-US" sz="2000" dirty="0"/>
              <a:t>$login      = '</a:t>
            </a:r>
            <a:r>
              <a:rPr lang="en-US" sz="2000" dirty="0" err="1"/>
              <a:t>zeus</a:t>
            </a:r>
            <a:r>
              <a:rPr lang="en-US" sz="2000" dirty="0"/>
              <a:t>';</a:t>
            </a:r>
          </a:p>
          <a:p>
            <a:pPr>
              <a:lnSpc>
                <a:spcPct val="120000"/>
              </a:lnSpc>
              <a:spcAft>
                <a:spcPts val="600"/>
              </a:spcAft>
            </a:pPr>
            <a:r>
              <a:rPr lang="en-US" sz="2000" dirty="0"/>
              <a:t>$password   = 'pass123';</a:t>
            </a:r>
          </a:p>
          <a:p>
            <a:pPr>
              <a:lnSpc>
                <a:spcPct val="120000"/>
              </a:lnSpc>
              <a:spcAft>
                <a:spcPts val="600"/>
              </a:spcAft>
            </a:pPr>
            <a:r>
              <a:rPr lang="en-US" sz="2000" dirty="0"/>
              <a:t>$query      = "INSERT INTO users (login, password) VALUE </a:t>
            </a:r>
            <a:r>
              <a:rPr lang="en-US" sz="2000" i="1" dirty="0">
                <a:solidFill>
                  <a:srgbClr val="C00000"/>
                </a:solidFill>
              </a:rPr>
              <a:t>('$login', '$password'</a:t>
            </a:r>
            <a:r>
              <a:rPr lang="en-US" sz="2000" dirty="0"/>
              <a:t>)";</a:t>
            </a:r>
          </a:p>
          <a:p>
            <a:pPr>
              <a:lnSpc>
                <a:spcPct val="120000"/>
              </a:lnSpc>
              <a:spcAft>
                <a:spcPts val="600"/>
              </a:spcAft>
            </a:pPr>
            <a:r>
              <a:rPr lang="en-US" sz="2000" dirty="0"/>
              <a:t>if (  </a:t>
            </a:r>
            <a:r>
              <a:rPr lang="en-US" sz="2000" dirty="0" err="1"/>
              <a:t>mysqli_query</a:t>
            </a:r>
            <a:r>
              <a:rPr lang="en-US" sz="2000" dirty="0"/>
              <a:t>($link, $query)  ) echo "</a:t>
            </a:r>
            <a:r>
              <a:rPr lang="ru-RU" sz="2000" dirty="0"/>
              <a:t>Пользователь добавлен.";</a:t>
            </a:r>
          </a:p>
          <a:p>
            <a:pPr>
              <a:lnSpc>
                <a:spcPct val="120000"/>
              </a:lnSpc>
              <a:spcAft>
                <a:spcPts val="600"/>
              </a:spcAft>
            </a:pPr>
            <a:r>
              <a:rPr lang="en-US" sz="2000" dirty="0"/>
              <a:t>else echo "</a:t>
            </a:r>
            <a:r>
              <a:rPr lang="ru-RU" sz="2000" dirty="0"/>
              <a:t>Пользователь не добавлен: "  .  </a:t>
            </a:r>
            <a:r>
              <a:rPr lang="en-US" sz="2000" dirty="0" err="1"/>
              <a:t>mysqli_error</a:t>
            </a:r>
            <a:r>
              <a:rPr lang="en-US" sz="2000" dirty="0"/>
              <a:t>();</a:t>
            </a:r>
          </a:p>
          <a:p>
            <a:pPr>
              <a:lnSpc>
                <a:spcPct val="120000"/>
              </a:lnSpc>
              <a:spcAft>
                <a:spcPts val="600"/>
              </a:spcAft>
            </a:pPr>
            <a:r>
              <a:rPr lang="en-US" sz="2000" dirty="0" err="1"/>
              <a:t>mysqli_close</a:t>
            </a:r>
            <a:r>
              <a:rPr lang="en-US" sz="2000" dirty="0"/>
              <a:t>( $link );</a:t>
            </a:r>
            <a:endParaRPr lang="ru-RU" sz="2000" dirty="0"/>
          </a:p>
        </p:txBody>
      </p:sp>
    </p:spTree>
    <p:extLst>
      <p:ext uri="{BB962C8B-B14F-4D97-AF65-F5344CB8AC3E}">
        <p14:creationId xmlns:p14="http://schemas.microsoft.com/office/powerpoint/2010/main" val="38661214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5B6F25-F51B-479A-806C-35620AA139CC}"/>
              </a:ext>
            </a:extLst>
          </p:cNvPr>
          <p:cNvSpPr>
            <a:spLocks noGrp="1"/>
          </p:cNvSpPr>
          <p:nvPr>
            <p:ph type="title"/>
          </p:nvPr>
        </p:nvSpPr>
        <p:spPr/>
        <p:txBody>
          <a:bodyPr/>
          <a:lstStyle/>
          <a:p>
            <a:r>
              <a:rPr lang="ru-RU" dirty="0"/>
              <a:t>Добавление строк (записей) в таблицу — </a:t>
            </a:r>
            <a:r>
              <a:rPr lang="ru-RU" dirty="0">
                <a:solidFill>
                  <a:srgbClr val="C00000"/>
                </a:solidFill>
              </a:rPr>
              <a:t>INSERT</a:t>
            </a:r>
          </a:p>
        </p:txBody>
      </p:sp>
      <p:sp>
        <p:nvSpPr>
          <p:cNvPr id="7" name="Объект 6">
            <a:extLst>
              <a:ext uri="{FF2B5EF4-FFF2-40B4-BE49-F238E27FC236}">
                <a16:creationId xmlns:a16="http://schemas.microsoft.com/office/drawing/2014/main" xmlns="" id="{4EFC1717-9C5E-49CD-9C52-C57EA6944229}"/>
              </a:ext>
            </a:extLst>
          </p:cNvPr>
          <p:cNvSpPr>
            <a:spLocks noGrp="1"/>
          </p:cNvSpPr>
          <p:nvPr>
            <p:ph idx="1"/>
          </p:nvPr>
        </p:nvSpPr>
        <p:spPr>
          <a:xfrm>
            <a:off x="1451579" y="2086339"/>
            <a:ext cx="4214812" cy="1413268"/>
          </a:xfrm>
          <a:solidFill>
            <a:srgbClr val="F9F2F4"/>
          </a:solidFill>
        </p:spPr>
        <p:txBody>
          <a:bodyPr>
            <a:noAutofit/>
          </a:bodyPr>
          <a:lstStyle/>
          <a:p>
            <a:r>
              <a:rPr lang="ru-RU" dirty="0">
                <a:latin typeface="Tahoma" panose="020B0604030504040204" pitchFamily="34" charset="0"/>
                <a:ea typeface="Tahoma" panose="020B0604030504040204" pitchFamily="34" charset="0"/>
                <a:cs typeface="Tahoma" panose="020B0604030504040204" pitchFamily="34" charset="0"/>
              </a:rPr>
              <a:t>Существует быстрый способ вставки нескольких строк одним запросом </a:t>
            </a:r>
            <a:r>
              <a:rPr lang="ru-RU" i="1" dirty="0">
                <a:solidFill>
                  <a:srgbClr val="C00000"/>
                </a:solidFill>
                <a:latin typeface="Tahoma" panose="020B0604030504040204" pitchFamily="34" charset="0"/>
                <a:ea typeface="Tahoma" panose="020B0604030504040204" pitchFamily="34" charset="0"/>
                <a:cs typeface="Tahoma" panose="020B0604030504040204" pitchFamily="34" charset="0"/>
              </a:rPr>
              <a:t>INSERT</a:t>
            </a:r>
            <a:r>
              <a:rPr lang="ru-RU" dirty="0">
                <a:latin typeface="Tahoma" panose="020B0604030504040204" pitchFamily="34" charset="0"/>
                <a:ea typeface="Tahoma" panose="020B0604030504040204" pitchFamily="34" charset="0"/>
                <a:cs typeface="Tahoma" panose="020B0604030504040204" pitchFamily="34" charset="0"/>
              </a:rPr>
              <a:t>:</a:t>
            </a:r>
          </a:p>
        </p:txBody>
      </p:sp>
      <p:sp>
        <p:nvSpPr>
          <p:cNvPr id="5" name="Прямоугольник: загнутый угол 4">
            <a:extLst>
              <a:ext uri="{FF2B5EF4-FFF2-40B4-BE49-F238E27FC236}">
                <a16:creationId xmlns:a16="http://schemas.microsoft.com/office/drawing/2014/main" xmlns="" id="{63E06FF8-3EFE-4CD9-9C31-724ABB81B344}"/>
              </a:ext>
            </a:extLst>
          </p:cNvPr>
          <p:cNvSpPr/>
          <p:nvPr/>
        </p:nvSpPr>
        <p:spPr>
          <a:xfrm>
            <a:off x="5807605" y="3116530"/>
            <a:ext cx="5247249" cy="2190508"/>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sz="2000" dirty="0"/>
              <a:t>INSERT INTO users (login, password) VALUE</a:t>
            </a:r>
          </a:p>
          <a:p>
            <a:pPr>
              <a:lnSpc>
                <a:spcPct val="120000"/>
              </a:lnSpc>
              <a:spcAft>
                <a:spcPts val="600"/>
              </a:spcAft>
            </a:pPr>
            <a:r>
              <a:rPr lang="en-US" sz="2000" dirty="0"/>
              <a:t>('bob', 'eee333'),</a:t>
            </a:r>
          </a:p>
          <a:p>
            <a:pPr>
              <a:lnSpc>
                <a:spcPct val="120000"/>
              </a:lnSpc>
              <a:spcAft>
                <a:spcPts val="600"/>
              </a:spcAft>
            </a:pPr>
            <a:r>
              <a:rPr lang="en-US" sz="2000" dirty="0"/>
              <a:t>('</a:t>
            </a:r>
            <a:r>
              <a:rPr lang="en-US" sz="2000" dirty="0" err="1"/>
              <a:t>Rooki</a:t>
            </a:r>
            <a:r>
              <a:rPr lang="en-US" sz="2000" dirty="0"/>
              <a:t>', '12345'),</a:t>
            </a:r>
          </a:p>
          <a:p>
            <a:pPr>
              <a:lnSpc>
                <a:spcPct val="120000"/>
              </a:lnSpc>
              <a:spcAft>
                <a:spcPts val="600"/>
              </a:spcAft>
            </a:pPr>
            <a:r>
              <a:rPr lang="en-US" sz="2000" dirty="0"/>
              <a:t>('</a:t>
            </a:r>
            <a:r>
              <a:rPr lang="en-US" sz="2000" dirty="0" err="1"/>
              <a:t>magy</a:t>
            </a:r>
            <a:r>
              <a:rPr lang="en-US" sz="2000" dirty="0"/>
              <a:t>', 'olol88e8')</a:t>
            </a:r>
            <a:endParaRPr lang="ru-RU" sz="2000" dirty="0"/>
          </a:p>
        </p:txBody>
      </p:sp>
    </p:spTree>
    <p:extLst>
      <p:ext uri="{BB962C8B-B14F-4D97-AF65-F5344CB8AC3E}">
        <p14:creationId xmlns:p14="http://schemas.microsoft.com/office/powerpoint/2010/main" val="36825244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1C5B6F25-F51B-479A-806C-35620AA139CC}"/>
              </a:ext>
            </a:extLst>
          </p:cNvPr>
          <p:cNvSpPr>
            <a:spLocks noGrp="1"/>
          </p:cNvSpPr>
          <p:nvPr>
            <p:ph type="title"/>
          </p:nvPr>
        </p:nvSpPr>
        <p:spPr/>
        <p:txBody>
          <a:bodyPr/>
          <a:lstStyle/>
          <a:p>
            <a:r>
              <a:rPr lang="ru-RU" dirty="0"/>
              <a:t>Просмотр таблицы: команда </a:t>
            </a:r>
            <a:r>
              <a:rPr lang="en-US" b="1" i="1" dirty="0">
                <a:solidFill>
                  <a:srgbClr val="C00000"/>
                </a:solidFill>
              </a:rPr>
              <a:t>SELECT</a:t>
            </a:r>
          </a:p>
        </p:txBody>
      </p:sp>
      <p:sp>
        <p:nvSpPr>
          <p:cNvPr id="7" name="Объект 6">
            <a:extLst>
              <a:ext uri="{FF2B5EF4-FFF2-40B4-BE49-F238E27FC236}">
                <a16:creationId xmlns:a16="http://schemas.microsoft.com/office/drawing/2014/main" xmlns="" id="{4EFC1717-9C5E-49CD-9C52-C57EA6944229}"/>
              </a:ext>
            </a:extLst>
          </p:cNvPr>
          <p:cNvSpPr>
            <a:spLocks noGrp="1"/>
          </p:cNvSpPr>
          <p:nvPr>
            <p:ph idx="1"/>
          </p:nvPr>
        </p:nvSpPr>
        <p:spPr>
          <a:xfrm>
            <a:off x="225082" y="1987862"/>
            <a:ext cx="5033345" cy="2316849"/>
          </a:xfrm>
          <a:solidFill>
            <a:srgbClr val="F9F2F4"/>
          </a:solidFill>
        </p:spPr>
        <p:txBody>
          <a:bodyPr>
            <a:noAutofit/>
          </a:bodyPr>
          <a:lstStyle/>
          <a:p>
            <a:r>
              <a:rPr lang="ru-RU" dirty="0">
                <a:latin typeface="Tahoma" panose="020B0604030504040204" pitchFamily="34" charset="0"/>
                <a:ea typeface="Tahoma" panose="020B0604030504040204" pitchFamily="34" charset="0"/>
                <a:cs typeface="Tahoma" panose="020B0604030504040204" pitchFamily="34" charset="0"/>
              </a:rPr>
              <a:t>Для получения данных из таблицы используется </a:t>
            </a:r>
            <a:r>
              <a:rPr lang="ru-RU" i="1" dirty="0">
                <a:solidFill>
                  <a:srgbClr val="C00000"/>
                </a:solidFill>
                <a:latin typeface="Tahoma" panose="020B0604030504040204" pitchFamily="34" charset="0"/>
                <a:ea typeface="Tahoma" panose="020B0604030504040204" pitchFamily="34" charset="0"/>
                <a:cs typeface="Tahoma" panose="020B0604030504040204" pitchFamily="34" charset="0"/>
              </a:rPr>
              <a:t>SQL-команда SELECT</a:t>
            </a:r>
            <a:r>
              <a:rPr lang="ru-RU" dirty="0">
                <a:latin typeface="Tahoma" panose="020B0604030504040204" pitchFamily="34" charset="0"/>
                <a:ea typeface="Tahoma" panose="020B0604030504040204" pitchFamily="34" charset="0"/>
                <a:cs typeface="Tahoma" panose="020B0604030504040204" pitchFamily="34" charset="0"/>
              </a:rPr>
              <a:t>. Знак </a:t>
            </a:r>
            <a:r>
              <a:rPr lang="ru-RU" dirty="0">
                <a:solidFill>
                  <a:srgbClr val="C00000"/>
                </a:solidFill>
                <a:latin typeface="Tahoma" panose="020B0604030504040204" pitchFamily="34" charset="0"/>
                <a:ea typeface="Tahoma" panose="020B0604030504040204" pitchFamily="34" charset="0"/>
                <a:cs typeface="Tahoma" panose="020B0604030504040204" pitchFamily="34" charset="0"/>
              </a:rPr>
              <a:t>*</a:t>
            </a:r>
            <a:r>
              <a:rPr lang="ru-RU" dirty="0">
                <a:latin typeface="Tahoma" panose="020B0604030504040204" pitchFamily="34" charset="0"/>
                <a:ea typeface="Tahoma" panose="020B0604030504040204" pitchFamily="34" charset="0"/>
                <a:cs typeface="Tahoma" panose="020B0604030504040204" pitchFamily="34" charset="0"/>
              </a:rPr>
              <a:t> обозначает что мы запрашиваем все данные, затем после слова </a:t>
            </a:r>
            <a:r>
              <a:rPr lang="ru-RU" i="1" dirty="0">
                <a:solidFill>
                  <a:srgbClr val="C00000"/>
                </a:solidFill>
                <a:latin typeface="Tahoma" panose="020B0604030504040204" pitchFamily="34" charset="0"/>
                <a:ea typeface="Tahoma" panose="020B0604030504040204" pitchFamily="34" charset="0"/>
                <a:cs typeface="Tahoma" panose="020B0604030504040204" pitchFamily="34" charset="0"/>
              </a:rPr>
              <a:t>FROM</a:t>
            </a:r>
            <a:r>
              <a:rPr lang="ru-RU" dirty="0">
                <a:latin typeface="Tahoma" panose="020B0604030504040204" pitchFamily="34" charset="0"/>
                <a:ea typeface="Tahoma" panose="020B0604030504040204" pitchFamily="34" charset="0"/>
                <a:cs typeface="Tahoma" panose="020B0604030504040204" pitchFamily="34" charset="0"/>
              </a:rPr>
              <a:t> пишем имя таблицы, из которой хотим получить данные.</a:t>
            </a:r>
          </a:p>
        </p:txBody>
      </p:sp>
      <p:sp>
        <p:nvSpPr>
          <p:cNvPr id="5" name="Прямоугольник: загнутый угол 4">
            <a:extLst>
              <a:ext uri="{FF2B5EF4-FFF2-40B4-BE49-F238E27FC236}">
                <a16:creationId xmlns:a16="http://schemas.microsoft.com/office/drawing/2014/main" xmlns="" id="{63E06FF8-3EFE-4CD9-9C31-724ABB81B344}"/>
              </a:ext>
            </a:extLst>
          </p:cNvPr>
          <p:cNvSpPr/>
          <p:nvPr/>
        </p:nvSpPr>
        <p:spPr>
          <a:xfrm>
            <a:off x="5387926" y="1987862"/>
            <a:ext cx="6443003" cy="3220700"/>
          </a:xfrm>
          <a:prstGeom prst="foldedCorner">
            <a:avLst/>
          </a:prstGeom>
        </p:spPr>
        <p:style>
          <a:lnRef idx="2">
            <a:schemeClr val="accent1"/>
          </a:lnRef>
          <a:fillRef idx="1">
            <a:schemeClr val="lt1"/>
          </a:fillRef>
          <a:effectRef idx="0">
            <a:schemeClr val="accent1"/>
          </a:effectRef>
          <a:fontRef idx="minor">
            <a:schemeClr val="dk1"/>
          </a:fontRef>
        </p:style>
        <p:txBody>
          <a:bodyPr rtlCol="0" anchor="t" anchorCtr="0"/>
          <a:lstStyle/>
          <a:p>
            <a:pPr>
              <a:lnSpc>
                <a:spcPct val="120000"/>
              </a:lnSpc>
              <a:spcAft>
                <a:spcPts val="600"/>
              </a:spcAft>
            </a:pPr>
            <a:r>
              <a:rPr lang="en-US" sz="2000" dirty="0"/>
              <a:t>$link  =  </a:t>
            </a:r>
            <a:r>
              <a:rPr lang="en-US" sz="2000" dirty="0" err="1"/>
              <a:t>mysqli_connect</a:t>
            </a:r>
            <a:r>
              <a:rPr lang="en-US" sz="2000" dirty="0"/>
              <a:t>( 'localhost',  "root",  '',  'tester' );</a:t>
            </a:r>
          </a:p>
          <a:p>
            <a:pPr>
              <a:lnSpc>
                <a:spcPct val="120000"/>
              </a:lnSpc>
              <a:spcAft>
                <a:spcPts val="600"/>
              </a:spcAft>
            </a:pPr>
            <a:r>
              <a:rPr lang="en-US" sz="2000" dirty="0"/>
              <a:t>if (  !$link  )   die("Error");</a:t>
            </a:r>
          </a:p>
          <a:p>
            <a:pPr>
              <a:lnSpc>
                <a:spcPct val="120000"/>
              </a:lnSpc>
              <a:spcAft>
                <a:spcPts val="600"/>
              </a:spcAft>
            </a:pPr>
            <a:r>
              <a:rPr lang="en-US" sz="2000" dirty="0"/>
              <a:t>$query   =  "</a:t>
            </a:r>
            <a:r>
              <a:rPr lang="en-US" sz="2000" i="1" dirty="0">
                <a:solidFill>
                  <a:srgbClr val="C00000"/>
                </a:solidFill>
              </a:rPr>
              <a:t>SELECT * FROM users</a:t>
            </a:r>
            <a:r>
              <a:rPr lang="en-US" sz="2000" dirty="0"/>
              <a:t>";</a:t>
            </a:r>
          </a:p>
          <a:p>
            <a:pPr>
              <a:lnSpc>
                <a:spcPct val="120000"/>
              </a:lnSpc>
              <a:spcAft>
                <a:spcPts val="600"/>
              </a:spcAft>
            </a:pPr>
            <a:r>
              <a:rPr lang="en-US" sz="2000" dirty="0"/>
              <a:t>$result  =  </a:t>
            </a:r>
            <a:r>
              <a:rPr lang="en-US" sz="2000" i="1" dirty="0" err="1">
                <a:solidFill>
                  <a:srgbClr val="C00000"/>
                </a:solidFill>
              </a:rPr>
              <a:t>mysqli_query</a:t>
            </a:r>
            <a:r>
              <a:rPr lang="en-US" sz="2000" dirty="0"/>
              <a:t>( $link,  $query );</a:t>
            </a:r>
          </a:p>
          <a:p>
            <a:pPr>
              <a:lnSpc>
                <a:spcPct val="120000"/>
              </a:lnSpc>
              <a:spcAft>
                <a:spcPts val="600"/>
              </a:spcAft>
            </a:pPr>
            <a:r>
              <a:rPr lang="en-US" sz="2000" dirty="0"/>
              <a:t>if ( !$result ) echo "</a:t>
            </a:r>
            <a:r>
              <a:rPr lang="ru-RU" sz="2000" dirty="0"/>
              <a:t>Произошла ошибка: "  .  </a:t>
            </a:r>
            <a:r>
              <a:rPr lang="en-US" sz="2000" dirty="0" err="1"/>
              <a:t>mysqli_error</a:t>
            </a:r>
            <a:r>
              <a:rPr lang="en-US" sz="2000" dirty="0"/>
              <a:t>();</a:t>
            </a:r>
          </a:p>
          <a:p>
            <a:pPr>
              <a:lnSpc>
                <a:spcPct val="120000"/>
              </a:lnSpc>
              <a:spcAft>
                <a:spcPts val="600"/>
              </a:spcAft>
            </a:pPr>
            <a:r>
              <a:rPr lang="en-US" sz="2000" dirty="0"/>
              <a:t>else echo "</a:t>
            </a:r>
            <a:r>
              <a:rPr lang="ru-RU" sz="2000" dirty="0"/>
              <a:t>Данные получены";</a:t>
            </a:r>
          </a:p>
          <a:p>
            <a:pPr>
              <a:lnSpc>
                <a:spcPct val="120000"/>
              </a:lnSpc>
              <a:spcAft>
                <a:spcPts val="600"/>
              </a:spcAft>
            </a:pPr>
            <a:r>
              <a:rPr lang="en-US" sz="2000" dirty="0" err="1"/>
              <a:t>mysqli_close</a:t>
            </a:r>
            <a:r>
              <a:rPr lang="en-US" sz="2000" dirty="0"/>
              <a:t>( $link );</a:t>
            </a:r>
            <a:endParaRPr lang="ru-RU" sz="2000" dirty="0"/>
          </a:p>
        </p:txBody>
      </p:sp>
      <p:sp>
        <p:nvSpPr>
          <p:cNvPr id="3" name="Прямоугольник 2">
            <a:extLst>
              <a:ext uri="{FF2B5EF4-FFF2-40B4-BE49-F238E27FC236}">
                <a16:creationId xmlns:a16="http://schemas.microsoft.com/office/drawing/2014/main" xmlns="" id="{B8E9B65F-2F38-43D0-8361-A2A2AA2D5102}"/>
              </a:ext>
            </a:extLst>
          </p:cNvPr>
          <p:cNvSpPr/>
          <p:nvPr/>
        </p:nvSpPr>
        <p:spPr>
          <a:xfrm>
            <a:off x="361071" y="5278902"/>
            <a:ext cx="11469858" cy="791307"/>
          </a:xfrm>
          <a:prstGeom prst="rect">
            <a:avLst/>
          </a:prstGeom>
          <a:solidFill>
            <a:srgbClr val="F9F2F4"/>
          </a:solidFill>
        </p:spPr>
        <p:txBody>
          <a:bodyPr wrap="square">
            <a:spAutoFit/>
          </a:bodyPr>
          <a:lstStyle/>
          <a:p>
            <a:pPr>
              <a:lnSpc>
                <a:spcPct val="120000"/>
              </a:lnSpc>
            </a:pPr>
            <a:r>
              <a:rPr lang="ru-RU" sz="2000" dirty="0">
                <a:latin typeface="Tahoma" panose="020B0604030504040204" pitchFamily="34" charset="0"/>
                <a:ea typeface="Tahoma" panose="020B0604030504040204" pitchFamily="34" charset="0"/>
                <a:cs typeface="Tahoma" panose="020B0604030504040204" pitchFamily="34" charset="0"/>
              </a:rPr>
              <a:t>Функция </a:t>
            </a:r>
            <a:r>
              <a:rPr lang="ru-RU" sz="2000" i="1" dirty="0" err="1">
                <a:solidFill>
                  <a:srgbClr val="C00000"/>
                </a:solidFill>
                <a:latin typeface="Tahoma" panose="020B0604030504040204" pitchFamily="34" charset="0"/>
                <a:ea typeface="Tahoma" panose="020B0604030504040204" pitchFamily="34" charset="0"/>
                <a:cs typeface="Tahoma" panose="020B0604030504040204" pitchFamily="34" charset="0"/>
              </a:rPr>
              <a:t>mysqli_query</a:t>
            </a:r>
            <a:r>
              <a:rPr lang="ru-RU" sz="2000" i="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ru-RU" sz="2000" dirty="0">
                <a:latin typeface="Tahoma" panose="020B0604030504040204" pitchFamily="34" charset="0"/>
                <a:ea typeface="Tahoma" panose="020B0604030504040204" pitchFamily="34" charset="0"/>
                <a:cs typeface="Tahoma" panose="020B0604030504040204" pitchFamily="34" charset="0"/>
              </a:rPr>
              <a:t>вернула нам идентификатор результата запроса — мы его помещаем в переменную и в дальнейшем будем работать с ним при помощи других функций PHP.</a:t>
            </a:r>
          </a:p>
        </p:txBody>
      </p:sp>
    </p:spTree>
    <p:extLst>
      <p:ext uri="{BB962C8B-B14F-4D97-AF65-F5344CB8AC3E}">
        <p14:creationId xmlns:p14="http://schemas.microsoft.com/office/powerpoint/2010/main" val="7283437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xmlns="" id="{635B28FC-EE8C-43A8-B9A7-0EE75E341266}"/>
              </a:ext>
            </a:extLst>
          </p:cNvPr>
          <p:cNvSpPr/>
          <p:nvPr/>
        </p:nvSpPr>
        <p:spPr>
          <a:xfrm>
            <a:off x="178190" y="184108"/>
            <a:ext cx="6096000" cy="1323439"/>
          </a:xfrm>
          <a:prstGeom prst="rect">
            <a:avLst/>
          </a:prstGeom>
          <a:solidFill>
            <a:srgbClr val="F9F2F4"/>
          </a:solidFill>
        </p:spPr>
        <p:txBody>
          <a:bodyPr>
            <a:spAutoFit/>
          </a:bodyPr>
          <a:lstStyle/>
          <a:p>
            <a:r>
              <a:rPr lang="ru-RU" sz="2000" dirty="0"/>
              <a:t>Для определения числа строк в результате запроса используют функцию </a:t>
            </a:r>
            <a:r>
              <a:rPr lang="ru-RU" sz="2000" i="1" dirty="0" err="1">
                <a:solidFill>
                  <a:srgbClr val="C00000"/>
                </a:solidFill>
              </a:rPr>
              <a:t>mysqli_num_rows</a:t>
            </a:r>
            <a:r>
              <a:rPr lang="ru-RU" sz="2000" i="1" dirty="0">
                <a:solidFill>
                  <a:srgbClr val="C00000"/>
                </a:solidFill>
              </a:rPr>
              <a:t>()</a:t>
            </a:r>
            <a:r>
              <a:rPr lang="ru-RU" sz="2000" dirty="0"/>
              <a:t>. Этой функции передаётся идентификатор результата запроса, а вернёт она число записей.</a:t>
            </a:r>
          </a:p>
        </p:txBody>
      </p:sp>
      <p:sp>
        <p:nvSpPr>
          <p:cNvPr id="4" name="Прямоугольник 3">
            <a:extLst>
              <a:ext uri="{FF2B5EF4-FFF2-40B4-BE49-F238E27FC236}">
                <a16:creationId xmlns:a16="http://schemas.microsoft.com/office/drawing/2014/main" xmlns="" id="{A5551103-4E97-4A33-A536-CA0F7C5B29AB}"/>
              </a:ext>
            </a:extLst>
          </p:cNvPr>
          <p:cNvSpPr/>
          <p:nvPr/>
        </p:nvSpPr>
        <p:spPr>
          <a:xfrm>
            <a:off x="6480517" y="4261166"/>
            <a:ext cx="4661096" cy="1015663"/>
          </a:xfrm>
          <a:prstGeom prst="rect">
            <a:avLst/>
          </a:prstGeom>
        </p:spPr>
        <p:txBody>
          <a:bodyPr wrap="square">
            <a:spAutoFit/>
          </a:bodyPr>
          <a:lstStyle/>
          <a:p>
            <a:r>
              <a:rPr lang="ru-RU" sz="2000" dirty="0"/>
              <a:t>Чтобы узнать число записей в таблице можно воспользоваться командой </a:t>
            </a:r>
            <a:br>
              <a:rPr lang="ru-RU" sz="2000" dirty="0"/>
            </a:br>
            <a:r>
              <a:rPr lang="ru-RU" sz="2000" i="1" dirty="0">
                <a:solidFill>
                  <a:srgbClr val="C00000"/>
                </a:solidFill>
              </a:rPr>
              <a:t>SELECT COUNT(*) FROM </a:t>
            </a:r>
            <a:r>
              <a:rPr lang="ru-RU" sz="2000" i="1" dirty="0" err="1">
                <a:solidFill>
                  <a:srgbClr val="C00000"/>
                </a:solidFill>
              </a:rPr>
              <a:t>имя_таблицы</a:t>
            </a:r>
            <a:r>
              <a:rPr lang="ru-RU" sz="2000" i="1" dirty="0">
                <a:solidFill>
                  <a:srgbClr val="C00000"/>
                </a:solidFill>
              </a:rPr>
              <a:t>.</a:t>
            </a:r>
          </a:p>
        </p:txBody>
      </p:sp>
      <p:sp>
        <p:nvSpPr>
          <p:cNvPr id="5" name="Прямоугольник 4">
            <a:extLst>
              <a:ext uri="{FF2B5EF4-FFF2-40B4-BE49-F238E27FC236}">
                <a16:creationId xmlns:a16="http://schemas.microsoft.com/office/drawing/2014/main" xmlns="" id="{D37354D7-3229-402E-8622-FF761E3EA149}"/>
              </a:ext>
            </a:extLst>
          </p:cNvPr>
          <p:cNvSpPr/>
          <p:nvPr/>
        </p:nvSpPr>
        <p:spPr>
          <a:xfrm>
            <a:off x="6480516" y="184108"/>
            <a:ext cx="5533294" cy="1015663"/>
          </a:xfrm>
          <a:prstGeom prst="rect">
            <a:avLst/>
          </a:prstGeom>
        </p:spPr>
        <p:txBody>
          <a:bodyPr wrap="square">
            <a:spAutoFit/>
          </a:bodyPr>
          <a:lstStyle/>
          <a:p>
            <a:r>
              <a:rPr lang="ru-RU" sz="2000" dirty="0"/>
              <a:t>Функция PHP </a:t>
            </a:r>
            <a:r>
              <a:rPr lang="ru-RU" sz="2000" i="1" dirty="0" err="1">
                <a:solidFill>
                  <a:srgbClr val="C00000"/>
                </a:solidFill>
              </a:rPr>
              <a:t>mysqli_fetch_row</a:t>
            </a:r>
            <a:r>
              <a:rPr lang="ru-RU" sz="2000" i="1" dirty="0">
                <a:solidFill>
                  <a:srgbClr val="C00000"/>
                </a:solidFill>
              </a:rPr>
              <a:t>() </a:t>
            </a:r>
            <a:r>
              <a:rPr lang="ru-RU" sz="2000" dirty="0"/>
              <a:t>для получения данных. Эта функция возвращает ряд результата запроса в форме простого массива.</a:t>
            </a:r>
          </a:p>
        </p:txBody>
      </p:sp>
      <p:sp>
        <p:nvSpPr>
          <p:cNvPr id="6" name="Прямоугольник 5">
            <a:extLst>
              <a:ext uri="{FF2B5EF4-FFF2-40B4-BE49-F238E27FC236}">
                <a16:creationId xmlns:a16="http://schemas.microsoft.com/office/drawing/2014/main" xmlns="" id="{5FF1CBE3-2664-4153-B9A9-E6D0BED424E8}"/>
              </a:ext>
            </a:extLst>
          </p:cNvPr>
          <p:cNvSpPr/>
          <p:nvPr/>
        </p:nvSpPr>
        <p:spPr>
          <a:xfrm>
            <a:off x="178190" y="2722284"/>
            <a:ext cx="6096000" cy="2554545"/>
          </a:xfrm>
          <a:prstGeom prst="rect">
            <a:avLst/>
          </a:prstGeom>
          <a:solidFill>
            <a:srgbClr val="F9F2F4"/>
          </a:solidFill>
        </p:spPr>
        <p:txBody>
          <a:bodyPr>
            <a:spAutoFit/>
          </a:bodyPr>
          <a:lstStyle/>
          <a:p>
            <a:r>
              <a:rPr lang="ru-RU" sz="2000" dirty="0"/>
              <a:t>В PHP есть несколько функций, при помощи которых можно для каждой строки результирующего запроса получить массив, состоящий из её полей. Для примера возьмём функцию </a:t>
            </a:r>
            <a:r>
              <a:rPr lang="ru-RU" sz="2000" i="1" dirty="0" err="1">
                <a:solidFill>
                  <a:srgbClr val="C00000"/>
                </a:solidFill>
              </a:rPr>
              <a:t>mysqli_fetch_row</a:t>
            </a:r>
            <a:r>
              <a:rPr lang="ru-RU" sz="2000" i="1" dirty="0">
                <a:solidFill>
                  <a:srgbClr val="C00000"/>
                </a:solidFill>
              </a:rPr>
              <a:t>(). </a:t>
            </a:r>
            <a:r>
              <a:rPr lang="ru-RU" sz="2000" dirty="0"/>
              <a:t>Этой функции передают идентификатор запроса, а возвращает она массив. Так в цикле просматривается весь результат запроса, по достижению конца результата запроса функция вернёт </a:t>
            </a:r>
            <a:r>
              <a:rPr lang="ru-RU" sz="2000" i="1" dirty="0" err="1">
                <a:solidFill>
                  <a:srgbClr val="C00000"/>
                </a:solidFill>
              </a:rPr>
              <a:t>false</a:t>
            </a:r>
            <a:r>
              <a:rPr lang="ru-RU" sz="2000" dirty="0"/>
              <a:t>.</a:t>
            </a:r>
          </a:p>
        </p:txBody>
      </p:sp>
      <p:sp>
        <p:nvSpPr>
          <p:cNvPr id="7" name="Прямоугольник 6">
            <a:extLst>
              <a:ext uri="{FF2B5EF4-FFF2-40B4-BE49-F238E27FC236}">
                <a16:creationId xmlns:a16="http://schemas.microsoft.com/office/drawing/2014/main" xmlns="" id="{9D4E6272-0EB7-4FBD-8450-8325B75174CB}"/>
              </a:ext>
            </a:extLst>
          </p:cNvPr>
          <p:cNvSpPr/>
          <p:nvPr/>
        </p:nvSpPr>
        <p:spPr>
          <a:xfrm>
            <a:off x="6480516" y="1271675"/>
            <a:ext cx="5533294" cy="2862322"/>
          </a:xfrm>
          <a:prstGeom prst="rect">
            <a:avLst/>
          </a:prstGeom>
          <a:solidFill>
            <a:srgbClr val="F9F2F4"/>
          </a:solidFill>
        </p:spPr>
        <p:txBody>
          <a:bodyPr wrap="square">
            <a:spAutoFit/>
          </a:bodyPr>
          <a:lstStyle/>
          <a:p>
            <a:r>
              <a:rPr lang="ru-RU" sz="2000" dirty="0"/>
              <a:t>Функция </a:t>
            </a:r>
            <a:r>
              <a:rPr lang="ru-RU" sz="2000" i="1" dirty="0" err="1">
                <a:solidFill>
                  <a:srgbClr val="C00000"/>
                </a:solidFill>
              </a:rPr>
              <a:t>mysqli_fetch_row</a:t>
            </a:r>
            <a:r>
              <a:rPr lang="ru-RU" sz="2000" i="1" dirty="0">
                <a:solidFill>
                  <a:srgbClr val="C00000"/>
                </a:solidFill>
              </a:rPr>
              <a:t>() </a:t>
            </a:r>
            <a:r>
              <a:rPr lang="ru-RU" sz="2000" dirty="0"/>
              <a:t>возвращает простой массив. В каждой итерации цикла мы получим массив с строкой из таблицы, доступ к полям которой мы можем получить указав числовой индекс.</a:t>
            </a:r>
          </a:p>
          <a:p>
            <a:endParaRPr lang="ru-RU" sz="2000" dirty="0"/>
          </a:p>
          <a:p>
            <a:r>
              <a:rPr lang="ru-RU" sz="2000" dirty="0"/>
              <a:t>То же самое можно сделать используя функцию </a:t>
            </a:r>
            <a:r>
              <a:rPr lang="ru-RU" sz="2000" i="1" dirty="0" err="1">
                <a:solidFill>
                  <a:srgbClr val="C00000"/>
                </a:solidFill>
              </a:rPr>
              <a:t>mysql_fetch_assoc</a:t>
            </a:r>
            <a:r>
              <a:rPr lang="ru-RU" sz="2000" i="1" dirty="0">
                <a:solidFill>
                  <a:srgbClr val="C00000"/>
                </a:solidFill>
              </a:rPr>
              <a:t>(), </a:t>
            </a:r>
            <a:r>
              <a:rPr lang="ru-RU" sz="2000" dirty="0"/>
              <a:t>она возвращает ассоциативный массив.</a:t>
            </a:r>
          </a:p>
        </p:txBody>
      </p:sp>
      <p:sp>
        <p:nvSpPr>
          <p:cNvPr id="8" name="Заголовок 7">
            <a:extLst>
              <a:ext uri="{FF2B5EF4-FFF2-40B4-BE49-F238E27FC236}">
                <a16:creationId xmlns:a16="http://schemas.microsoft.com/office/drawing/2014/main" xmlns="" id="{59CC1ECE-4D51-44C8-B4A8-8AD1977B0C11}"/>
              </a:ext>
            </a:extLst>
          </p:cNvPr>
          <p:cNvSpPr>
            <a:spLocks noGrp="1"/>
          </p:cNvSpPr>
          <p:nvPr>
            <p:ph type="title" idx="4294967295"/>
          </p:nvPr>
        </p:nvSpPr>
        <p:spPr>
          <a:xfrm>
            <a:off x="689316" y="1801146"/>
            <a:ext cx="5584874" cy="562224"/>
          </a:xfrm>
        </p:spPr>
        <p:txBody>
          <a:bodyPr/>
          <a:lstStyle/>
          <a:p>
            <a:r>
              <a:rPr lang="ru-RU" dirty="0"/>
              <a:t>Функции РНР</a:t>
            </a:r>
          </a:p>
        </p:txBody>
      </p:sp>
      <p:cxnSp>
        <p:nvCxnSpPr>
          <p:cNvPr id="10" name="Прямая соединительная линия 9">
            <a:extLst>
              <a:ext uri="{FF2B5EF4-FFF2-40B4-BE49-F238E27FC236}">
                <a16:creationId xmlns:a16="http://schemas.microsoft.com/office/drawing/2014/main" xmlns="" id="{3B2612CB-6EC2-41D2-A9CA-B7B7044C8094}"/>
              </a:ext>
            </a:extLst>
          </p:cNvPr>
          <p:cNvCxnSpPr/>
          <p:nvPr/>
        </p:nvCxnSpPr>
        <p:spPr>
          <a:xfrm>
            <a:off x="178190" y="2335238"/>
            <a:ext cx="6096000" cy="0"/>
          </a:xfrm>
          <a:prstGeom prst="line">
            <a:avLst/>
          </a:prstGeom>
          <a:ln w="57150"/>
        </p:spPr>
        <p:style>
          <a:lnRef idx="3">
            <a:schemeClr val="accent1"/>
          </a:lnRef>
          <a:fillRef idx="0">
            <a:schemeClr val="accent1"/>
          </a:fillRef>
          <a:effectRef idx="2">
            <a:schemeClr val="accent1"/>
          </a:effectRef>
          <a:fontRef idx="minor">
            <a:schemeClr val="tx1"/>
          </a:fontRef>
        </p:style>
      </p:cxnSp>
      <p:sp>
        <p:nvSpPr>
          <p:cNvPr id="11" name="Прямоугольник 10">
            <a:extLst>
              <a:ext uri="{FF2B5EF4-FFF2-40B4-BE49-F238E27FC236}">
                <a16:creationId xmlns:a16="http://schemas.microsoft.com/office/drawing/2014/main" xmlns="" id="{70308AA8-A7E4-4333-A2FD-A1E04F953F12}"/>
              </a:ext>
            </a:extLst>
          </p:cNvPr>
          <p:cNvSpPr/>
          <p:nvPr/>
        </p:nvSpPr>
        <p:spPr>
          <a:xfrm>
            <a:off x="178190" y="5375305"/>
            <a:ext cx="11835620" cy="707886"/>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r>
              <a:rPr lang="ru-RU" sz="2000" dirty="0">
                <a:solidFill>
                  <a:schemeClr val="tx1"/>
                </a:solidFill>
                <a:ea typeface="Tahoma" panose="020B0604030504040204" pitchFamily="34" charset="0"/>
                <a:cs typeface="Tahoma" panose="020B0604030504040204" pitchFamily="34" charset="0"/>
              </a:rPr>
              <a:t>Также есть функции </a:t>
            </a:r>
            <a:r>
              <a:rPr lang="ru-RU" sz="2000" i="1" dirty="0" err="1">
                <a:solidFill>
                  <a:srgbClr val="C00000"/>
                </a:solidFill>
                <a:ea typeface="Tahoma" panose="020B0604030504040204" pitchFamily="34" charset="0"/>
                <a:cs typeface="Tahoma" panose="020B0604030504040204" pitchFamily="34" charset="0"/>
              </a:rPr>
              <a:t>mysqli_fetch_array</a:t>
            </a:r>
            <a:r>
              <a:rPr lang="ru-RU" sz="2000" i="1" dirty="0">
                <a:solidFill>
                  <a:srgbClr val="C00000"/>
                </a:solidFill>
                <a:ea typeface="Tahoma" panose="020B0604030504040204" pitchFamily="34" charset="0"/>
                <a:cs typeface="Tahoma" panose="020B0604030504040204" pitchFamily="34" charset="0"/>
              </a:rPr>
              <a:t>() </a:t>
            </a:r>
            <a:r>
              <a:rPr lang="ru-RU" sz="2000" dirty="0">
                <a:solidFill>
                  <a:schemeClr val="tx1"/>
                </a:solidFill>
                <a:ea typeface="Tahoma" panose="020B0604030504040204" pitchFamily="34" charset="0"/>
                <a:cs typeface="Tahoma" panose="020B0604030504040204" pitchFamily="34" charset="0"/>
              </a:rPr>
              <a:t>— возвращает любой тип массива, </a:t>
            </a:r>
          </a:p>
          <a:p>
            <a:pPr algn="r"/>
            <a:r>
              <a:rPr lang="ru-RU" sz="2000" dirty="0">
                <a:solidFill>
                  <a:schemeClr val="tx1"/>
                </a:solidFill>
                <a:ea typeface="Tahoma" panose="020B0604030504040204" pitchFamily="34" charset="0"/>
                <a:cs typeface="Tahoma" panose="020B0604030504040204" pitchFamily="34" charset="0"/>
              </a:rPr>
              <a:t>и</a:t>
            </a:r>
            <a:r>
              <a:rPr lang="ru-RU" sz="2000" dirty="0">
                <a:ea typeface="Tahoma" panose="020B0604030504040204" pitchFamily="34" charset="0"/>
                <a:cs typeface="Tahoma" panose="020B0604030504040204" pitchFamily="34" charset="0"/>
              </a:rPr>
              <a:t> </a:t>
            </a:r>
            <a:r>
              <a:rPr lang="ru-RU" sz="2000" i="1" dirty="0" err="1">
                <a:solidFill>
                  <a:srgbClr val="C00000"/>
                </a:solidFill>
                <a:ea typeface="Tahoma" panose="020B0604030504040204" pitchFamily="34" charset="0"/>
                <a:cs typeface="Tahoma" panose="020B0604030504040204" pitchFamily="34" charset="0"/>
              </a:rPr>
              <a:t>mysqli_fetch_object</a:t>
            </a:r>
            <a:r>
              <a:rPr lang="ru-RU" sz="2000" i="1" dirty="0">
                <a:solidFill>
                  <a:srgbClr val="C00000"/>
                </a:solidFill>
                <a:ea typeface="Tahoma" panose="020B0604030504040204" pitchFamily="34" charset="0"/>
                <a:cs typeface="Tahoma" panose="020B0604030504040204" pitchFamily="34" charset="0"/>
              </a:rPr>
              <a:t>() </a:t>
            </a:r>
            <a:r>
              <a:rPr lang="ru-RU" sz="2000" dirty="0">
                <a:solidFill>
                  <a:schemeClr val="tx1"/>
                </a:solidFill>
                <a:ea typeface="Tahoma" panose="020B0604030504040204" pitchFamily="34" charset="0"/>
                <a:cs typeface="Tahoma" panose="020B0604030504040204" pitchFamily="34" charset="0"/>
              </a:rPr>
              <a:t>— возвращает объект.</a:t>
            </a:r>
          </a:p>
        </p:txBody>
      </p:sp>
    </p:spTree>
    <p:extLst>
      <p:ext uri="{BB962C8B-B14F-4D97-AF65-F5344CB8AC3E}">
        <p14:creationId xmlns:p14="http://schemas.microsoft.com/office/powerpoint/2010/main" val="6440921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xmlns="" id="{59CC1ECE-4D51-44C8-B4A8-8AD1977B0C11}"/>
              </a:ext>
            </a:extLst>
          </p:cNvPr>
          <p:cNvSpPr>
            <a:spLocks noGrp="1"/>
          </p:cNvSpPr>
          <p:nvPr>
            <p:ph type="title" idx="4294967295"/>
          </p:nvPr>
        </p:nvSpPr>
        <p:spPr>
          <a:xfrm>
            <a:off x="178191" y="207476"/>
            <a:ext cx="5917810" cy="863675"/>
          </a:xfrm>
        </p:spPr>
        <p:txBody>
          <a:bodyPr>
            <a:normAutofit fontScale="90000"/>
          </a:bodyPr>
          <a:lstStyle/>
          <a:p>
            <a:r>
              <a:rPr lang="ru-RU" dirty="0"/>
              <a:t>Запрос </a:t>
            </a:r>
            <a:r>
              <a:rPr lang="ru-RU" dirty="0">
                <a:solidFill>
                  <a:srgbClr val="C00000"/>
                </a:solidFill>
              </a:rPr>
              <a:t>SELECT DISTINCT</a:t>
            </a:r>
            <a:r>
              <a:rPr lang="ru-RU" dirty="0"/>
              <a:t/>
            </a:r>
            <a:br>
              <a:rPr lang="ru-RU" dirty="0"/>
            </a:br>
            <a:r>
              <a:rPr lang="ru-RU" dirty="0"/>
              <a:t> — уникальные значения полей</a:t>
            </a:r>
          </a:p>
        </p:txBody>
      </p:sp>
      <p:cxnSp>
        <p:nvCxnSpPr>
          <p:cNvPr id="10" name="Прямая соединительная линия 9">
            <a:extLst>
              <a:ext uri="{FF2B5EF4-FFF2-40B4-BE49-F238E27FC236}">
                <a16:creationId xmlns:a16="http://schemas.microsoft.com/office/drawing/2014/main" xmlns="" id="{3B2612CB-6EC2-41D2-A9CA-B7B7044C8094}"/>
              </a:ext>
            </a:extLst>
          </p:cNvPr>
          <p:cNvCxnSpPr>
            <a:cxnSpLocks/>
          </p:cNvCxnSpPr>
          <p:nvPr/>
        </p:nvCxnSpPr>
        <p:spPr>
          <a:xfrm>
            <a:off x="178191" y="1071151"/>
            <a:ext cx="5817660" cy="0"/>
          </a:xfrm>
          <a:prstGeom prst="line">
            <a:avLst/>
          </a:prstGeom>
          <a:ln w="57150"/>
        </p:spPr>
        <p:style>
          <a:lnRef idx="3">
            <a:schemeClr val="accent1"/>
          </a:lnRef>
          <a:fillRef idx="0">
            <a:schemeClr val="accent1"/>
          </a:fillRef>
          <a:effectRef idx="2">
            <a:schemeClr val="accent1"/>
          </a:effectRef>
          <a:fontRef idx="minor">
            <a:schemeClr val="tx1"/>
          </a:fontRef>
        </p:style>
      </p:cxnSp>
      <p:sp>
        <p:nvSpPr>
          <p:cNvPr id="2" name="Прямоугольник 1">
            <a:extLst>
              <a:ext uri="{FF2B5EF4-FFF2-40B4-BE49-F238E27FC236}">
                <a16:creationId xmlns:a16="http://schemas.microsoft.com/office/drawing/2014/main" xmlns="" id="{E0C4638E-FC18-493F-89D9-39E4F872740D}"/>
              </a:ext>
            </a:extLst>
          </p:cNvPr>
          <p:cNvSpPr/>
          <p:nvPr/>
        </p:nvSpPr>
        <p:spPr>
          <a:xfrm>
            <a:off x="178191" y="1237515"/>
            <a:ext cx="5647843" cy="3416320"/>
          </a:xfrm>
          <a:prstGeom prst="rect">
            <a:avLst/>
          </a:prstGeom>
          <a:solidFill>
            <a:srgbClr val="FFFFFF"/>
          </a:solidFill>
        </p:spPr>
        <p:txBody>
          <a:bodyPr wrap="square">
            <a:spAutoFit/>
          </a:bodyPr>
          <a:lstStyle/>
          <a:p>
            <a:r>
              <a:rPr lang="en-US" dirty="0">
                <a:solidFill>
                  <a:srgbClr val="C00000"/>
                </a:solidFill>
              </a:rPr>
              <a:t>$result  =  </a:t>
            </a:r>
            <a:r>
              <a:rPr lang="en-US" dirty="0" err="1">
                <a:solidFill>
                  <a:srgbClr val="C00000"/>
                </a:solidFill>
              </a:rPr>
              <a:t>mysqli_query</a:t>
            </a:r>
            <a:r>
              <a:rPr lang="en-US" dirty="0">
                <a:solidFill>
                  <a:srgbClr val="C00000"/>
                </a:solidFill>
              </a:rPr>
              <a:t>($link, "SELECT DISTINCT name FROM users");</a:t>
            </a:r>
          </a:p>
          <a:p>
            <a:endParaRPr lang="en-US" dirty="0"/>
          </a:p>
          <a:p>
            <a:r>
              <a:rPr lang="en-US" dirty="0"/>
              <a:t>echo "</a:t>
            </a:r>
            <a:r>
              <a:rPr lang="ru-RU" dirty="0"/>
              <a:t>Всего имён: "  .  </a:t>
            </a:r>
            <a:r>
              <a:rPr lang="en-US" dirty="0" err="1"/>
              <a:t>mysqli_num_rows</a:t>
            </a:r>
            <a:r>
              <a:rPr lang="en-US" dirty="0"/>
              <a:t>($result)."&lt;</a:t>
            </a:r>
            <a:r>
              <a:rPr lang="en-US" dirty="0" err="1"/>
              <a:t>br</a:t>
            </a:r>
            <a:r>
              <a:rPr lang="en-US" dirty="0"/>
              <a:t>&gt;";</a:t>
            </a:r>
          </a:p>
          <a:p>
            <a:endParaRPr lang="en-US" dirty="0"/>
          </a:p>
          <a:p>
            <a:r>
              <a:rPr lang="en-US" dirty="0"/>
              <a:t>echo "</a:t>
            </a:r>
            <a:r>
              <a:rPr lang="ru-RU" dirty="0"/>
              <a:t>Список имён:&lt;</a:t>
            </a:r>
            <a:r>
              <a:rPr lang="en-US" dirty="0" err="1"/>
              <a:t>br</a:t>
            </a:r>
            <a:r>
              <a:rPr lang="en-US" dirty="0"/>
              <a:t>&gt;";</a:t>
            </a:r>
          </a:p>
          <a:p>
            <a:r>
              <a:rPr lang="en-US" dirty="0"/>
              <a:t>while (  $name  =  </a:t>
            </a:r>
            <a:r>
              <a:rPr lang="en-US" dirty="0" err="1"/>
              <a:t>mysqli_fetch_row</a:t>
            </a:r>
            <a:r>
              <a:rPr lang="en-US" dirty="0"/>
              <a:t>($result)  )</a:t>
            </a:r>
          </a:p>
          <a:p>
            <a:r>
              <a:rPr lang="en-US" dirty="0"/>
              <a:t>{</a:t>
            </a:r>
          </a:p>
          <a:p>
            <a:r>
              <a:rPr lang="en-US" dirty="0"/>
              <a:t>    echo "$name[0]&lt;</a:t>
            </a:r>
            <a:r>
              <a:rPr lang="en-US" dirty="0" err="1"/>
              <a:t>br</a:t>
            </a:r>
            <a:r>
              <a:rPr lang="en-US" dirty="0"/>
              <a:t>&gt;";</a:t>
            </a:r>
          </a:p>
          <a:p>
            <a:r>
              <a:rPr lang="en-US" dirty="0"/>
              <a:t>}</a:t>
            </a:r>
          </a:p>
          <a:p>
            <a:endParaRPr lang="en-US" dirty="0"/>
          </a:p>
          <a:p>
            <a:r>
              <a:rPr lang="en-US" dirty="0" err="1"/>
              <a:t>mysqli_close</a:t>
            </a:r>
            <a:r>
              <a:rPr lang="en-US" dirty="0"/>
              <a:t>($link);</a:t>
            </a:r>
            <a:endParaRPr lang="ru-RU" dirty="0"/>
          </a:p>
        </p:txBody>
      </p:sp>
      <p:sp>
        <p:nvSpPr>
          <p:cNvPr id="12" name="Прямоугольник 11">
            <a:extLst>
              <a:ext uri="{FF2B5EF4-FFF2-40B4-BE49-F238E27FC236}">
                <a16:creationId xmlns:a16="http://schemas.microsoft.com/office/drawing/2014/main" xmlns="" id="{12B37CEB-6A5A-46F7-91DD-E83398B8E6CB}"/>
              </a:ext>
            </a:extLst>
          </p:cNvPr>
          <p:cNvSpPr/>
          <p:nvPr/>
        </p:nvSpPr>
        <p:spPr>
          <a:xfrm>
            <a:off x="178191" y="4755224"/>
            <a:ext cx="5917810" cy="1200329"/>
          </a:xfrm>
          <a:prstGeom prst="rect">
            <a:avLst/>
          </a:prstGeom>
          <a:solidFill>
            <a:srgbClr val="F9F2F4"/>
          </a:solidFill>
        </p:spPr>
        <p:style>
          <a:lnRef idx="2">
            <a:schemeClr val="accent1"/>
          </a:lnRef>
          <a:fillRef idx="1">
            <a:schemeClr val="lt1"/>
          </a:fillRef>
          <a:effectRef idx="0">
            <a:schemeClr val="accent1"/>
          </a:effectRef>
          <a:fontRef idx="minor">
            <a:schemeClr val="dk1"/>
          </a:fontRef>
        </p:style>
        <p:txBody>
          <a:bodyPr wrap="square">
            <a:spAutoFit/>
          </a:bodyPr>
          <a:lstStyle/>
          <a:p>
            <a:r>
              <a:rPr lang="ru-RU" dirty="0">
                <a:solidFill>
                  <a:srgbClr val="C00000"/>
                </a:solidFill>
              </a:rPr>
              <a:t>SQL</a:t>
            </a:r>
            <a:r>
              <a:rPr lang="ru-RU" dirty="0"/>
              <a:t>-запрос </a:t>
            </a:r>
            <a:r>
              <a:rPr lang="ru-RU" dirty="0">
                <a:solidFill>
                  <a:srgbClr val="C00000"/>
                </a:solidFill>
              </a:rPr>
              <a:t>"SELECT DISTINCT </a:t>
            </a:r>
            <a:r>
              <a:rPr lang="ru-RU" dirty="0" err="1">
                <a:solidFill>
                  <a:srgbClr val="C00000"/>
                </a:solidFill>
              </a:rPr>
              <a:t>name</a:t>
            </a:r>
            <a:r>
              <a:rPr lang="ru-RU" dirty="0">
                <a:solidFill>
                  <a:srgbClr val="C00000"/>
                </a:solidFill>
              </a:rPr>
              <a:t> FROM </a:t>
            </a:r>
            <a:r>
              <a:rPr lang="ru-RU" dirty="0" err="1">
                <a:solidFill>
                  <a:srgbClr val="C00000"/>
                </a:solidFill>
              </a:rPr>
              <a:t>users</a:t>
            </a:r>
            <a:r>
              <a:rPr lang="ru-RU" dirty="0">
                <a:solidFill>
                  <a:srgbClr val="C00000"/>
                </a:solidFill>
              </a:rPr>
              <a:t>" </a:t>
            </a:r>
            <a:r>
              <a:rPr lang="ru-RU" dirty="0"/>
              <a:t>вернул результат со всеми уникальными именами в нашей таблице. Каждое уникальное имя в новой строке результата запроса.</a:t>
            </a:r>
          </a:p>
        </p:txBody>
      </p:sp>
      <p:sp>
        <p:nvSpPr>
          <p:cNvPr id="13" name="Прямоугольник 12">
            <a:extLst>
              <a:ext uri="{FF2B5EF4-FFF2-40B4-BE49-F238E27FC236}">
                <a16:creationId xmlns:a16="http://schemas.microsoft.com/office/drawing/2014/main" xmlns="" id="{E433DE61-4466-4B1D-82FD-D59A022ACFC1}"/>
              </a:ext>
            </a:extLst>
          </p:cNvPr>
          <p:cNvSpPr/>
          <p:nvPr/>
        </p:nvSpPr>
        <p:spPr>
          <a:xfrm>
            <a:off x="6196152" y="2969841"/>
            <a:ext cx="5647842"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echo "&lt;</a:t>
            </a:r>
            <a:r>
              <a:rPr lang="en-US" dirty="0" err="1"/>
              <a:t>br</a:t>
            </a:r>
            <a:r>
              <a:rPr lang="en-US" dirty="0"/>
              <a:t>&gt;&lt;</a:t>
            </a:r>
            <a:r>
              <a:rPr lang="en-US" dirty="0" err="1"/>
              <a:t>br</a:t>
            </a:r>
            <a:r>
              <a:rPr lang="en-US" dirty="0"/>
              <a:t>&gt;</a:t>
            </a:r>
            <a:r>
              <a:rPr lang="ru-RU" dirty="0"/>
              <a:t>Первые три записи:&lt;</a:t>
            </a:r>
            <a:r>
              <a:rPr lang="en-US" dirty="0" err="1"/>
              <a:t>br</a:t>
            </a:r>
            <a:r>
              <a:rPr lang="en-US" dirty="0"/>
              <a:t>&gt;";</a:t>
            </a:r>
          </a:p>
          <a:p>
            <a:r>
              <a:rPr lang="en-US" dirty="0">
                <a:solidFill>
                  <a:srgbClr val="C00000"/>
                </a:solidFill>
              </a:rPr>
              <a:t>$result  =  </a:t>
            </a:r>
            <a:r>
              <a:rPr lang="en-US" dirty="0" err="1">
                <a:solidFill>
                  <a:srgbClr val="C00000"/>
                </a:solidFill>
              </a:rPr>
              <a:t>mysqli_query</a:t>
            </a:r>
            <a:r>
              <a:rPr lang="en-US" dirty="0">
                <a:solidFill>
                  <a:srgbClr val="C00000"/>
                </a:solidFill>
              </a:rPr>
              <a:t>(  $link, "SELECT * FROM users LIMIT 3"  );</a:t>
            </a:r>
          </a:p>
          <a:p>
            <a:r>
              <a:rPr lang="en-US" dirty="0"/>
              <a:t>while (  $line  =  </a:t>
            </a:r>
            <a:r>
              <a:rPr lang="en-US" dirty="0" err="1"/>
              <a:t>mysqli_fetch_row</a:t>
            </a:r>
            <a:r>
              <a:rPr lang="en-US" dirty="0"/>
              <a:t>($result)  )</a:t>
            </a:r>
          </a:p>
          <a:p>
            <a:r>
              <a:rPr lang="en-US" dirty="0"/>
              <a:t>{</a:t>
            </a:r>
          </a:p>
          <a:p>
            <a:r>
              <a:rPr lang="en-US" dirty="0"/>
              <a:t>    echo "</a:t>
            </a:r>
            <a:r>
              <a:rPr lang="ru-RU" dirty="0"/>
              <a:t>Имя: $</a:t>
            </a:r>
            <a:r>
              <a:rPr lang="en-US" dirty="0"/>
              <a:t>line[0]. </a:t>
            </a:r>
            <a:r>
              <a:rPr lang="ru-RU" dirty="0"/>
              <a:t>Фамилия: $</a:t>
            </a:r>
            <a:r>
              <a:rPr lang="en-US" dirty="0"/>
              <a:t>line[1]. </a:t>
            </a:r>
            <a:r>
              <a:rPr lang="ru-RU" dirty="0"/>
              <a:t>Возраст: $</a:t>
            </a:r>
            <a:r>
              <a:rPr lang="en-US" dirty="0"/>
              <a:t>line[2].&lt;</a:t>
            </a:r>
            <a:r>
              <a:rPr lang="en-US" dirty="0" err="1"/>
              <a:t>br</a:t>
            </a:r>
            <a:r>
              <a:rPr lang="en-US" dirty="0"/>
              <a:t>&gt;";</a:t>
            </a:r>
          </a:p>
          <a:p>
            <a:r>
              <a:rPr lang="en-US" dirty="0"/>
              <a:t>}</a:t>
            </a:r>
            <a:endParaRPr lang="ru-RU" dirty="0"/>
          </a:p>
        </p:txBody>
      </p:sp>
      <p:sp>
        <p:nvSpPr>
          <p:cNvPr id="14" name="Прямоугольник 13">
            <a:extLst>
              <a:ext uri="{FF2B5EF4-FFF2-40B4-BE49-F238E27FC236}">
                <a16:creationId xmlns:a16="http://schemas.microsoft.com/office/drawing/2014/main" xmlns="" id="{A948E211-3EF0-4FCF-9EE7-5884365F73FA}"/>
              </a:ext>
            </a:extLst>
          </p:cNvPr>
          <p:cNvSpPr/>
          <p:nvPr/>
        </p:nvSpPr>
        <p:spPr>
          <a:xfrm>
            <a:off x="6196151" y="1248793"/>
            <a:ext cx="5647843" cy="1477328"/>
          </a:xfrm>
          <a:prstGeom prst="rect">
            <a:avLst/>
          </a:prstGeom>
          <a:solidFill>
            <a:srgbClr val="F9F2F4"/>
          </a:solidFill>
        </p:spPr>
        <p:txBody>
          <a:bodyPr wrap="square">
            <a:spAutoFit/>
          </a:bodyPr>
          <a:lstStyle/>
          <a:p>
            <a:r>
              <a:rPr lang="ru-RU" dirty="0"/>
              <a:t>Добавив в </a:t>
            </a:r>
            <a:r>
              <a:rPr lang="ru-RU" dirty="0">
                <a:solidFill>
                  <a:srgbClr val="C00000"/>
                </a:solidFill>
              </a:rPr>
              <a:t>SQL-запрос</a:t>
            </a:r>
            <a:r>
              <a:rPr lang="ru-RU" dirty="0"/>
              <a:t> команду </a:t>
            </a:r>
            <a:r>
              <a:rPr lang="ru-RU" dirty="0">
                <a:solidFill>
                  <a:srgbClr val="C00000"/>
                </a:solidFill>
              </a:rPr>
              <a:t>LIMIT</a:t>
            </a:r>
            <a:r>
              <a:rPr lang="ru-RU" dirty="0"/>
              <a:t> мы ограничим размер результата.</a:t>
            </a:r>
          </a:p>
          <a:p>
            <a:endParaRPr lang="ru-RU" dirty="0"/>
          </a:p>
          <a:p>
            <a:r>
              <a:rPr lang="ru-RU" dirty="0"/>
              <a:t>Запрос, который выводит первые три записи: </a:t>
            </a:r>
            <a:r>
              <a:rPr lang="ru-RU" dirty="0">
                <a:solidFill>
                  <a:srgbClr val="C00000"/>
                </a:solidFill>
              </a:rPr>
              <a:t>"SELECT * FROM </a:t>
            </a:r>
            <a:r>
              <a:rPr lang="ru-RU" dirty="0" err="1">
                <a:solidFill>
                  <a:srgbClr val="C00000"/>
                </a:solidFill>
              </a:rPr>
              <a:t>users</a:t>
            </a:r>
            <a:r>
              <a:rPr lang="ru-RU" dirty="0">
                <a:solidFill>
                  <a:srgbClr val="C00000"/>
                </a:solidFill>
              </a:rPr>
              <a:t> LIMIT 3"</a:t>
            </a:r>
          </a:p>
        </p:txBody>
      </p:sp>
      <p:sp>
        <p:nvSpPr>
          <p:cNvPr id="15" name="Заголовок 7">
            <a:extLst>
              <a:ext uri="{FF2B5EF4-FFF2-40B4-BE49-F238E27FC236}">
                <a16:creationId xmlns:a16="http://schemas.microsoft.com/office/drawing/2014/main" xmlns="" id="{49856B21-65C6-4277-B3EC-F006EB7D6C7D}"/>
              </a:ext>
            </a:extLst>
          </p:cNvPr>
          <p:cNvSpPr txBox="1">
            <a:spLocks/>
          </p:cNvSpPr>
          <p:nvPr/>
        </p:nvSpPr>
        <p:spPr>
          <a:xfrm>
            <a:off x="6196151" y="207476"/>
            <a:ext cx="5917810" cy="86367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ru-RU" dirty="0"/>
              <a:t>Ограничение записей — </a:t>
            </a:r>
            <a:r>
              <a:rPr lang="en-US" dirty="0">
                <a:solidFill>
                  <a:srgbClr val="C00000"/>
                </a:solidFill>
              </a:rPr>
              <a:t>LIMIT</a:t>
            </a:r>
            <a:endParaRPr lang="ru-RU" dirty="0">
              <a:solidFill>
                <a:srgbClr val="C00000"/>
              </a:solidFill>
            </a:endParaRPr>
          </a:p>
        </p:txBody>
      </p:sp>
      <p:cxnSp>
        <p:nvCxnSpPr>
          <p:cNvPr id="16" name="Прямая соединительная линия 15">
            <a:extLst>
              <a:ext uri="{FF2B5EF4-FFF2-40B4-BE49-F238E27FC236}">
                <a16:creationId xmlns:a16="http://schemas.microsoft.com/office/drawing/2014/main" xmlns="" id="{364E3EF5-30C6-43D5-AE76-EC4BE46A6D83}"/>
              </a:ext>
            </a:extLst>
          </p:cNvPr>
          <p:cNvCxnSpPr>
            <a:cxnSpLocks/>
          </p:cNvCxnSpPr>
          <p:nvPr/>
        </p:nvCxnSpPr>
        <p:spPr>
          <a:xfrm>
            <a:off x="6196151" y="1071151"/>
            <a:ext cx="5817660" cy="0"/>
          </a:xfrm>
          <a:prstGeom prst="line">
            <a:avLst/>
          </a:prstGeom>
          <a:ln w="571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55969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xmlns="" id="{59CC1ECE-4D51-44C8-B4A8-8AD1977B0C11}"/>
              </a:ext>
            </a:extLst>
          </p:cNvPr>
          <p:cNvSpPr>
            <a:spLocks noGrp="1"/>
          </p:cNvSpPr>
          <p:nvPr>
            <p:ph type="title" idx="4294967295"/>
          </p:nvPr>
        </p:nvSpPr>
        <p:spPr>
          <a:xfrm>
            <a:off x="178191" y="207476"/>
            <a:ext cx="5917810" cy="863675"/>
          </a:xfrm>
        </p:spPr>
        <p:txBody>
          <a:bodyPr>
            <a:normAutofit fontScale="90000"/>
          </a:bodyPr>
          <a:lstStyle/>
          <a:p>
            <a:pPr marL="457200" indent="-457200" algn="r">
              <a:buFont typeface="Arial" panose="020B0604020202020204" pitchFamily="34" charset="0"/>
              <a:buChar char="•"/>
            </a:pPr>
            <a:r>
              <a:rPr lang="ru-RU" dirty="0"/>
              <a:t>Соответствие условию </a:t>
            </a:r>
            <a:r>
              <a:rPr lang="en-US" dirty="0">
                <a:solidFill>
                  <a:srgbClr val="C00000"/>
                </a:solidFill>
              </a:rPr>
              <a:t>WHERE</a:t>
            </a:r>
            <a:endParaRPr lang="ru-RU" dirty="0">
              <a:solidFill>
                <a:srgbClr val="C00000"/>
              </a:solidFill>
            </a:endParaRPr>
          </a:p>
        </p:txBody>
      </p:sp>
      <p:cxnSp>
        <p:nvCxnSpPr>
          <p:cNvPr id="10" name="Прямая соединительная линия 9">
            <a:extLst>
              <a:ext uri="{FF2B5EF4-FFF2-40B4-BE49-F238E27FC236}">
                <a16:creationId xmlns:a16="http://schemas.microsoft.com/office/drawing/2014/main" xmlns="" id="{3B2612CB-6EC2-41D2-A9CA-B7B7044C8094}"/>
              </a:ext>
            </a:extLst>
          </p:cNvPr>
          <p:cNvCxnSpPr>
            <a:cxnSpLocks/>
          </p:cNvCxnSpPr>
          <p:nvPr/>
        </p:nvCxnSpPr>
        <p:spPr>
          <a:xfrm>
            <a:off x="178191" y="1071151"/>
            <a:ext cx="5817660" cy="0"/>
          </a:xfrm>
          <a:prstGeom prst="line">
            <a:avLst/>
          </a:prstGeom>
          <a:ln w="57150"/>
        </p:spPr>
        <p:style>
          <a:lnRef idx="3">
            <a:schemeClr val="accent1"/>
          </a:lnRef>
          <a:fillRef idx="0">
            <a:schemeClr val="accent1"/>
          </a:fillRef>
          <a:effectRef idx="2">
            <a:schemeClr val="accent1"/>
          </a:effectRef>
          <a:fontRef idx="minor">
            <a:schemeClr val="tx1"/>
          </a:fontRef>
        </p:style>
      </p:cxnSp>
      <p:sp>
        <p:nvSpPr>
          <p:cNvPr id="2" name="Прямоугольник 1">
            <a:extLst>
              <a:ext uri="{FF2B5EF4-FFF2-40B4-BE49-F238E27FC236}">
                <a16:creationId xmlns:a16="http://schemas.microsoft.com/office/drawing/2014/main" xmlns="" id="{E0C4638E-FC18-493F-89D9-39E4F872740D}"/>
              </a:ext>
            </a:extLst>
          </p:cNvPr>
          <p:cNvSpPr/>
          <p:nvPr/>
        </p:nvSpPr>
        <p:spPr>
          <a:xfrm>
            <a:off x="178191" y="1237515"/>
            <a:ext cx="6017960" cy="3416320"/>
          </a:xfrm>
          <a:prstGeom prst="rect">
            <a:avLst/>
          </a:prstGeom>
          <a:solidFill>
            <a:srgbClr val="FFFFFF"/>
          </a:solidFill>
        </p:spPr>
        <p:txBody>
          <a:bodyPr wrap="square">
            <a:spAutoFit/>
          </a:bodyPr>
          <a:lstStyle/>
          <a:p>
            <a:r>
              <a:rPr lang="en-US" dirty="0"/>
              <a:t>$link  =  </a:t>
            </a:r>
            <a:r>
              <a:rPr lang="en-US" dirty="0" err="1"/>
              <a:t>mysqli_connect</a:t>
            </a:r>
            <a:r>
              <a:rPr lang="en-US" dirty="0"/>
              <a:t>( 'localhost',  "root",  '' );</a:t>
            </a:r>
          </a:p>
          <a:p>
            <a:r>
              <a:rPr lang="en-US" dirty="0"/>
              <a:t>if ( !$link )   die("Error");</a:t>
            </a:r>
          </a:p>
          <a:p>
            <a:r>
              <a:rPr lang="en-US" dirty="0" err="1"/>
              <a:t>mysqli_select_db</a:t>
            </a:r>
            <a:r>
              <a:rPr lang="en-US" dirty="0"/>
              <a:t>( 'tester' );</a:t>
            </a:r>
          </a:p>
          <a:p>
            <a:r>
              <a:rPr lang="en-US" dirty="0"/>
              <a:t>echo "</a:t>
            </a:r>
            <a:r>
              <a:rPr lang="ru-RU" dirty="0"/>
              <a:t>Люди младше 30:&lt;</a:t>
            </a:r>
            <a:r>
              <a:rPr lang="en-US" dirty="0" err="1"/>
              <a:t>br</a:t>
            </a:r>
            <a:r>
              <a:rPr lang="en-US" dirty="0"/>
              <a:t>&gt;";</a:t>
            </a:r>
          </a:p>
          <a:p>
            <a:r>
              <a:rPr lang="en-US" dirty="0">
                <a:solidFill>
                  <a:srgbClr val="C00000"/>
                </a:solidFill>
              </a:rPr>
              <a:t>$result  =  </a:t>
            </a:r>
            <a:r>
              <a:rPr lang="en-US" dirty="0" err="1">
                <a:solidFill>
                  <a:srgbClr val="C00000"/>
                </a:solidFill>
              </a:rPr>
              <a:t>mysqli_query</a:t>
            </a:r>
            <a:r>
              <a:rPr lang="en-US" dirty="0">
                <a:solidFill>
                  <a:srgbClr val="C00000"/>
                </a:solidFill>
              </a:rPr>
              <a:t>( $link, "SELECT * FROM users WHERE age&lt;30" );</a:t>
            </a:r>
          </a:p>
          <a:p>
            <a:r>
              <a:rPr lang="en-US" dirty="0"/>
              <a:t>while (  $line  =  </a:t>
            </a:r>
            <a:r>
              <a:rPr lang="en-US" dirty="0" err="1"/>
              <a:t>mysqli_fetch_row</a:t>
            </a:r>
            <a:r>
              <a:rPr lang="en-US" dirty="0"/>
              <a:t>($result)  )</a:t>
            </a:r>
          </a:p>
          <a:p>
            <a:r>
              <a:rPr lang="en-US" dirty="0"/>
              <a:t>{</a:t>
            </a:r>
          </a:p>
          <a:p>
            <a:r>
              <a:rPr lang="en-US" dirty="0"/>
              <a:t>    echo "</a:t>
            </a:r>
            <a:r>
              <a:rPr lang="ru-RU" dirty="0"/>
              <a:t>Имя: $</a:t>
            </a:r>
            <a:r>
              <a:rPr lang="en-US" dirty="0"/>
              <a:t>line[0]. </a:t>
            </a:r>
            <a:r>
              <a:rPr lang="ru-RU" dirty="0"/>
              <a:t>Фамилия: $</a:t>
            </a:r>
            <a:r>
              <a:rPr lang="en-US" dirty="0"/>
              <a:t>line[1]. </a:t>
            </a:r>
            <a:r>
              <a:rPr lang="ru-RU" dirty="0"/>
              <a:t>Возраст: $</a:t>
            </a:r>
            <a:r>
              <a:rPr lang="en-US" dirty="0"/>
              <a:t>line[2].&lt;</a:t>
            </a:r>
            <a:r>
              <a:rPr lang="en-US" dirty="0" err="1"/>
              <a:t>br</a:t>
            </a:r>
            <a:r>
              <a:rPr lang="en-US" dirty="0"/>
              <a:t>&gt;";</a:t>
            </a:r>
          </a:p>
          <a:p>
            <a:r>
              <a:rPr lang="en-US" dirty="0"/>
              <a:t>}</a:t>
            </a:r>
          </a:p>
          <a:p>
            <a:r>
              <a:rPr lang="en-US" dirty="0" err="1"/>
              <a:t>mysqli_close</a:t>
            </a:r>
            <a:r>
              <a:rPr lang="en-US" dirty="0"/>
              <a:t>($link);</a:t>
            </a:r>
            <a:endParaRPr lang="ru-RU" dirty="0"/>
          </a:p>
        </p:txBody>
      </p:sp>
      <p:sp>
        <p:nvSpPr>
          <p:cNvPr id="12" name="Прямоугольник 11">
            <a:extLst>
              <a:ext uri="{FF2B5EF4-FFF2-40B4-BE49-F238E27FC236}">
                <a16:creationId xmlns:a16="http://schemas.microsoft.com/office/drawing/2014/main" xmlns="" id="{12B37CEB-6A5A-46F7-91DD-E83398B8E6CB}"/>
              </a:ext>
            </a:extLst>
          </p:cNvPr>
          <p:cNvSpPr/>
          <p:nvPr/>
        </p:nvSpPr>
        <p:spPr>
          <a:xfrm>
            <a:off x="178191" y="4820198"/>
            <a:ext cx="6017960" cy="1200329"/>
          </a:xfrm>
          <a:prstGeom prst="rect">
            <a:avLst/>
          </a:prstGeom>
          <a:solidFill>
            <a:srgbClr val="F9F2F4"/>
          </a:solidFill>
        </p:spPr>
        <p:style>
          <a:lnRef idx="2">
            <a:schemeClr val="accent1"/>
          </a:lnRef>
          <a:fillRef idx="1">
            <a:schemeClr val="lt1"/>
          </a:fillRef>
          <a:effectRef idx="0">
            <a:schemeClr val="accent1"/>
          </a:effectRef>
          <a:fontRef idx="minor">
            <a:schemeClr val="dk1"/>
          </a:fontRef>
        </p:style>
        <p:txBody>
          <a:bodyPr wrap="square">
            <a:spAutoFit/>
          </a:bodyPr>
          <a:lstStyle/>
          <a:p>
            <a:r>
              <a:rPr lang="ru-RU" dirty="0">
                <a:solidFill>
                  <a:srgbClr val="C00000"/>
                </a:solidFill>
              </a:rPr>
              <a:t>SQL</a:t>
            </a:r>
            <a:r>
              <a:rPr lang="ru-RU" dirty="0"/>
              <a:t>-запрос </a:t>
            </a:r>
            <a:r>
              <a:rPr lang="ru-RU" dirty="0">
                <a:solidFill>
                  <a:srgbClr val="C00000"/>
                </a:solidFill>
              </a:rPr>
              <a:t>"SELECT DISTINCT </a:t>
            </a:r>
            <a:r>
              <a:rPr lang="ru-RU" dirty="0" err="1">
                <a:solidFill>
                  <a:srgbClr val="C00000"/>
                </a:solidFill>
              </a:rPr>
              <a:t>name</a:t>
            </a:r>
            <a:r>
              <a:rPr lang="ru-RU" dirty="0">
                <a:solidFill>
                  <a:srgbClr val="C00000"/>
                </a:solidFill>
              </a:rPr>
              <a:t> FROM </a:t>
            </a:r>
            <a:r>
              <a:rPr lang="ru-RU" dirty="0" err="1">
                <a:solidFill>
                  <a:srgbClr val="C00000"/>
                </a:solidFill>
              </a:rPr>
              <a:t>users</a:t>
            </a:r>
            <a:r>
              <a:rPr lang="ru-RU" dirty="0">
                <a:solidFill>
                  <a:srgbClr val="C00000"/>
                </a:solidFill>
              </a:rPr>
              <a:t>" </a:t>
            </a:r>
            <a:r>
              <a:rPr lang="ru-RU" dirty="0"/>
              <a:t>вернул результат со всеми уникальными именами в нашей таблице. Каждое уникальное имя в новой строке результата запроса.</a:t>
            </a:r>
          </a:p>
        </p:txBody>
      </p:sp>
      <p:sp>
        <p:nvSpPr>
          <p:cNvPr id="13" name="Прямоугольник 12">
            <a:extLst>
              <a:ext uri="{FF2B5EF4-FFF2-40B4-BE49-F238E27FC236}">
                <a16:creationId xmlns:a16="http://schemas.microsoft.com/office/drawing/2014/main" xmlns="" id="{E433DE61-4466-4B1D-82FD-D59A022ACFC1}"/>
              </a:ext>
            </a:extLst>
          </p:cNvPr>
          <p:cNvSpPr/>
          <p:nvPr/>
        </p:nvSpPr>
        <p:spPr>
          <a:xfrm>
            <a:off x="6261127" y="2881206"/>
            <a:ext cx="5508508"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echo "</a:t>
            </a:r>
            <a:r>
              <a:rPr lang="ru-RU" dirty="0"/>
              <a:t>Сортируем по возрасту:&lt;</a:t>
            </a:r>
            <a:r>
              <a:rPr lang="en-US" dirty="0" err="1"/>
              <a:t>br</a:t>
            </a:r>
            <a:r>
              <a:rPr lang="en-US" dirty="0"/>
              <a:t>&gt;";</a:t>
            </a:r>
          </a:p>
          <a:p>
            <a:r>
              <a:rPr lang="en-US" dirty="0">
                <a:solidFill>
                  <a:srgbClr val="C00000"/>
                </a:solidFill>
              </a:rPr>
              <a:t>$result = </a:t>
            </a:r>
            <a:r>
              <a:rPr lang="en-US" dirty="0" err="1">
                <a:solidFill>
                  <a:srgbClr val="C00000"/>
                </a:solidFill>
              </a:rPr>
              <a:t>mysqli_query</a:t>
            </a:r>
            <a:r>
              <a:rPr lang="en-US" dirty="0">
                <a:solidFill>
                  <a:srgbClr val="C00000"/>
                </a:solidFill>
              </a:rPr>
              <a:t>($link, "SELECT * FROM users ORDER BY age");</a:t>
            </a:r>
          </a:p>
          <a:p>
            <a:r>
              <a:rPr lang="en-US" dirty="0"/>
              <a:t>while (  $line  =  </a:t>
            </a:r>
            <a:r>
              <a:rPr lang="en-US" dirty="0" err="1"/>
              <a:t>mysqli_fetch_row</a:t>
            </a:r>
            <a:r>
              <a:rPr lang="en-US" dirty="0"/>
              <a:t>($result)  )</a:t>
            </a:r>
          </a:p>
          <a:p>
            <a:r>
              <a:rPr lang="en-US" dirty="0"/>
              <a:t>{</a:t>
            </a:r>
          </a:p>
          <a:p>
            <a:r>
              <a:rPr lang="en-US" dirty="0"/>
              <a:t>    echo "</a:t>
            </a:r>
            <a:r>
              <a:rPr lang="ru-RU" dirty="0"/>
              <a:t>Имя: $</a:t>
            </a:r>
            <a:r>
              <a:rPr lang="en-US" dirty="0"/>
              <a:t>line[0]. </a:t>
            </a:r>
            <a:r>
              <a:rPr lang="ru-RU" dirty="0"/>
              <a:t>Фамилия: $</a:t>
            </a:r>
            <a:r>
              <a:rPr lang="en-US" dirty="0"/>
              <a:t>line[1]. </a:t>
            </a:r>
            <a:r>
              <a:rPr lang="ru-RU" dirty="0"/>
              <a:t>Возраст: $</a:t>
            </a:r>
            <a:r>
              <a:rPr lang="en-US" dirty="0"/>
              <a:t>line[2].&lt;</a:t>
            </a:r>
            <a:r>
              <a:rPr lang="en-US" dirty="0" err="1"/>
              <a:t>br</a:t>
            </a:r>
            <a:r>
              <a:rPr lang="en-US" dirty="0"/>
              <a:t>&gt;";</a:t>
            </a:r>
          </a:p>
          <a:p>
            <a:r>
              <a:rPr lang="en-US" dirty="0"/>
              <a:t>}</a:t>
            </a:r>
          </a:p>
          <a:p>
            <a:r>
              <a:rPr lang="en-US" dirty="0" err="1"/>
              <a:t>mysqli_close</a:t>
            </a:r>
            <a:r>
              <a:rPr lang="en-US" dirty="0"/>
              <a:t>($link);</a:t>
            </a:r>
            <a:endParaRPr lang="ru-RU" dirty="0"/>
          </a:p>
        </p:txBody>
      </p:sp>
      <p:sp>
        <p:nvSpPr>
          <p:cNvPr id="14" name="Прямоугольник 13">
            <a:extLst>
              <a:ext uri="{FF2B5EF4-FFF2-40B4-BE49-F238E27FC236}">
                <a16:creationId xmlns:a16="http://schemas.microsoft.com/office/drawing/2014/main" xmlns="" id="{A948E211-3EF0-4FCF-9EE7-5884365F73FA}"/>
              </a:ext>
            </a:extLst>
          </p:cNvPr>
          <p:cNvSpPr/>
          <p:nvPr/>
        </p:nvSpPr>
        <p:spPr>
          <a:xfrm>
            <a:off x="6261127" y="1237515"/>
            <a:ext cx="5647843" cy="1477328"/>
          </a:xfrm>
          <a:prstGeom prst="rect">
            <a:avLst/>
          </a:prstGeom>
          <a:solidFill>
            <a:srgbClr val="F9F2F4"/>
          </a:solidFill>
        </p:spPr>
        <p:txBody>
          <a:bodyPr wrap="square">
            <a:spAutoFit/>
          </a:bodyPr>
          <a:lstStyle/>
          <a:p>
            <a:r>
              <a:rPr lang="ru-RU" dirty="0"/>
              <a:t>Можете заменить поле </a:t>
            </a:r>
            <a:r>
              <a:rPr lang="ru-RU" dirty="0" err="1">
                <a:solidFill>
                  <a:srgbClr val="C00000"/>
                </a:solidFill>
              </a:rPr>
              <a:t>age</a:t>
            </a:r>
            <a:r>
              <a:rPr lang="ru-RU" dirty="0"/>
              <a:t> в команде </a:t>
            </a:r>
            <a:r>
              <a:rPr lang="ru-RU" dirty="0">
                <a:solidFill>
                  <a:srgbClr val="C00000"/>
                </a:solidFill>
              </a:rPr>
              <a:t>ORDER BY</a:t>
            </a:r>
            <a:r>
              <a:rPr lang="ru-RU" dirty="0"/>
              <a:t> на поле </a:t>
            </a:r>
            <a:r>
              <a:rPr lang="ru-RU" dirty="0" err="1">
                <a:solidFill>
                  <a:srgbClr val="C00000"/>
                </a:solidFill>
              </a:rPr>
              <a:t>name</a:t>
            </a:r>
            <a:r>
              <a:rPr lang="ru-RU" dirty="0"/>
              <a:t> и посмотреть результат.</a:t>
            </a:r>
          </a:p>
          <a:p>
            <a:endParaRPr lang="ru-RU" dirty="0"/>
          </a:p>
          <a:p>
            <a:r>
              <a:rPr lang="ru-RU" dirty="0"/>
              <a:t>Чтобы сортировать результат запроса в обратном порядке используйте команду </a:t>
            </a:r>
            <a:r>
              <a:rPr lang="ru-RU" dirty="0">
                <a:solidFill>
                  <a:srgbClr val="C00000"/>
                </a:solidFill>
              </a:rPr>
              <a:t>ORDER BY </a:t>
            </a:r>
            <a:r>
              <a:rPr lang="ru-RU" dirty="0" err="1">
                <a:solidFill>
                  <a:srgbClr val="C00000"/>
                </a:solidFill>
              </a:rPr>
              <a:t>age</a:t>
            </a:r>
            <a:r>
              <a:rPr lang="ru-RU" dirty="0">
                <a:solidFill>
                  <a:srgbClr val="C00000"/>
                </a:solidFill>
              </a:rPr>
              <a:t> DESC</a:t>
            </a:r>
            <a:r>
              <a:rPr lang="ru-RU" dirty="0"/>
              <a:t>.</a:t>
            </a:r>
          </a:p>
        </p:txBody>
      </p:sp>
      <p:sp>
        <p:nvSpPr>
          <p:cNvPr id="15" name="Заголовок 7">
            <a:extLst>
              <a:ext uri="{FF2B5EF4-FFF2-40B4-BE49-F238E27FC236}">
                <a16:creationId xmlns:a16="http://schemas.microsoft.com/office/drawing/2014/main" xmlns="" id="{49856B21-65C6-4277-B3EC-F006EB7D6C7D}"/>
              </a:ext>
            </a:extLst>
          </p:cNvPr>
          <p:cNvSpPr txBox="1">
            <a:spLocks/>
          </p:cNvSpPr>
          <p:nvPr/>
        </p:nvSpPr>
        <p:spPr>
          <a:xfrm>
            <a:off x="6196151" y="207476"/>
            <a:ext cx="5917810" cy="863675"/>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ru-RU" dirty="0"/>
              <a:t>Сортировка результата —</a:t>
            </a:r>
          </a:p>
          <a:p>
            <a:pPr algn="r"/>
            <a:r>
              <a:rPr lang="ru-RU" dirty="0"/>
              <a:t> </a:t>
            </a:r>
            <a:r>
              <a:rPr lang="en-US" dirty="0">
                <a:solidFill>
                  <a:srgbClr val="C00000"/>
                </a:solidFill>
              </a:rPr>
              <a:t>ORDER BY</a:t>
            </a:r>
            <a:endParaRPr lang="ru-RU" dirty="0">
              <a:solidFill>
                <a:srgbClr val="C00000"/>
              </a:solidFill>
            </a:endParaRPr>
          </a:p>
        </p:txBody>
      </p:sp>
      <p:cxnSp>
        <p:nvCxnSpPr>
          <p:cNvPr id="16" name="Прямая соединительная линия 15">
            <a:extLst>
              <a:ext uri="{FF2B5EF4-FFF2-40B4-BE49-F238E27FC236}">
                <a16:creationId xmlns:a16="http://schemas.microsoft.com/office/drawing/2014/main" xmlns="" id="{364E3EF5-30C6-43D5-AE76-EC4BE46A6D83}"/>
              </a:ext>
            </a:extLst>
          </p:cNvPr>
          <p:cNvCxnSpPr>
            <a:cxnSpLocks/>
          </p:cNvCxnSpPr>
          <p:nvPr/>
        </p:nvCxnSpPr>
        <p:spPr>
          <a:xfrm>
            <a:off x="6196151" y="1071151"/>
            <a:ext cx="5817660" cy="0"/>
          </a:xfrm>
          <a:prstGeom prst="line">
            <a:avLst/>
          </a:prstGeom>
          <a:ln w="571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46299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xmlns="" id="{59CC1ECE-4D51-44C8-B4A8-8AD1977B0C11}"/>
              </a:ext>
            </a:extLst>
          </p:cNvPr>
          <p:cNvSpPr>
            <a:spLocks noGrp="1"/>
          </p:cNvSpPr>
          <p:nvPr>
            <p:ph type="title" idx="4294967295"/>
          </p:nvPr>
        </p:nvSpPr>
        <p:spPr>
          <a:xfrm>
            <a:off x="178191" y="207476"/>
            <a:ext cx="5917810" cy="863675"/>
          </a:xfrm>
        </p:spPr>
        <p:txBody>
          <a:bodyPr>
            <a:normAutofit/>
          </a:bodyPr>
          <a:lstStyle/>
          <a:p>
            <a:r>
              <a:rPr lang="ru-RU" dirty="0"/>
              <a:t>Удаление данных — </a:t>
            </a:r>
            <a:r>
              <a:rPr lang="en-US" dirty="0">
                <a:solidFill>
                  <a:srgbClr val="C00000"/>
                </a:solidFill>
              </a:rPr>
              <a:t>DELETE</a:t>
            </a:r>
            <a:endParaRPr lang="ru-RU" dirty="0">
              <a:solidFill>
                <a:srgbClr val="C00000"/>
              </a:solidFill>
            </a:endParaRPr>
          </a:p>
        </p:txBody>
      </p:sp>
      <p:cxnSp>
        <p:nvCxnSpPr>
          <p:cNvPr id="10" name="Прямая соединительная линия 9">
            <a:extLst>
              <a:ext uri="{FF2B5EF4-FFF2-40B4-BE49-F238E27FC236}">
                <a16:creationId xmlns:a16="http://schemas.microsoft.com/office/drawing/2014/main" xmlns="" id="{3B2612CB-6EC2-41D2-A9CA-B7B7044C8094}"/>
              </a:ext>
            </a:extLst>
          </p:cNvPr>
          <p:cNvCxnSpPr>
            <a:cxnSpLocks/>
          </p:cNvCxnSpPr>
          <p:nvPr/>
        </p:nvCxnSpPr>
        <p:spPr>
          <a:xfrm>
            <a:off x="178191" y="1071151"/>
            <a:ext cx="5817660" cy="0"/>
          </a:xfrm>
          <a:prstGeom prst="line">
            <a:avLst/>
          </a:prstGeom>
          <a:ln w="57150"/>
        </p:spPr>
        <p:style>
          <a:lnRef idx="3">
            <a:schemeClr val="accent1"/>
          </a:lnRef>
          <a:fillRef idx="0">
            <a:schemeClr val="accent1"/>
          </a:fillRef>
          <a:effectRef idx="2">
            <a:schemeClr val="accent1"/>
          </a:effectRef>
          <a:fontRef idx="minor">
            <a:schemeClr val="tx1"/>
          </a:fontRef>
        </p:style>
      </p:cxnSp>
      <p:sp>
        <p:nvSpPr>
          <p:cNvPr id="2" name="Прямоугольник 1">
            <a:extLst>
              <a:ext uri="{FF2B5EF4-FFF2-40B4-BE49-F238E27FC236}">
                <a16:creationId xmlns:a16="http://schemas.microsoft.com/office/drawing/2014/main" xmlns="" id="{E0C4638E-FC18-493F-89D9-39E4F872740D}"/>
              </a:ext>
            </a:extLst>
          </p:cNvPr>
          <p:cNvSpPr/>
          <p:nvPr/>
        </p:nvSpPr>
        <p:spPr>
          <a:xfrm>
            <a:off x="178191" y="1237515"/>
            <a:ext cx="6017960" cy="369332"/>
          </a:xfrm>
          <a:prstGeom prst="rect">
            <a:avLst/>
          </a:prstGeom>
          <a:solidFill>
            <a:srgbClr val="FFFFFF"/>
          </a:solidFill>
        </p:spPr>
        <p:txBody>
          <a:bodyPr wrap="square">
            <a:spAutoFit/>
          </a:bodyPr>
          <a:lstStyle/>
          <a:p>
            <a:r>
              <a:rPr lang="en-US" dirty="0"/>
              <a:t>$query ="</a:t>
            </a:r>
            <a:r>
              <a:rPr lang="en-US" dirty="0">
                <a:solidFill>
                  <a:srgbClr val="C00000"/>
                </a:solidFill>
              </a:rPr>
              <a:t>DELETE</a:t>
            </a:r>
            <a:r>
              <a:rPr lang="en-US" dirty="0"/>
              <a:t> FROM </a:t>
            </a:r>
            <a:r>
              <a:rPr lang="en-US" dirty="0" err="1"/>
              <a:t>tovars</a:t>
            </a:r>
            <a:r>
              <a:rPr lang="en-US" dirty="0"/>
              <a:t> WHERE id = '5'";</a:t>
            </a:r>
            <a:endParaRPr lang="ru-RU" dirty="0"/>
          </a:p>
        </p:txBody>
      </p:sp>
      <p:sp>
        <p:nvSpPr>
          <p:cNvPr id="13" name="Прямоугольник 12">
            <a:extLst>
              <a:ext uri="{FF2B5EF4-FFF2-40B4-BE49-F238E27FC236}">
                <a16:creationId xmlns:a16="http://schemas.microsoft.com/office/drawing/2014/main" xmlns="" id="{E433DE61-4466-4B1D-82FD-D59A022ACFC1}"/>
              </a:ext>
            </a:extLst>
          </p:cNvPr>
          <p:cNvSpPr/>
          <p:nvPr/>
        </p:nvSpPr>
        <p:spPr>
          <a:xfrm>
            <a:off x="6261127" y="1571959"/>
            <a:ext cx="5508508"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$query ="</a:t>
            </a:r>
            <a:r>
              <a:rPr lang="en-US" dirty="0">
                <a:solidFill>
                  <a:srgbClr val="C00000"/>
                </a:solidFill>
              </a:rPr>
              <a:t>UPDATE</a:t>
            </a:r>
            <a:r>
              <a:rPr lang="en-US" dirty="0"/>
              <a:t> </a:t>
            </a:r>
            <a:r>
              <a:rPr lang="en-US" dirty="0" err="1"/>
              <a:t>tovars</a:t>
            </a:r>
            <a:r>
              <a:rPr lang="en-US" dirty="0"/>
              <a:t> SET name='Samsung ACE II', company='Samsung' WHERE id='1'";</a:t>
            </a:r>
            <a:endParaRPr lang="ru-RU" dirty="0"/>
          </a:p>
        </p:txBody>
      </p:sp>
      <p:sp>
        <p:nvSpPr>
          <p:cNvPr id="14" name="Прямоугольник 13">
            <a:extLst>
              <a:ext uri="{FF2B5EF4-FFF2-40B4-BE49-F238E27FC236}">
                <a16:creationId xmlns:a16="http://schemas.microsoft.com/office/drawing/2014/main" xmlns="" id="{A948E211-3EF0-4FCF-9EE7-5884365F73FA}"/>
              </a:ext>
            </a:extLst>
          </p:cNvPr>
          <p:cNvSpPr/>
          <p:nvPr/>
        </p:nvSpPr>
        <p:spPr>
          <a:xfrm>
            <a:off x="6274191" y="2562529"/>
            <a:ext cx="5647843" cy="1754326"/>
          </a:xfrm>
          <a:prstGeom prst="rect">
            <a:avLst/>
          </a:prstGeom>
          <a:solidFill>
            <a:srgbClr val="F9F2F4"/>
          </a:solidFill>
        </p:spPr>
        <p:txBody>
          <a:bodyPr wrap="square">
            <a:spAutoFit/>
          </a:bodyPr>
          <a:lstStyle/>
          <a:p>
            <a:r>
              <a:rPr lang="ru-RU" dirty="0"/>
              <a:t>После слова </a:t>
            </a:r>
            <a:r>
              <a:rPr lang="ru-RU" dirty="0">
                <a:solidFill>
                  <a:srgbClr val="C00000"/>
                </a:solidFill>
              </a:rPr>
              <a:t>SET</a:t>
            </a:r>
            <a:r>
              <a:rPr lang="ru-RU" dirty="0"/>
              <a:t> идет перечисление названий столбцов и новых значений для них. В конце строки запроса указывается селектор с помощью выражения </a:t>
            </a:r>
            <a:r>
              <a:rPr lang="ru-RU" dirty="0">
                <a:solidFill>
                  <a:srgbClr val="C00000"/>
                </a:solidFill>
              </a:rPr>
              <a:t>WHERE</a:t>
            </a:r>
            <a:r>
              <a:rPr lang="ru-RU" dirty="0"/>
              <a:t>. В данном случае все у всех строк, у которых </a:t>
            </a:r>
            <a:r>
              <a:rPr lang="ru-RU" dirty="0" err="1">
                <a:solidFill>
                  <a:srgbClr val="C00000"/>
                </a:solidFill>
              </a:rPr>
              <a:t>id</a:t>
            </a:r>
            <a:r>
              <a:rPr lang="ru-RU" dirty="0">
                <a:solidFill>
                  <a:srgbClr val="C00000"/>
                </a:solidFill>
              </a:rPr>
              <a:t>='1',</a:t>
            </a:r>
            <a:r>
              <a:rPr lang="ru-RU" dirty="0"/>
              <a:t> устанавливаются значения </a:t>
            </a:r>
            <a:r>
              <a:rPr lang="ru-RU" dirty="0" err="1">
                <a:solidFill>
                  <a:srgbClr val="C00000"/>
                </a:solidFill>
              </a:rPr>
              <a:t>name</a:t>
            </a:r>
            <a:r>
              <a:rPr lang="ru-RU" dirty="0">
                <a:solidFill>
                  <a:srgbClr val="C00000"/>
                </a:solidFill>
              </a:rPr>
              <a:t>='</a:t>
            </a:r>
            <a:r>
              <a:rPr lang="ru-RU" dirty="0" err="1">
                <a:solidFill>
                  <a:srgbClr val="C00000"/>
                </a:solidFill>
              </a:rPr>
              <a:t>Samsung</a:t>
            </a:r>
            <a:r>
              <a:rPr lang="ru-RU" dirty="0">
                <a:solidFill>
                  <a:srgbClr val="C00000"/>
                </a:solidFill>
              </a:rPr>
              <a:t> ACE II' и </a:t>
            </a:r>
            <a:r>
              <a:rPr lang="ru-RU" dirty="0" err="1">
                <a:solidFill>
                  <a:srgbClr val="C00000"/>
                </a:solidFill>
              </a:rPr>
              <a:t>company</a:t>
            </a:r>
            <a:r>
              <a:rPr lang="ru-RU" dirty="0">
                <a:solidFill>
                  <a:srgbClr val="C00000"/>
                </a:solidFill>
              </a:rPr>
              <a:t>='</a:t>
            </a:r>
            <a:r>
              <a:rPr lang="ru-RU" dirty="0" err="1">
                <a:solidFill>
                  <a:srgbClr val="C00000"/>
                </a:solidFill>
              </a:rPr>
              <a:t>Samsung</a:t>
            </a:r>
            <a:r>
              <a:rPr lang="ru-RU" dirty="0">
                <a:solidFill>
                  <a:srgbClr val="C00000"/>
                </a:solidFill>
              </a:rPr>
              <a:t>'</a:t>
            </a:r>
          </a:p>
        </p:txBody>
      </p:sp>
      <p:sp>
        <p:nvSpPr>
          <p:cNvPr id="15" name="Заголовок 7">
            <a:extLst>
              <a:ext uri="{FF2B5EF4-FFF2-40B4-BE49-F238E27FC236}">
                <a16:creationId xmlns:a16="http://schemas.microsoft.com/office/drawing/2014/main" xmlns="" id="{49856B21-65C6-4277-B3EC-F006EB7D6C7D}"/>
              </a:ext>
            </a:extLst>
          </p:cNvPr>
          <p:cNvSpPr txBox="1">
            <a:spLocks/>
          </p:cNvSpPr>
          <p:nvPr/>
        </p:nvSpPr>
        <p:spPr>
          <a:xfrm>
            <a:off x="6196151" y="207476"/>
            <a:ext cx="5917810" cy="863675"/>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ru-RU" dirty="0"/>
              <a:t>Редактирование данных —</a:t>
            </a:r>
          </a:p>
          <a:p>
            <a:pPr algn="r"/>
            <a:r>
              <a:rPr lang="ru-RU" dirty="0"/>
              <a:t> </a:t>
            </a:r>
            <a:r>
              <a:rPr lang="en-US" dirty="0">
                <a:solidFill>
                  <a:srgbClr val="C00000"/>
                </a:solidFill>
              </a:rPr>
              <a:t>UPDATE</a:t>
            </a:r>
            <a:endParaRPr lang="ru-RU" dirty="0">
              <a:solidFill>
                <a:srgbClr val="C00000"/>
              </a:solidFill>
            </a:endParaRPr>
          </a:p>
        </p:txBody>
      </p:sp>
      <p:cxnSp>
        <p:nvCxnSpPr>
          <p:cNvPr id="16" name="Прямая соединительная линия 15">
            <a:extLst>
              <a:ext uri="{FF2B5EF4-FFF2-40B4-BE49-F238E27FC236}">
                <a16:creationId xmlns:a16="http://schemas.microsoft.com/office/drawing/2014/main" xmlns="" id="{364E3EF5-30C6-43D5-AE76-EC4BE46A6D83}"/>
              </a:ext>
            </a:extLst>
          </p:cNvPr>
          <p:cNvCxnSpPr>
            <a:cxnSpLocks/>
          </p:cNvCxnSpPr>
          <p:nvPr/>
        </p:nvCxnSpPr>
        <p:spPr>
          <a:xfrm>
            <a:off x="6196151" y="1071151"/>
            <a:ext cx="5817660" cy="0"/>
          </a:xfrm>
          <a:prstGeom prst="line">
            <a:avLst/>
          </a:prstGeom>
          <a:ln w="57150"/>
        </p:spPr>
        <p:style>
          <a:lnRef idx="3">
            <a:schemeClr val="accent1"/>
          </a:lnRef>
          <a:fillRef idx="0">
            <a:schemeClr val="accent1"/>
          </a:fillRef>
          <a:effectRef idx="2">
            <a:schemeClr val="accent1"/>
          </a:effectRef>
          <a:fontRef idx="minor">
            <a:schemeClr val="tx1"/>
          </a:fontRef>
        </p:style>
      </p:cxnSp>
      <p:sp>
        <p:nvSpPr>
          <p:cNvPr id="11" name="Прямоугольник 10">
            <a:extLst>
              <a:ext uri="{FF2B5EF4-FFF2-40B4-BE49-F238E27FC236}">
                <a16:creationId xmlns:a16="http://schemas.microsoft.com/office/drawing/2014/main" xmlns="" id="{E433DE61-4466-4B1D-82FD-D59A022ACFC1}"/>
              </a:ext>
            </a:extLst>
          </p:cNvPr>
          <p:cNvSpPr/>
          <p:nvPr/>
        </p:nvSpPr>
        <p:spPr>
          <a:xfrm>
            <a:off x="6343858" y="4614928"/>
            <a:ext cx="5508508"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$query ="</a:t>
            </a:r>
            <a:r>
              <a:rPr lang="en-US" dirty="0">
                <a:solidFill>
                  <a:srgbClr val="C00000"/>
                </a:solidFill>
              </a:rPr>
              <a:t>UPDATE</a:t>
            </a:r>
            <a:r>
              <a:rPr lang="en-US" dirty="0"/>
              <a:t> </a:t>
            </a:r>
            <a:r>
              <a:rPr lang="en-US" dirty="0" err="1"/>
              <a:t>tovars</a:t>
            </a:r>
            <a:r>
              <a:rPr lang="en-US" dirty="0"/>
              <a:t> SET name='Samsung ACE II', company='Samsung' WHERE id='1'";</a:t>
            </a:r>
            <a:endParaRPr lang="ru-RU" dirty="0"/>
          </a:p>
        </p:txBody>
      </p:sp>
      <p:sp>
        <p:nvSpPr>
          <p:cNvPr id="17" name="Прямоугольник 16">
            <a:extLst>
              <a:ext uri="{FF2B5EF4-FFF2-40B4-BE49-F238E27FC236}">
                <a16:creationId xmlns:a16="http://schemas.microsoft.com/office/drawing/2014/main" xmlns="" id="{E433DE61-4466-4B1D-82FD-D59A022ACFC1}"/>
              </a:ext>
            </a:extLst>
          </p:cNvPr>
          <p:cNvSpPr/>
          <p:nvPr/>
        </p:nvSpPr>
        <p:spPr>
          <a:xfrm>
            <a:off x="178191" y="2288764"/>
            <a:ext cx="601796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 $link = </a:t>
            </a:r>
            <a:r>
              <a:rPr lang="en-US" dirty="0" err="1"/>
              <a:t>mysqli_connect</a:t>
            </a:r>
            <a:r>
              <a:rPr lang="en-US" dirty="0"/>
              <a:t>($host, $user, $password, $database) </a:t>
            </a:r>
          </a:p>
          <a:p>
            <a:r>
              <a:rPr lang="en-US" dirty="0"/>
              <a:t>            or die("</a:t>
            </a:r>
            <a:r>
              <a:rPr lang="ru-RU" dirty="0"/>
              <a:t>Ошибка " . </a:t>
            </a:r>
            <a:r>
              <a:rPr lang="en-US" dirty="0" err="1"/>
              <a:t>mysqli_error</a:t>
            </a:r>
            <a:r>
              <a:rPr lang="en-US" dirty="0"/>
              <a:t>($link)); </a:t>
            </a:r>
          </a:p>
          <a:p>
            <a:r>
              <a:rPr lang="en-US" dirty="0"/>
              <a:t>    $id = </a:t>
            </a:r>
            <a:r>
              <a:rPr lang="en-US" dirty="0" err="1"/>
              <a:t>mysqli_real_escape_string</a:t>
            </a:r>
            <a:r>
              <a:rPr lang="en-US" dirty="0"/>
              <a:t>($link, $_GET['id']);</a:t>
            </a:r>
          </a:p>
          <a:p>
            <a:r>
              <a:rPr lang="en-US" dirty="0"/>
              <a:t>     </a:t>
            </a:r>
          </a:p>
          <a:p>
            <a:r>
              <a:rPr lang="en-US" dirty="0"/>
              <a:t>    $query ="</a:t>
            </a:r>
            <a:r>
              <a:rPr lang="en-US" dirty="0">
                <a:solidFill>
                  <a:srgbClr val="C00000"/>
                </a:solidFill>
              </a:rPr>
              <a:t>DELETE</a:t>
            </a:r>
            <a:r>
              <a:rPr lang="en-US" dirty="0"/>
              <a:t> FROM </a:t>
            </a:r>
            <a:r>
              <a:rPr lang="en-US" dirty="0" err="1"/>
              <a:t>tovars</a:t>
            </a:r>
            <a:r>
              <a:rPr lang="en-US" dirty="0"/>
              <a:t> WHERE id = '$id'";</a:t>
            </a:r>
          </a:p>
          <a:p>
            <a:r>
              <a:rPr lang="en-US" dirty="0"/>
              <a:t> </a:t>
            </a:r>
          </a:p>
          <a:p>
            <a:r>
              <a:rPr lang="en-US" dirty="0"/>
              <a:t>    $result = </a:t>
            </a:r>
            <a:r>
              <a:rPr lang="en-US" dirty="0" err="1"/>
              <a:t>mysqli_query</a:t>
            </a:r>
            <a:r>
              <a:rPr lang="en-US" dirty="0"/>
              <a:t>($link, $query) or die("</a:t>
            </a:r>
            <a:r>
              <a:rPr lang="ru-RU" dirty="0"/>
              <a:t>Ошибка " . </a:t>
            </a:r>
            <a:r>
              <a:rPr lang="en-US" dirty="0" err="1"/>
              <a:t>mysqli_error</a:t>
            </a:r>
            <a:r>
              <a:rPr lang="en-US" dirty="0"/>
              <a:t>($link)); </a:t>
            </a:r>
          </a:p>
          <a:p>
            <a:r>
              <a:rPr lang="en-US" dirty="0"/>
              <a:t>    </a:t>
            </a:r>
            <a:r>
              <a:rPr lang="en-US" dirty="0" err="1"/>
              <a:t>mysqli_close</a:t>
            </a:r>
            <a:r>
              <a:rPr lang="en-US" dirty="0"/>
              <a:t>($link);</a:t>
            </a:r>
            <a:endParaRPr lang="ru-RU" dirty="0"/>
          </a:p>
        </p:txBody>
      </p:sp>
      <p:sp>
        <p:nvSpPr>
          <p:cNvPr id="18" name="Прямоугольник 17">
            <a:extLst>
              <a:ext uri="{FF2B5EF4-FFF2-40B4-BE49-F238E27FC236}">
                <a16:creationId xmlns:a16="http://schemas.microsoft.com/office/drawing/2014/main" xmlns="" id="{E0C4638E-FC18-493F-89D9-39E4F872740D}"/>
              </a:ext>
            </a:extLst>
          </p:cNvPr>
          <p:cNvSpPr/>
          <p:nvPr/>
        </p:nvSpPr>
        <p:spPr>
          <a:xfrm>
            <a:off x="178191" y="1747312"/>
            <a:ext cx="6017960" cy="369332"/>
          </a:xfrm>
          <a:prstGeom prst="rect">
            <a:avLst/>
          </a:prstGeom>
          <a:solidFill>
            <a:srgbClr val="F9F2F4"/>
          </a:solidFill>
        </p:spPr>
        <p:txBody>
          <a:bodyPr wrap="square">
            <a:spAutoFit/>
          </a:bodyPr>
          <a:lstStyle/>
          <a:p>
            <a:r>
              <a:rPr lang="ru-RU" dirty="0"/>
              <a:t>В данном случае удаляется строка, у которой </a:t>
            </a:r>
            <a:r>
              <a:rPr lang="ru-RU" dirty="0" err="1"/>
              <a:t>id</a:t>
            </a:r>
            <a:r>
              <a:rPr lang="ru-RU" dirty="0"/>
              <a:t>=5.</a:t>
            </a:r>
          </a:p>
        </p:txBody>
      </p:sp>
    </p:spTree>
    <p:extLst>
      <p:ext uri="{BB962C8B-B14F-4D97-AF65-F5344CB8AC3E}">
        <p14:creationId xmlns:p14="http://schemas.microsoft.com/office/powerpoint/2010/main" val="27791731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Задание 1.</a:t>
            </a:r>
          </a:p>
        </p:txBody>
      </p:sp>
      <p:sp>
        <p:nvSpPr>
          <p:cNvPr id="3" name="Объект 2"/>
          <p:cNvSpPr>
            <a:spLocks noGrp="1"/>
          </p:cNvSpPr>
          <p:nvPr>
            <p:ph idx="1"/>
          </p:nvPr>
        </p:nvSpPr>
        <p:spPr>
          <a:xfrm>
            <a:off x="605118" y="1936376"/>
            <a:ext cx="11093823" cy="4572000"/>
          </a:xfrm>
          <a:solidFill>
            <a:srgbClr val="FFFFFF"/>
          </a:solidFill>
        </p:spPr>
        <p:txBody>
          <a:bodyPr>
            <a:noAutofit/>
          </a:bodyPr>
          <a:lstStyle/>
          <a:p>
            <a:r>
              <a:rPr lang="ru-RU" sz="2400" dirty="0"/>
              <a:t>Создать на сайте Регистрацию.</a:t>
            </a:r>
          </a:p>
          <a:p>
            <a:pPr lvl="1"/>
            <a:r>
              <a:rPr lang="ru-RU" sz="2000" dirty="0"/>
              <a:t>В </a:t>
            </a:r>
            <a:r>
              <a:rPr lang="en-US" sz="2000" dirty="0"/>
              <a:t>Header </a:t>
            </a:r>
            <a:r>
              <a:rPr lang="ru-RU" sz="2000" dirty="0"/>
              <a:t>должна находится ссылка «Регистрация» (если пользователь уже зарегистрирован то сохраняется </a:t>
            </a:r>
            <a:r>
              <a:rPr lang="en-US" sz="2000" dirty="0"/>
              <a:t>Cookie</a:t>
            </a:r>
            <a:r>
              <a:rPr lang="ru-RU" sz="2000" dirty="0"/>
              <a:t> файл с именем, а вместо ссылки «Регистрация» выводится «Войти»)</a:t>
            </a:r>
          </a:p>
          <a:p>
            <a:pPr lvl="1"/>
            <a:r>
              <a:rPr lang="ru-RU" sz="2000" dirty="0"/>
              <a:t>При нажатии на ссылку происходит переход на страницу регистрации, где через форму запрашивается информация: Имя, </a:t>
            </a:r>
            <a:r>
              <a:rPr lang="en-US" sz="2000" dirty="0"/>
              <a:t>E-mail</a:t>
            </a:r>
            <a:r>
              <a:rPr lang="ru-RU" sz="2000" dirty="0"/>
              <a:t>, Пароль. Или форма для входа с полями: Имя, Пароль.</a:t>
            </a:r>
          </a:p>
          <a:p>
            <a:pPr lvl="1"/>
            <a:r>
              <a:rPr lang="ru-RU" sz="2000" dirty="0"/>
              <a:t>При нажатии кнопки «Отправить» информация записывается в БД или проверяется на наличии и правильность. После чего происходит переход на Главную страницу и ссылка «Регистрация» / «Войти» заменяется на «Выйти» и появляется надпись «Здравствуй, «Имя»!»</a:t>
            </a:r>
          </a:p>
          <a:p>
            <a:r>
              <a:rPr lang="ru-RU" sz="2200" dirty="0"/>
              <a:t>На каждом этапе должна проходить проверка на Ошибку с выводом ее на отдельной странице.</a:t>
            </a:r>
          </a:p>
        </p:txBody>
      </p:sp>
    </p:spTree>
    <p:extLst>
      <p:ext uri="{BB962C8B-B14F-4D97-AF65-F5344CB8AC3E}">
        <p14:creationId xmlns:p14="http://schemas.microsoft.com/office/powerpoint/2010/main" val="19942271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E3C6033E-B3BE-40B8-85A0-66AA2D8896E6}"/>
              </a:ext>
            </a:extLst>
          </p:cNvPr>
          <p:cNvSpPr>
            <a:spLocks noGrp="1"/>
          </p:cNvSpPr>
          <p:nvPr>
            <p:ph type="title"/>
          </p:nvPr>
        </p:nvSpPr>
        <p:spPr/>
        <p:txBody>
          <a:bodyPr/>
          <a:lstStyle/>
          <a:p>
            <a:r>
              <a:rPr lang="ru-RU" dirty="0"/>
              <a:t>Задание 2</a:t>
            </a:r>
            <a:r>
              <a:rPr lang="ru-RU" dirty="0" smtClean="0"/>
              <a:t>. </a:t>
            </a:r>
            <a:r>
              <a:rPr lang="ru-RU" b="1" dirty="0"/>
              <a:t>: ФАЙЛОВЫЙ МЕНЕДЖЕР</a:t>
            </a:r>
            <a:endParaRPr lang="ru-RU" dirty="0"/>
          </a:p>
        </p:txBody>
      </p:sp>
      <p:sp>
        <p:nvSpPr>
          <p:cNvPr id="3" name="Объект 2">
            <a:extLst>
              <a:ext uri="{FF2B5EF4-FFF2-40B4-BE49-F238E27FC236}">
                <a16:creationId xmlns:a16="http://schemas.microsoft.com/office/drawing/2014/main" xmlns="" id="{2BBF3C9E-12E5-463A-ADD0-BDCAAA449DAF}"/>
              </a:ext>
            </a:extLst>
          </p:cNvPr>
          <p:cNvSpPr>
            <a:spLocks noGrp="1"/>
          </p:cNvSpPr>
          <p:nvPr>
            <p:ph idx="1"/>
          </p:nvPr>
        </p:nvSpPr>
        <p:spPr>
          <a:xfrm>
            <a:off x="283780" y="2015732"/>
            <a:ext cx="11938874" cy="3450613"/>
          </a:xfrm>
        </p:spPr>
        <p:txBody>
          <a:bodyPr>
            <a:normAutofit/>
          </a:bodyPr>
          <a:lstStyle/>
          <a:p>
            <a:r>
              <a:rPr lang="ru-RU" b="1" i="1" dirty="0" err="1" smtClean="0"/>
              <a:t>php</a:t>
            </a:r>
            <a:r>
              <a:rPr lang="ru-RU" b="1" i="1" dirty="0" smtClean="0"/>
              <a:t> </a:t>
            </a:r>
            <a:r>
              <a:rPr lang="ru-RU" b="1" i="1" dirty="0"/>
              <a:t>уровень 2:</a:t>
            </a:r>
            <a:r>
              <a:rPr lang="ru-RU" dirty="0"/>
              <a:t> Создать чистый файловый менеджер на сервере с использованием PHP + JS. Менеджер должен работать без перезагрузки страницы и должен уметь: выводить файлы и каталоги на странице, указывать нынешний путь посетителя, передвигаться по дереву выше и ниже благодаря двойному нажатию на папку, или "..", если надо вернуться на каталог назад. По двойному нажатию на файлы открывать их для редактирования в правом окне. В процессе редактирования можно исправить код и нажать сохранить, тем самым заменить старый файл на новый. Если у нас открывается картинка, то должна быть возможность изменить размеры картинки или добавить </a:t>
            </a:r>
            <a:r>
              <a:rPr lang="ru-RU" dirty="0" err="1"/>
              <a:t>WaterMark</a:t>
            </a:r>
            <a:r>
              <a:rPr lang="ru-RU" dirty="0"/>
              <a:t> на картинку. Кроме этого менеджер должен уметь копировать файлы из одной папки в другую, удалять файлы, создавать копии файлов и переименовывать имеющиеся файлы..</a:t>
            </a:r>
          </a:p>
          <a:p>
            <a:endParaRPr lang="ru-RU" dirty="0"/>
          </a:p>
        </p:txBody>
      </p:sp>
    </p:spTree>
    <p:extLst>
      <p:ext uri="{BB962C8B-B14F-4D97-AF65-F5344CB8AC3E}">
        <p14:creationId xmlns:p14="http://schemas.microsoft.com/office/powerpoint/2010/main" val="18684006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Задание </a:t>
            </a:r>
            <a:r>
              <a:rPr lang="ru-RU" dirty="0" smtClean="0"/>
              <a:t>3.</a:t>
            </a:r>
            <a:endParaRPr lang="ru-RU" dirty="0"/>
          </a:p>
        </p:txBody>
      </p:sp>
      <p:sp>
        <p:nvSpPr>
          <p:cNvPr id="3" name="Объект 2"/>
          <p:cNvSpPr>
            <a:spLocks noGrp="1"/>
          </p:cNvSpPr>
          <p:nvPr>
            <p:ph idx="1"/>
          </p:nvPr>
        </p:nvSpPr>
        <p:spPr>
          <a:xfrm>
            <a:off x="641131" y="2015732"/>
            <a:ext cx="11119945" cy="4017206"/>
          </a:xfrm>
        </p:spPr>
        <p:txBody>
          <a:bodyPr>
            <a:normAutofit fontScale="92500" lnSpcReduction="10000"/>
          </a:bodyPr>
          <a:lstStyle/>
          <a:p>
            <a:pPr>
              <a:lnSpc>
                <a:spcPct val="140000"/>
              </a:lnSpc>
            </a:pPr>
            <a:r>
              <a:rPr lang="ru-RU" b="1" i="1" dirty="0" err="1"/>
              <a:t>php</a:t>
            </a:r>
            <a:r>
              <a:rPr lang="ru-RU" b="1" i="1" dirty="0"/>
              <a:t> уровень 2.5:</a:t>
            </a:r>
            <a:r>
              <a:rPr lang="ru-RU" dirty="0"/>
              <a:t> Есть строка: {Пожалуйста,|</a:t>
            </a:r>
            <a:r>
              <a:rPr lang="ru-RU" dirty="0" err="1"/>
              <a:t>Просто|Если</a:t>
            </a:r>
            <a:r>
              <a:rPr lang="ru-RU" dirty="0"/>
              <a:t> сможете,} сделайте так, чтобы это {</a:t>
            </a:r>
            <a:r>
              <a:rPr lang="ru-RU" dirty="0" err="1"/>
              <a:t>удивительное|крутое|простое|важное|бесполезное</a:t>
            </a:r>
            <a:r>
              <a:rPr lang="ru-RU" dirty="0"/>
              <a:t>} тестовое предложение {изменялось {</a:t>
            </a:r>
            <a:r>
              <a:rPr lang="ru-RU" dirty="0" err="1"/>
              <a:t>быстро|мгновенно|оперативно|правильно</a:t>
            </a:r>
            <a:r>
              <a:rPr lang="ru-RU" dirty="0"/>
              <a:t>} случайным </a:t>
            </a:r>
            <a:r>
              <a:rPr lang="ru-RU" dirty="0" err="1"/>
              <a:t>образом|менялось</a:t>
            </a:r>
            <a:r>
              <a:rPr lang="ru-RU" dirty="0"/>
              <a:t> каждый раз}. Необходимо раскрыть фигурные скобки и получить строку. | значит, что допустимо одно из указанных значений, то есть {</a:t>
            </a:r>
            <a:r>
              <a:rPr lang="ru-RU" dirty="0" err="1"/>
              <a:t>крутое|простое</a:t>
            </a:r>
            <a:r>
              <a:rPr lang="ru-RU" dirty="0"/>
              <a:t>} значит, что выведется ТОЛЬКО крутое или ТОЛЬКО простое. Вложенные фигурные скобки так же должны раскрываться, значит: {</a:t>
            </a:r>
            <a:r>
              <a:rPr lang="ru-RU" dirty="0" err="1"/>
              <a:t>простое|очень</a:t>
            </a:r>
            <a:r>
              <a:rPr lang="ru-RU" dirty="0"/>
              <a:t> {</a:t>
            </a:r>
            <a:r>
              <a:rPr lang="ru-RU" dirty="0" err="1"/>
              <a:t>сложное|удачное</a:t>
            </a:r>
            <a:r>
              <a:rPr lang="ru-RU" dirty="0"/>
              <a:t>}} в итоге получим на выходе один из трёх вариантов: "простое", "очень сложное", "очень удачное". Важно, что вложенность может быть бесконечной. Сюда же добавлю, что есть вторая интерпретация этой задачи, необходимо составить массив со всеми возможными вариантами строки, то есть не случайное раскрытие, а все допустимые варианты..</a:t>
            </a:r>
          </a:p>
          <a:p>
            <a:pPr>
              <a:lnSpc>
                <a:spcPct val="140000"/>
              </a:lnSpc>
            </a:pPr>
            <a:endParaRPr lang="ru-RU" dirty="0"/>
          </a:p>
        </p:txBody>
      </p:sp>
    </p:spTree>
    <p:extLst>
      <p:ext uri="{BB962C8B-B14F-4D97-AF65-F5344CB8AC3E}">
        <p14:creationId xmlns:p14="http://schemas.microsoft.com/office/powerpoint/2010/main" val="31756679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Задание 5. </a:t>
            </a:r>
            <a:r>
              <a:rPr lang="ru-RU" b="1" dirty="0"/>
              <a:t>ИГРА НА СЕССИЯХ (</a:t>
            </a:r>
            <a:r>
              <a:rPr lang="ru-RU" b="1"/>
              <a:t>БИТВА </a:t>
            </a:r>
            <a:r>
              <a:rPr lang="ru-RU" b="1" smtClean="0"/>
              <a:t>АЛКО…В</a:t>
            </a:r>
            <a:r>
              <a:rPr lang="ru-RU" b="1" dirty="0" smtClean="0"/>
              <a:t>)</a:t>
            </a:r>
            <a:endParaRPr lang="ru-RU" dirty="0"/>
          </a:p>
        </p:txBody>
      </p:sp>
      <p:sp>
        <p:nvSpPr>
          <p:cNvPr id="3" name="Объект 2"/>
          <p:cNvSpPr>
            <a:spLocks noGrp="1"/>
          </p:cNvSpPr>
          <p:nvPr>
            <p:ph idx="1"/>
          </p:nvPr>
        </p:nvSpPr>
        <p:spPr>
          <a:xfrm>
            <a:off x="400833" y="2015732"/>
            <a:ext cx="11661731" cy="3984235"/>
          </a:xfrm>
        </p:spPr>
        <p:txBody>
          <a:bodyPr>
            <a:normAutofit fontScale="92500" lnSpcReduction="20000"/>
          </a:bodyPr>
          <a:lstStyle/>
          <a:p>
            <a:r>
              <a:rPr lang="ru-RU" b="1" i="1" dirty="0" err="1" smtClean="0"/>
              <a:t>php</a:t>
            </a:r>
            <a:r>
              <a:rPr lang="ru-RU" b="1" i="1" dirty="0" smtClean="0"/>
              <a:t> </a:t>
            </a:r>
            <a:r>
              <a:rPr lang="ru-RU" b="1" i="1" dirty="0"/>
              <a:t>уровень 1:</a:t>
            </a:r>
            <a:r>
              <a:rPr lang="ru-RU" dirty="0"/>
              <a:t> Мини-игра, цель которой показать, что алкоголизм - это плохо. Мы создаём страничку /</a:t>
            </a:r>
            <a:r>
              <a:rPr lang="ru-RU" dirty="0" err="1"/>
              <a:t>index.php?page</a:t>
            </a:r>
            <a:r>
              <a:rPr lang="ru-RU" dirty="0"/>
              <a:t>=game1 под игру. Создаются 2 </a:t>
            </a:r>
            <a:r>
              <a:rPr lang="ru-RU" dirty="0" smtClean="0"/>
              <a:t>персонажа</a:t>
            </a:r>
            <a:r>
              <a:rPr lang="en-US" dirty="0" smtClean="0"/>
              <a:t> </a:t>
            </a:r>
            <a:r>
              <a:rPr lang="ru-RU" dirty="0" smtClean="0"/>
              <a:t>(изобразить с помощью </a:t>
            </a:r>
            <a:r>
              <a:rPr lang="en-US" dirty="0" smtClean="0"/>
              <a:t>Canvas</a:t>
            </a:r>
            <a:r>
              <a:rPr lang="ru-RU" dirty="0" smtClean="0"/>
              <a:t>), </a:t>
            </a:r>
            <a:r>
              <a:rPr lang="ru-RU" dirty="0"/>
              <a:t>у обоих по 10хп (2 сессионных переменных), создаётся форма, где пользователь вводит число от 1 до 3 и отправляет запрос на сервер. На сервере запустить </a:t>
            </a:r>
            <a:r>
              <a:rPr lang="ru-RU" dirty="0" err="1"/>
              <a:t>rand</a:t>
            </a:r>
            <a:r>
              <a:rPr lang="ru-RU" dirty="0"/>
              <a:t>(1,3), и если значение человека с значением случайным совпадает, то снимаются ХП с персонажа человека (клиента), если не совпадают - с серверного персонажа. Отнимать надо от 1 до 4хп, случайным образом). То есть вероятность 33%, что отнимутся у клиента, и 66%, что у серверного персонажа. В момент, когда у одного из персонажей ХП становится 0 и ниже, - перебрасывать на другую страницу при помощи переадресации (</a:t>
            </a:r>
            <a:r>
              <a:rPr lang="ru-RU" dirty="0" err="1"/>
              <a:t>header</a:t>
            </a:r>
            <a:r>
              <a:rPr lang="ru-RU" dirty="0"/>
              <a:t>) на страницу </a:t>
            </a:r>
            <a:r>
              <a:rPr lang="ru-RU" dirty="0" err="1"/>
              <a:t>index.php?module</a:t>
            </a:r>
            <a:r>
              <a:rPr lang="ru-RU" dirty="0"/>
              <a:t>=</a:t>
            </a:r>
            <a:r>
              <a:rPr lang="ru-RU" dirty="0" err="1"/>
              <a:t>games&amp;page</a:t>
            </a:r>
            <a:r>
              <a:rPr lang="ru-RU" dirty="0"/>
              <a:t>=game1over , </a:t>
            </a:r>
            <a:r>
              <a:rPr lang="ru-RU" dirty="0" smtClean="0"/>
              <a:t>и показать упавшим проигравшего, </a:t>
            </a:r>
            <a:r>
              <a:rPr lang="ru-RU" dirty="0"/>
              <a:t>победил ли игрок, или система. Не забываем, что для удобства пользователя необходимо выводить всю известную информацию, то есть какой урон был нанесён, кто кому нанёс, сколько сейчас </a:t>
            </a:r>
            <a:r>
              <a:rPr lang="ru-RU" dirty="0" err="1"/>
              <a:t>хп</a:t>
            </a:r>
            <a:r>
              <a:rPr lang="ru-RU" dirty="0"/>
              <a:t> осталось у каждого игрока. Так же возможность начать игру заново. Желательно для корректировки системы использовать переменные-свойства, то есть 10hp - это $</a:t>
            </a:r>
            <a:r>
              <a:rPr lang="ru-RU" dirty="0" err="1"/>
              <a:t>basehp</a:t>
            </a:r>
            <a:r>
              <a:rPr lang="ru-RU" dirty="0"/>
              <a:t> , то есть изменив эту переменную скрипт будет иным.</a:t>
            </a:r>
          </a:p>
          <a:p>
            <a:endParaRPr lang="ru-RU" dirty="0"/>
          </a:p>
        </p:txBody>
      </p:sp>
    </p:spTree>
    <p:extLst>
      <p:ext uri="{BB962C8B-B14F-4D97-AF65-F5344CB8AC3E}">
        <p14:creationId xmlns:p14="http://schemas.microsoft.com/office/powerpoint/2010/main" val="1517604999"/>
      </p:ext>
    </p:extLst>
  </p:cSld>
  <p:clrMapOvr>
    <a:masterClrMapping/>
  </p:clrMapOvr>
  <p:timing>
    <p:tnLst>
      <p:par>
        <p:cTn id="1" dur="indefinite" restart="never" nodeType="tmRoot"/>
      </p:par>
    </p:tnLst>
  </p:timing>
</p:sld>
</file>

<file path=ppt/theme/theme1.xml><?xml version="1.0" encoding="utf-8"?>
<a:theme xmlns:a="http://schemas.openxmlformats.org/drawingml/2006/main" name="Галерея">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430</TotalTime>
  <Words>2266</Words>
  <Application>Microsoft Office PowerPoint</Application>
  <PresentationFormat>Широкоэкранный</PresentationFormat>
  <Paragraphs>196</Paragraphs>
  <Slides>19</Slides>
  <Notes>8</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19</vt:i4>
      </vt:variant>
    </vt:vector>
  </HeadingPairs>
  <TitlesOfParts>
    <vt:vector size="25" baseType="lpstr">
      <vt:lpstr>Arial</vt:lpstr>
      <vt:lpstr>Calibri</vt:lpstr>
      <vt:lpstr>Gill Sans MT</vt:lpstr>
      <vt:lpstr>Menlo</vt:lpstr>
      <vt:lpstr>Tahoma</vt:lpstr>
      <vt:lpstr>Галерея</vt:lpstr>
      <vt:lpstr>PHP и MySQL</vt:lpstr>
      <vt:lpstr>Подключение к серверу MySQL</vt:lpstr>
      <vt:lpstr>Ошибки подключения</vt:lpstr>
      <vt:lpstr>Выбор базы данных</vt:lpstr>
      <vt:lpstr>Создаём таблицу</vt:lpstr>
      <vt:lpstr>Обработка ошибок</vt:lpstr>
      <vt:lpstr>Удаление таблицы</vt:lpstr>
      <vt:lpstr>Добавление строк (записей) в таблицу — INSERT</vt:lpstr>
      <vt:lpstr>Добавление строк (записей) в таблицу — INSERT</vt:lpstr>
      <vt:lpstr>Добавление строк (записей) в таблицу — INSERT</vt:lpstr>
      <vt:lpstr>Просмотр таблицы: команда SELECT</vt:lpstr>
      <vt:lpstr>Функции РНР</vt:lpstr>
      <vt:lpstr>Запрос SELECT DISTINCT  — уникальные значения полей</vt:lpstr>
      <vt:lpstr>Соответствие условию WHERE</vt:lpstr>
      <vt:lpstr>Удаление данных — DELETE</vt:lpstr>
      <vt:lpstr>Задание 1.</vt:lpstr>
      <vt:lpstr>Задание 2. : ФАЙЛОВЫЙ МЕНЕДЖЕР</vt:lpstr>
      <vt:lpstr>Задание 3.</vt:lpstr>
      <vt:lpstr>Задание 5. ИГРА НА СЕССИЯХ (БИТВА АЛКО…В)</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 и MySQL</dc:title>
  <dc:creator>Пестов Александр Игоревич</dc:creator>
  <cp:lastModifiedBy>Преподаватель Кронштадский б-р,37</cp:lastModifiedBy>
  <cp:revision>30</cp:revision>
  <dcterms:created xsi:type="dcterms:W3CDTF">2018-11-13T08:44:35Z</dcterms:created>
  <dcterms:modified xsi:type="dcterms:W3CDTF">2018-12-18T08:45:57Z</dcterms:modified>
</cp:coreProperties>
</file>