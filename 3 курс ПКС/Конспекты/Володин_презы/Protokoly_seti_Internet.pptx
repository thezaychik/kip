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7" r:id="rId12"/>
    <p:sldId id="265" r:id="rId13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422C16"/>
    <a:srgbClr val="0C788E"/>
    <a:srgbClr val="006666"/>
    <a:srgbClr val="0099CC"/>
    <a:srgbClr val="660066"/>
    <a:srgbClr val="33330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-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23" autoAdjust="0"/>
    <p:restoredTop sz="94652" autoAdjust="0"/>
  </p:normalViewPr>
  <p:slideViewPr>
    <p:cSldViewPr>
      <p:cViewPr varScale="1">
        <p:scale>
          <a:sx n="103" d="100"/>
          <a:sy n="103" d="100"/>
        </p:scale>
        <p:origin x="16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12"/>
    </mc:Choice>
    <mc:Fallback>
      <c:style val="1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IP</c:v>
                </c:pt>
              </c:strCache>
            </c:strRef>
          </c:tx>
          <c:invertIfNegative val="0"/>
          <c:cat>
            <c:numRef>
              <c:f>Лист1!$A$2:$A$3</c:f>
              <c:numCache>
                <c:formatCode>General</c:formatCode>
                <c:ptCount val="2"/>
                <c:pt idx="0">
                  <c:v>1960</c:v>
                </c:pt>
                <c:pt idx="1">
                  <c:v>2000</c:v>
                </c:pt>
              </c:numCache>
            </c:num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6</c:v>
                </c:pt>
                <c:pt idx="1">
                  <c:v>6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WWW</c:v>
                </c:pt>
              </c:strCache>
            </c:strRef>
          </c:tx>
          <c:invertIfNegative val="0"/>
          <c:cat>
            <c:numRef>
              <c:f>Лист1!$A$2:$A$3</c:f>
              <c:numCache>
                <c:formatCode>General</c:formatCode>
                <c:ptCount val="2"/>
                <c:pt idx="0">
                  <c:v>1960</c:v>
                </c:pt>
                <c:pt idx="1">
                  <c:v>2000</c:v>
                </c:pt>
              </c:numCache>
            </c:num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7</c:v>
                </c:pt>
                <c:pt idx="1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79967416"/>
        <c:axId val="379973296"/>
      </c:barChart>
      <c:catAx>
        <c:axId val="3799674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79973296"/>
        <c:crosses val="autoZero"/>
        <c:auto val="1"/>
        <c:lblAlgn val="ctr"/>
        <c:lblOffset val="100"/>
        <c:noMultiLvlLbl val="0"/>
      </c:catAx>
      <c:valAx>
        <c:axId val="3799732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one"/>
        <c:crossAx val="37996741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FBCCA-C9B2-4142-A572-F850D8D4B917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501550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7F0B7C-9355-4B23-99D3-7BE16EE8F60C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433669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3926D9-2460-4215-9434-0562B3555312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6603497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3EB144-BE61-4C55-A0B0-77418552A06E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0984525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930E8A-3B1A-454D-A8D8-45A453EC4C7A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689313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7564D7-B309-49C9-8049-A15D0B49D3DC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7019225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BAF58F-801D-4B48-88E3-2A83172865FE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9319348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FBCE57-DF52-43EE-8324-AEE9C6AF2009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9632704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DC902-BB52-462D-A7E1-C72324C0DDF6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288898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3DCF0B-DB49-4D96-B471-BC5C378DFCA3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69399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8427EA-91EA-40B0-A14E-F58F14697AAD}" type="slidenum">
              <a:rPr lang="es-ES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8251470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1DD9CF4-2EFC-4B65-85FE-A279C72CD325}" type="slidenum">
              <a:rPr lang="es-ES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Rectangle 150"/>
          <p:cNvSpPr>
            <a:spLocks noGrp="1" noChangeArrowheads="1"/>
          </p:cNvSpPr>
          <p:nvPr>
            <p:ph type="ctrTitle"/>
          </p:nvPr>
        </p:nvSpPr>
        <p:spPr>
          <a:xfrm>
            <a:off x="0" y="404664"/>
            <a:ext cx="6804248" cy="647700"/>
          </a:xfrm>
        </p:spPr>
        <p:txBody>
          <a:bodyPr/>
          <a:lstStyle/>
          <a:p>
            <a:r>
              <a:rPr lang="ru-RU" sz="4800" dirty="0" smtClean="0">
                <a:solidFill>
                  <a:srgbClr val="336699"/>
                </a:solidFill>
                <a:latin typeface="Candara" pitchFamily="34" charset="0"/>
              </a:rPr>
              <a:t>Протоколы сети </a:t>
            </a:r>
            <a:r>
              <a:rPr lang="en-US" sz="4800" dirty="0" smtClean="0">
                <a:solidFill>
                  <a:srgbClr val="336699"/>
                </a:solidFill>
                <a:latin typeface="Candara" pitchFamily="34" charset="0"/>
              </a:rPr>
              <a:t>Internet</a:t>
            </a:r>
            <a:endParaRPr lang="es-ES" sz="4800" dirty="0">
              <a:solidFill>
                <a:srgbClr val="336699"/>
              </a:solidFill>
              <a:latin typeface="Candara" pitchFamily="34" charset="0"/>
            </a:endParaRPr>
          </a:p>
        </p:txBody>
      </p:sp>
      <p:sp>
        <p:nvSpPr>
          <p:cNvPr id="2213" name="Rectangle 165"/>
          <p:cNvSpPr>
            <a:spLocks noChangeArrowheads="1"/>
          </p:cNvSpPr>
          <p:nvPr/>
        </p:nvSpPr>
        <p:spPr bwMode="auto">
          <a:xfrm>
            <a:off x="3707904" y="1556792"/>
            <a:ext cx="4464496" cy="2047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s-UY" sz="2800" dirty="0" smtClean="0">
                <a:solidFill>
                  <a:srgbClr val="336699"/>
                </a:solidFill>
                <a:latin typeface="Candara" pitchFamily="34" charset="0"/>
              </a:rPr>
              <a:t>TCP/IP, </a:t>
            </a:r>
            <a:r>
              <a:rPr lang="ru-RU" sz="2800" dirty="0" smtClean="0">
                <a:solidFill>
                  <a:srgbClr val="336699"/>
                </a:solidFill>
                <a:latin typeface="Candara" pitchFamily="34" charset="0"/>
              </a:rPr>
              <a:t>РОР3/</a:t>
            </a:r>
            <a:r>
              <a:rPr lang="es-UY" sz="2800" dirty="0" smtClean="0">
                <a:solidFill>
                  <a:srgbClr val="336699"/>
                </a:solidFill>
                <a:latin typeface="Candara" pitchFamily="34" charset="0"/>
              </a:rPr>
              <a:t>SMTP, HTTP, FTP</a:t>
            </a:r>
            <a:endParaRPr lang="es-ES" sz="2800" dirty="0">
              <a:solidFill>
                <a:srgbClr val="336699"/>
              </a:solidFill>
              <a:latin typeface="Candara" pitchFamily="34" charset="0"/>
            </a:endParaRPr>
          </a:p>
        </p:txBody>
      </p:sp>
      <p:pic>
        <p:nvPicPr>
          <p:cNvPr id="2217" name="Picture 16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471292"/>
            <a:ext cx="3810000" cy="2857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47" b="82099" l="5112" r="100000">
                        <a14:foregroundMark x1="81470" y1="23148" x2="81470" y2="231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79" y="1690588"/>
            <a:ext cx="2981325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47664" y="5085183"/>
            <a:ext cx="2727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rgbClr val="336699"/>
                </a:solidFill>
                <a:latin typeface="Segoe Print" pitchFamily="2" charset="0"/>
              </a:rPr>
              <a:t>Гр. 01-214</a:t>
            </a:r>
          </a:p>
          <a:p>
            <a:pPr algn="ctr"/>
            <a:r>
              <a:rPr lang="ru-RU" sz="2400" dirty="0" smtClean="0">
                <a:solidFill>
                  <a:srgbClr val="336699"/>
                </a:solidFill>
                <a:latin typeface="Segoe Print" pitchFamily="2" charset="0"/>
              </a:rPr>
              <a:t>19.09.14</a:t>
            </a:r>
            <a:endParaRPr lang="ru-RU" sz="2400" dirty="0">
              <a:solidFill>
                <a:srgbClr val="336699"/>
              </a:solidFill>
              <a:latin typeface="Segoe Print" pitchFamily="2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6048920" cy="647799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Candara" pitchFamily="34" charset="0"/>
              </a:rPr>
              <a:t>Определение</a:t>
            </a:r>
            <a:endParaRPr lang="ru-RU" dirty="0">
              <a:solidFill>
                <a:schemeClr val="tx1"/>
              </a:solidFill>
              <a:latin typeface="Candara" pitchFamily="34" charset="0"/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980728"/>
            <a:ext cx="7704856" cy="1108720"/>
          </a:xfrm>
        </p:spPr>
        <p:txBody>
          <a:bodyPr/>
          <a:lstStyle/>
          <a:p>
            <a:pPr marL="0" indent="0">
              <a:buNone/>
            </a:pPr>
            <a:r>
              <a:rPr lang="ru-RU" sz="2400" b="1" dirty="0">
                <a:solidFill>
                  <a:srgbClr val="336699"/>
                </a:solidFill>
                <a:latin typeface="Candara" pitchFamily="34" charset="0"/>
              </a:rPr>
              <a:t>Протокол передачи информации </a:t>
            </a:r>
            <a:r>
              <a:rPr lang="ru-RU" sz="2400" dirty="0">
                <a:latin typeface="Candara" pitchFamily="34" charset="0"/>
              </a:rPr>
              <a:t>— это совокупность правил, определяющих взаимодействие компьютеров между собой в сети Интернет.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835696" y="4869160"/>
            <a:ext cx="730830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i="1" dirty="0" smtClean="0">
                <a:latin typeface="Cambria" pitchFamily="18" charset="0"/>
              </a:rPr>
              <a:t>Чтобы </a:t>
            </a:r>
            <a:r>
              <a:rPr lang="ru-RU" sz="2000" i="1" dirty="0">
                <a:latin typeface="Cambria" pitchFamily="18" charset="0"/>
              </a:rPr>
              <a:t>все подключенные к </a:t>
            </a:r>
            <a:r>
              <a:rPr lang="ru-RU" sz="2000" i="1" dirty="0" smtClean="0">
                <a:latin typeface="Cambria" pitchFamily="18" charset="0"/>
              </a:rPr>
              <a:t>сети </a:t>
            </a:r>
            <a:r>
              <a:rPr lang="ru-RU" sz="2000" i="1" dirty="0">
                <a:latin typeface="Cambria" pitchFamily="18" charset="0"/>
              </a:rPr>
              <a:t>компьютеры могли понимать друг друга, </a:t>
            </a:r>
            <a:r>
              <a:rPr lang="ru-RU" sz="2000" i="1" dirty="0">
                <a:solidFill>
                  <a:srgbClr val="336699"/>
                </a:solidFill>
                <a:latin typeface="Cambria" pitchFamily="18" charset="0"/>
              </a:rPr>
              <a:t>необходимы общие наборы правил</a:t>
            </a:r>
            <a:r>
              <a:rPr lang="ru-RU" sz="2000" i="1" dirty="0">
                <a:latin typeface="Cambria" pitchFamily="18" charset="0"/>
              </a:rPr>
              <a:t>. Такими наборами правил и являются протоколы.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048" y="2179588"/>
            <a:ext cx="3168352" cy="21336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31168" y="2420888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000" i="1" dirty="0">
                <a:latin typeface="Cambria" pitchFamily="18" charset="0"/>
              </a:rPr>
              <a:t>Необходимость протоколов обусловлена тем, что в сети могут взаимодействовать компьютеры с самым разным программным обеспечением и аппаратным устройством. 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-17388" y="116633"/>
            <a:ext cx="6533604" cy="864096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Candara" pitchFamily="34" charset="0"/>
              </a:rPr>
              <a:t>Базовый протокол</a:t>
            </a:r>
            <a:endParaRPr lang="ru-RU" dirty="0">
              <a:solidFill>
                <a:schemeClr val="tx1"/>
              </a:solidFill>
              <a:latin typeface="Candara" pitchFamily="34" charset="0"/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980728"/>
            <a:ext cx="7704856" cy="1800200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>
                <a:latin typeface="Cambria" pitchFamily="18" charset="0"/>
              </a:rPr>
              <a:t>Над созданием протоколов, необходимых для существования глобальной сети, трудились лучшие умы человечества. Одним из них был </a:t>
            </a:r>
            <a:r>
              <a:rPr lang="ru-RU" sz="1800" b="1" dirty="0" err="1">
                <a:solidFill>
                  <a:srgbClr val="336699"/>
                </a:solidFill>
                <a:latin typeface="Cambria" pitchFamily="18" charset="0"/>
              </a:rPr>
              <a:t>Винтон</a:t>
            </a:r>
            <a:r>
              <a:rPr lang="ru-RU" sz="1800" b="1" dirty="0">
                <a:solidFill>
                  <a:srgbClr val="336699"/>
                </a:solidFill>
                <a:latin typeface="Cambria" pitchFamily="18" charset="0"/>
              </a:rPr>
              <a:t> </a:t>
            </a:r>
            <a:r>
              <a:rPr lang="ru-RU" sz="1800" b="1" dirty="0" err="1">
                <a:solidFill>
                  <a:srgbClr val="336699"/>
                </a:solidFill>
                <a:latin typeface="Cambria" pitchFamily="18" charset="0"/>
              </a:rPr>
              <a:t>Серф</a:t>
            </a:r>
            <a:r>
              <a:rPr lang="ru-RU" sz="1800" b="1" dirty="0">
                <a:solidFill>
                  <a:srgbClr val="336699"/>
                </a:solidFill>
                <a:latin typeface="Cambria" pitchFamily="18" charset="0"/>
              </a:rPr>
              <a:t> </a:t>
            </a:r>
            <a:r>
              <a:rPr lang="ru-RU" sz="1800" i="1" dirty="0">
                <a:latin typeface="Cambria" pitchFamily="18" charset="0"/>
              </a:rPr>
              <a:t>(</a:t>
            </a:r>
            <a:r>
              <a:rPr lang="ru-RU" sz="1800" i="1" dirty="0" err="1">
                <a:latin typeface="Cambria" pitchFamily="18" charset="0"/>
              </a:rPr>
              <a:t>Vinton</a:t>
            </a:r>
            <a:r>
              <a:rPr lang="ru-RU" sz="1800" i="1" dirty="0">
                <a:latin typeface="Cambria" pitchFamily="18" charset="0"/>
              </a:rPr>
              <a:t> G. </a:t>
            </a:r>
            <a:r>
              <a:rPr lang="ru-RU" sz="1800" i="1" dirty="0" err="1">
                <a:latin typeface="Cambria" pitchFamily="18" charset="0"/>
              </a:rPr>
              <a:t>Cerf</a:t>
            </a:r>
            <a:r>
              <a:rPr lang="ru-RU" sz="1800" dirty="0">
                <a:latin typeface="Cambria" pitchFamily="18" charset="0"/>
              </a:rPr>
              <a:t>). </a:t>
            </a:r>
            <a:r>
              <a:rPr lang="ru-RU" sz="1800" dirty="0" smtClean="0">
                <a:latin typeface="Cambria" pitchFamily="18" charset="0"/>
              </a:rPr>
              <a:t>Именно в </a:t>
            </a:r>
            <a:r>
              <a:rPr lang="ru-RU" sz="1800" dirty="0">
                <a:latin typeface="Cambria" pitchFamily="18" charset="0"/>
              </a:rPr>
              <a:t>1972 году группа разработчиков под </a:t>
            </a:r>
            <a:r>
              <a:rPr lang="ru-RU" sz="1800" dirty="0" smtClean="0">
                <a:latin typeface="Cambria" pitchFamily="18" charset="0"/>
              </a:rPr>
              <a:t> его руководством разработала </a:t>
            </a:r>
            <a:r>
              <a:rPr lang="ru-RU" sz="1800" b="1" dirty="0">
                <a:solidFill>
                  <a:srgbClr val="336699"/>
                </a:solidFill>
                <a:latin typeface="Cambria" pitchFamily="18" charset="0"/>
              </a:rPr>
              <a:t>протокол TCP/IP </a:t>
            </a:r>
            <a:r>
              <a:rPr lang="ru-RU" sz="1800" dirty="0">
                <a:latin typeface="Cambria" pitchFamily="18" charset="0"/>
              </a:rPr>
              <a:t>- </a:t>
            </a:r>
            <a:r>
              <a:rPr lang="ru-RU" sz="1800" b="1" dirty="0" err="1">
                <a:latin typeface="Cambria" pitchFamily="18" charset="0"/>
              </a:rPr>
              <a:t>Transmission</a:t>
            </a:r>
            <a:r>
              <a:rPr lang="ru-RU" sz="1800" b="1" dirty="0">
                <a:latin typeface="Cambria" pitchFamily="18" charset="0"/>
              </a:rPr>
              <a:t> </a:t>
            </a:r>
            <a:r>
              <a:rPr lang="ru-RU" sz="1800" b="1" dirty="0" err="1">
                <a:latin typeface="Cambria" pitchFamily="18" charset="0"/>
              </a:rPr>
              <a:t>Control</a:t>
            </a:r>
            <a:r>
              <a:rPr lang="ru-RU" sz="1800" b="1" dirty="0">
                <a:latin typeface="Cambria" pitchFamily="18" charset="0"/>
              </a:rPr>
              <a:t> </a:t>
            </a:r>
            <a:r>
              <a:rPr lang="ru-RU" sz="1800" b="1" dirty="0" err="1">
                <a:latin typeface="Cambria" pitchFamily="18" charset="0"/>
              </a:rPr>
              <a:t>Protocol</a:t>
            </a:r>
            <a:r>
              <a:rPr lang="ru-RU" sz="1800" b="1" dirty="0">
                <a:latin typeface="Cambria" pitchFamily="18" charset="0"/>
              </a:rPr>
              <a:t>/</a:t>
            </a:r>
            <a:r>
              <a:rPr lang="ru-RU" sz="1800" b="1" dirty="0" err="1">
                <a:latin typeface="Cambria" pitchFamily="18" charset="0"/>
              </a:rPr>
              <a:t>Internet</a:t>
            </a:r>
            <a:r>
              <a:rPr lang="ru-RU" sz="1800" b="1" dirty="0">
                <a:latin typeface="Cambria" pitchFamily="18" charset="0"/>
              </a:rPr>
              <a:t> </a:t>
            </a:r>
            <a:r>
              <a:rPr lang="ru-RU" sz="1800" b="1" dirty="0" err="1">
                <a:latin typeface="Cambria" pitchFamily="18" charset="0"/>
              </a:rPr>
              <a:t>Protocol</a:t>
            </a:r>
            <a:r>
              <a:rPr lang="ru-RU" sz="1800" b="1" dirty="0">
                <a:latin typeface="Cambria" pitchFamily="18" charset="0"/>
              </a:rPr>
              <a:t> </a:t>
            </a:r>
            <a:r>
              <a:rPr lang="ru-RU" sz="1800" i="1" dirty="0">
                <a:latin typeface="Cambria" pitchFamily="18" charset="0"/>
              </a:rPr>
              <a:t>(Протокол управления передачей/Протокол Интернета). </a:t>
            </a:r>
            <a:r>
              <a:rPr lang="ru-RU" sz="1800" dirty="0" smtClean="0">
                <a:latin typeface="Cambria" pitchFamily="18" charset="0"/>
              </a:rPr>
              <a:t>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347864" y="4411270"/>
            <a:ext cx="5631656" cy="193899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/>
            <a:r>
              <a:rPr lang="ru-RU" sz="2000" dirty="0" smtClean="0">
                <a:latin typeface="Cambria" pitchFamily="18" charset="0"/>
              </a:rPr>
              <a:t> </a:t>
            </a:r>
            <a:r>
              <a:rPr lang="ru-RU" sz="2000" dirty="0">
                <a:latin typeface="Cambria" pitchFamily="18" charset="0"/>
              </a:rPr>
              <a:t>Главной задачей при разработке сетевого протокола являлась его </a:t>
            </a:r>
            <a:r>
              <a:rPr lang="ru-RU" sz="2000" b="1" dirty="0">
                <a:latin typeface="Cambria" pitchFamily="18" charset="0"/>
              </a:rPr>
              <a:t>"неприхотливость" </a:t>
            </a:r>
            <a:r>
              <a:rPr lang="ru-RU" sz="2000" dirty="0">
                <a:latin typeface="Cambria" pitchFamily="18" charset="0"/>
              </a:rPr>
              <a:t>- он должен был работать с любым сетевым окружением и, кроме того, обладать гибкостью в выборе маршрута при доставке информации</a:t>
            </a:r>
            <a:r>
              <a:rPr lang="ru-RU" dirty="0">
                <a:latin typeface="Cambria" pitchFamily="18" charset="0"/>
              </a:rPr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033487"/>
            <a:ext cx="2161034" cy="2694558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4" name="Прямоугольник 3"/>
          <p:cNvSpPr/>
          <p:nvPr/>
        </p:nvSpPr>
        <p:spPr>
          <a:xfrm>
            <a:off x="991940" y="2858896"/>
            <a:ext cx="79928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dirty="0">
                <a:latin typeface="Cambria" pitchFamily="18" charset="0"/>
              </a:rPr>
              <a:t>Эксперимент по разработке этого протокола проводился по заказу Министерства обороны США. Данный проект получил название </a:t>
            </a:r>
            <a:r>
              <a:rPr lang="ru-RU" b="1" dirty="0" err="1">
                <a:solidFill>
                  <a:srgbClr val="336699"/>
                </a:solidFill>
                <a:latin typeface="Cambria" pitchFamily="18" charset="0"/>
              </a:rPr>
              <a:t>ARPANet</a:t>
            </a:r>
            <a:r>
              <a:rPr lang="ru-RU" dirty="0">
                <a:latin typeface="Cambria" pitchFamily="18" charset="0"/>
              </a:rPr>
              <a:t> </a:t>
            </a:r>
            <a:r>
              <a:rPr lang="ru-RU" i="1" dirty="0">
                <a:solidFill>
                  <a:srgbClr val="336699"/>
                </a:solidFill>
                <a:latin typeface="Cambria" pitchFamily="18" charset="0"/>
              </a:rPr>
              <a:t>(</a:t>
            </a:r>
            <a:r>
              <a:rPr lang="ru-RU" i="1" dirty="0" err="1">
                <a:solidFill>
                  <a:srgbClr val="336699"/>
                </a:solidFill>
                <a:latin typeface="Cambria" pitchFamily="18" charset="0"/>
              </a:rPr>
              <a:t>Advanced</a:t>
            </a:r>
            <a:r>
              <a:rPr lang="ru-RU" i="1" dirty="0">
                <a:solidFill>
                  <a:srgbClr val="336699"/>
                </a:solidFill>
                <a:latin typeface="Cambria" pitchFamily="18" charset="0"/>
              </a:rPr>
              <a:t> </a:t>
            </a:r>
            <a:r>
              <a:rPr lang="ru-RU" i="1" dirty="0" err="1">
                <a:solidFill>
                  <a:srgbClr val="336699"/>
                </a:solidFill>
                <a:latin typeface="Cambria" pitchFamily="18" charset="0"/>
              </a:rPr>
              <a:t>Research</a:t>
            </a:r>
            <a:r>
              <a:rPr lang="ru-RU" i="1" dirty="0">
                <a:solidFill>
                  <a:srgbClr val="336699"/>
                </a:solidFill>
                <a:latin typeface="Cambria" pitchFamily="18" charset="0"/>
              </a:rPr>
              <a:t> </a:t>
            </a:r>
            <a:r>
              <a:rPr lang="ru-RU" i="1" dirty="0" err="1">
                <a:solidFill>
                  <a:srgbClr val="336699"/>
                </a:solidFill>
                <a:latin typeface="Cambria" pitchFamily="18" charset="0"/>
              </a:rPr>
              <a:t>Projects</a:t>
            </a:r>
            <a:r>
              <a:rPr lang="ru-RU" i="1" dirty="0">
                <a:solidFill>
                  <a:srgbClr val="336699"/>
                </a:solidFill>
                <a:latin typeface="Cambria" pitchFamily="18" charset="0"/>
              </a:rPr>
              <a:t> </a:t>
            </a:r>
            <a:r>
              <a:rPr lang="ru-RU" i="1" dirty="0" err="1">
                <a:solidFill>
                  <a:srgbClr val="336699"/>
                </a:solidFill>
                <a:latin typeface="Cambria" pitchFamily="18" charset="0"/>
              </a:rPr>
              <a:t>Agency</a:t>
            </a:r>
            <a:r>
              <a:rPr lang="ru-RU" i="1" dirty="0">
                <a:solidFill>
                  <a:srgbClr val="336699"/>
                </a:solidFill>
                <a:latin typeface="Cambria" pitchFamily="18" charset="0"/>
              </a:rPr>
              <a:t> </a:t>
            </a:r>
            <a:r>
              <a:rPr lang="ru-RU" i="1" dirty="0" err="1">
                <a:solidFill>
                  <a:srgbClr val="336699"/>
                </a:solidFill>
                <a:latin typeface="Cambria" pitchFamily="18" charset="0"/>
              </a:rPr>
              <a:t>Network</a:t>
            </a:r>
            <a:r>
              <a:rPr lang="ru-RU" i="1" dirty="0">
                <a:solidFill>
                  <a:srgbClr val="336699"/>
                </a:solidFill>
                <a:latin typeface="Cambria" pitchFamily="18" charset="0"/>
              </a:rPr>
              <a:t> </a:t>
            </a:r>
            <a:r>
              <a:rPr lang="ru-RU" dirty="0">
                <a:latin typeface="Cambria" pitchFamily="18" charset="0"/>
              </a:rPr>
              <a:t>- </a:t>
            </a:r>
            <a:r>
              <a:rPr lang="ru-RU" i="1" dirty="0">
                <a:latin typeface="Cambria" pitchFamily="18" charset="0"/>
              </a:rPr>
              <a:t>Сеть агентства важных исследовательских проектов).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355976" y="548680"/>
            <a:ext cx="3248520" cy="564307"/>
          </a:xfrm>
        </p:spPr>
        <p:txBody>
          <a:bodyPr/>
          <a:lstStyle/>
          <a:p>
            <a:pPr algn="l"/>
            <a:r>
              <a:rPr lang="ru-RU" sz="3600" dirty="0" smtClean="0">
                <a:solidFill>
                  <a:schemeClr val="tx1"/>
                </a:solidFill>
                <a:latin typeface="Candara" pitchFamily="34" charset="0"/>
              </a:rPr>
              <a:t>Краткое описание</a:t>
            </a:r>
            <a:endParaRPr lang="ru-RU" sz="3600" dirty="0">
              <a:solidFill>
                <a:schemeClr val="tx1"/>
              </a:solidFill>
              <a:latin typeface="Candara" pitchFamily="34" charset="0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11960" y="1556793"/>
            <a:ext cx="4248472" cy="720080"/>
          </a:xfrm>
        </p:spPr>
        <p:txBody>
          <a:bodyPr/>
          <a:lstStyle/>
          <a:p>
            <a:pPr marL="0" indent="0">
              <a:buNone/>
            </a:pPr>
            <a:r>
              <a:rPr lang="ru-RU" sz="2400" b="1" dirty="0" smtClean="0">
                <a:latin typeface="Cambria" pitchFamily="18" charset="0"/>
              </a:rPr>
              <a:t>TCP/IP</a:t>
            </a:r>
            <a:r>
              <a:rPr lang="ru-RU" sz="2400" dirty="0" smtClean="0">
                <a:latin typeface="Cambria" pitchFamily="18" charset="0"/>
              </a:rPr>
              <a:t> состоит </a:t>
            </a:r>
            <a:r>
              <a:rPr lang="ru-RU" sz="2400" dirty="0">
                <a:latin typeface="Cambria" pitchFamily="18" charset="0"/>
              </a:rPr>
              <a:t>из </a:t>
            </a:r>
            <a:r>
              <a:rPr lang="ru-RU" sz="2400" b="1" dirty="0">
                <a:latin typeface="Cambria" pitchFamily="18" charset="0"/>
              </a:rPr>
              <a:t>двух уровней</a:t>
            </a:r>
            <a:r>
              <a:rPr lang="ru-RU" sz="2400" dirty="0" smtClean="0">
                <a:latin typeface="Cambria" pitchFamily="18" charset="0"/>
              </a:rPr>
              <a:t>.</a:t>
            </a:r>
          </a:p>
        </p:txBody>
      </p:sp>
      <p:pic>
        <p:nvPicPr>
          <p:cNvPr id="3075" name="Picture 3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76" y="404664"/>
            <a:ext cx="3848100" cy="6029325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199756" y="2636912"/>
            <a:ext cx="44644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latin typeface="Cambria" pitchFamily="18" charset="0"/>
              </a:rPr>
              <a:t>Протокол верхнего уровня, </a:t>
            </a:r>
            <a:r>
              <a:rPr lang="ru-RU" sz="2000" b="1" dirty="0">
                <a:latin typeface="Cambria" pitchFamily="18" charset="0"/>
              </a:rPr>
              <a:t>TCP,</a:t>
            </a:r>
            <a:r>
              <a:rPr lang="ru-RU" sz="2000" dirty="0">
                <a:latin typeface="Cambria" pitchFamily="18" charset="0"/>
              </a:rPr>
              <a:t> отвечает за </a:t>
            </a:r>
            <a:r>
              <a:rPr lang="ru-RU" sz="2000" i="1" dirty="0">
                <a:solidFill>
                  <a:srgbClr val="336699"/>
                </a:solidFill>
                <a:latin typeface="Cambria" pitchFamily="18" charset="0"/>
              </a:rPr>
              <a:t>правильность преобразования сообщений в пакеты информации</a:t>
            </a:r>
            <a:r>
              <a:rPr lang="ru-RU" sz="2000" dirty="0">
                <a:latin typeface="Cambria" pitchFamily="18" charset="0"/>
              </a:rPr>
              <a:t>, из которых на приемной стороне собирается исходное послание. Протокол нижнего уровня, </a:t>
            </a:r>
            <a:r>
              <a:rPr lang="ru-RU" sz="2000" b="1" dirty="0">
                <a:latin typeface="Cambria" pitchFamily="18" charset="0"/>
              </a:rPr>
              <a:t>IP</a:t>
            </a:r>
            <a:r>
              <a:rPr lang="ru-RU" sz="2000" dirty="0">
                <a:latin typeface="Cambria" pitchFamily="18" charset="0"/>
              </a:rPr>
              <a:t>, отвечает за </a:t>
            </a:r>
            <a:r>
              <a:rPr lang="ru-RU" sz="2000" i="1" dirty="0">
                <a:solidFill>
                  <a:srgbClr val="336699"/>
                </a:solidFill>
                <a:latin typeface="Cambria" pitchFamily="18" charset="0"/>
              </a:rPr>
              <a:t>правильность доставки сообщений по указанному адресу</a:t>
            </a:r>
            <a:r>
              <a:rPr lang="ru-RU" sz="2000" dirty="0">
                <a:latin typeface="Cambria" pitchFamily="18" charset="0"/>
              </a:rPr>
              <a:t>. Иногда пакеты одного сообщения могут доставляться разными путями.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88913"/>
            <a:ext cx="5760640" cy="791815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Candara" pitchFamily="34" charset="0"/>
              </a:rPr>
              <a:t>Значение</a:t>
            </a:r>
            <a:endParaRPr lang="ru-RU" dirty="0">
              <a:solidFill>
                <a:schemeClr val="tx1"/>
              </a:solidFill>
              <a:latin typeface="Candara" pitchFamily="34" charset="0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980728"/>
            <a:ext cx="7632848" cy="1584176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 smtClean="0">
                <a:latin typeface="Cambria" pitchFamily="18" charset="0"/>
              </a:rPr>
              <a:t>Говоря простым языком, протокол </a:t>
            </a:r>
            <a:r>
              <a:rPr lang="ru-RU" sz="2000" b="1" dirty="0">
                <a:latin typeface="Cambria" pitchFamily="18" charset="0"/>
              </a:rPr>
              <a:t>TCP —</a:t>
            </a:r>
            <a:r>
              <a:rPr lang="ru-RU" sz="2000" dirty="0">
                <a:solidFill>
                  <a:srgbClr val="336699"/>
                </a:solidFill>
                <a:latin typeface="Cambria" pitchFamily="18" charset="0"/>
              </a:rPr>
              <a:t> является транспортным протоколом</a:t>
            </a:r>
            <a:r>
              <a:rPr lang="ru-RU" sz="2000" dirty="0">
                <a:latin typeface="Cambria" pitchFamily="18" charset="0"/>
              </a:rPr>
              <a:t>, который обеспечивает гарантированную передачу данных по </a:t>
            </a:r>
            <a:r>
              <a:rPr lang="ru-RU" sz="2000" dirty="0" smtClean="0">
                <a:latin typeface="Cambria" pitchFamily="18" charset="0"/>
              </a:rPr>
              <a:t>сети, а протокол </a:t>
            </a:r>
            <a:r>
              <a:rPr lang="ru-RU" sz="2000" b="1" dirty="0">
                <a:latin typeface="Cambria" pitchFamily="18" charset="0"/>
              </a:rPr>
              <a:t>IP —</a:t>
            </a:r>
            <a:r>
              <a:rPr lang="ru-RU" sz="2000" b="1" dirty="0">
                <a:solidFill>
                  <a:srgbClr val="336699"/>
                </a:solidFill>
                <a:latin typeface="Cambria" pitchFamily="18" charset="0"/>
              </a:rPr>
              <a:t> </a:t>
            </a:r>
            <a:r>
              <a:rPr lang="ru-RU" sz="2000" dirty="0">
                <a:solidFill>
                  <a:srgbClr val="336699"/>
                </a:solidFill>
                <a:latin typeface="Cambria" pitchFamily="18" charset="0"/>
              </a:rPr>
              <a:t>является адресным протоколом, </a:t>
            </a:r>
            <a:r>
              <a:rPr lang="ru-RU" sz="2000" dirty="0">
                <a:latin typeface="Cambria" pitchFamily="18" charset="0"/>
              </a:rPr>
              <a:t>который отвечает за адресацию всей сети. </a:t>
            </a:r>
            <a:endParaRPr lang="ru-RU" sz="2000" dirty="0" smtClean="0">
              <a:latin typeface="Cambria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347864" y="2852936"/>
            <a:ext cx="561662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dirty="0">
                <a:latin typeface="Cambria" pitchFamily="18" charset="0"/>
              </a:rPr>
              <a:t>Благодаря использованию протокола IP каждый компьютер в сети имеет свой </a:t>
            </a:r>
            <a:r>
              <a:rPr lang="ru-RU" b="1" dirty="0">
                <a:latin typeface="Cambria" pitchFamily="18" charset="0"/>
              </a:rPr>
              <a:t>индивидуальный адрес</a:t>
            </a:r>
            <a:r>
              <a:rPr lang="ru-RU" dirty="0">
                <a:latin typeface="Cambria" pitchFamily="18" charset="0"/>
              </a:rPr>
              <a:t> </a:t>
            </a:r>
            <a:r>
              <a:rPr lang="ru-RU" i="1" dirty="0">
                <a:solidFill>
                  <a:srgbClr val="336699"/>
                </a:solidFill>
                <a:latin typeface="Cambria" pitchFamily="18" charset="0"/>
              </a:rPr>
              <a:t>(IP-адрес). </a:t>
            </a:r>
            <a:r>
              <a:rPr lang="ru-RU" dirty="0">
                <a:latin typeface="Cambria" pitchFamily="18" charset="0"/>
              </a:rPr>
              <a:t>По этим адресам и осуществляется передача данных. Широко используемые в Интернете </a:t>
            </a:r>
            <a:r>
              <a:rPr lang="ru-RU" b="1" dirty="0">
                <a:latin typeface="Cambria" pitchFamily="18" charset="0"/>
              </a:rPr>
              <a:t>URL-адреса </a:t>
            </a:r>
            <a:r>
              <a:rPr lang="ru-RU" i="1" dirty="0">
                <a:solidFill>
                  <a:srgbClr val="336699"/>
                </a:solidFill>
                <a:latin typeface="Cambria" pitchFamily="18" charset="0"/>
              </a:rPr>
              <a:t>(www.rambler.ru, www.ozon.ru, и т.п.) </a:t>
            </a:r>
            <a:r>
              <a:rPr lang="ru-RU" dirty="0">
                <a:latin typeface="Cambria" pitchFamily="18" charset="0"/>
              </a:rPr>
              <a:t>являются </a:t>
            </a:r>
            <a:r>
              <a:rPr lang="ru-RU" b="1" dirty="0">
                <a:latin typeface="Cambria" pitchFamily="18" charset="0"/>
              </a:rPr>
              <a:t>лишь словесными обозначениями IP-адресов</a:t>
            </a:r>
            <a:r>
              <a:rPr lang="ru-RU" dirty="0">
                <a:latin typeface="Cambria" pitchFamily="18" charset="0"/>
              </a:rPr>
              <a:t>. Сделано это для удобства, поскольку человеку проще запомнить словесный адрес, нежели числовой IP-адрес</a:t>
            </a:r>
            <a:r>
              <a:rPr lang="ru-RU" i="1" dirty="0">
                <a:solidFill>
                  <a:srgbClr val="336699"/>
                </a:solidFill>
                <a:latin typeface="Cambria" pitchFamily="18" charset="0"/>
              </a:rPr>
              <a:t>. Однако компьютеры работают только с числовыми </a:t>
            </a:r>
            <a:r>
              <a:rPr lang="ru-RU" i="1" dirty="0" smtClean="0">
                <a:solidFill>
                  <a:srgbClr val="336699"/>
                </a:solidFill>
                <a:latin typeface="Cambria" pitchFamily="18" charset="0"/>
              </a:rPr>
              <a:t>адресами</a:t>
            </a:r>
            <a:r>
              <a:rPr lang="ru-RU" dirty="0" smtClean="0">
                <a:latin typeface="Cambria" pitchFamily="18" charset="0"/>
              </a:rPr>
              <a:t>. </a:t>
            </a:r>
            <a:r>
              <a:rPr lang="ru-RU" dirty="0">
                <a:latin typeface="Cambria" pitchFamily="18" charset="0"/>
              </a:rPr>
              <a:t>За сопоставление словесных URL-адресов и числовых IP-адресов отвечает специальная служба — </a:t>
            </a:r>
            <a:r>
              <a:rPr lang="ru-RU" b="1" dirty="0">
                <a:latin typeface="Cambria" pitchFamily="18" charset="0"/>
              </a:rPr>
              <a:t>служба </a:t>
            </a:r>
            <a:r>
              <a:rPr lang="ru-RU" b="1" dirty="0" smtClean="0">
                <a:latin typeface="Cambria" pitchFamily="18" charset="0"/>
              </a:rPr>
              <a:t>DNS.</a:t>
            </a:r>
            <a:endParaRPr lang="ru-RU" b="1" dirty="0">
              <a:latin typeface="Cambria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32" y="2828032"/>
            <a:ext cx="2592288" cy="206806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824811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4464744" cy="79181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Candara" pitchFamily="34" charset="0"/>
              </a:rPr>
              <a:t>POP</a:t>
            </a:r>
            <a:r>
              <a:rPr lang="ru-RU" dirty="0" smtClean="0">
                <a:solidFill>
                  <a:schemeClr val="tx1"/>
                </a:solidFill>
                <a:latin typeface="Candara" pitchFamily="34" charset="0"/>
              </a:rPr>
              <a:t>3/</a:t>
            </a:r>
            <a:r>
              <a:rPr lang="en-US" dirty="0" smtClean="0">
                <a:solidFill>
                  <a:schemeClr val="tx1"/>
                </a:solidFill>
                <a:latin typeface="Candara" pitchFamily="34" charset="0"/>
              </a:rPr>
              <a:t>SMTP </a:t>
            </a:r>
            <a:endParaRPr lang="ru-RU" dirty="0">
              <a:solidFill>
                <a:schemeClr val="tx1"/>
              </a:solidFill>
              <a:latin typeface="Candara" pitchFamily="34" charset="0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731" y="980728"/>
            <a:ext cx="7425605" cy="1440161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 smtClean="0">
                <a:solidFill>
                  <a:srgbClr val="336699"/>
                </a:solidFill>
                <a:latin typeface="Cambria" pitchFamily="18" charset="0"/>
              </a:rPr>
              <a:t>Протокол POP3 </a:t>
            </a:r>
            <a:r>
              <a:rPr lang="ru-RU" sz="2000" i="1" dirty="0">
                <a:latin typeface="Cambria" pitchFamily="18" charset="0"/>
              </a:rPr>
              <a:t>(</a:t>
            </a:r>
            <a:r>
              <a:rPr lang="ru-RU" sz="2000" i="1" dirty="0" err="1">
                <a:latin typeface="Cambria" pitchFamily="18" charset="0"/>
              </a:rPr>
              <a:t>Post</a:t>
            </a:r>
            <a:r>
              <a:rPr lang="ru-RU" sz="2000" i="1" dirty="0">
                <a:latin typeface="Cambria" pitchFamily="18" charset="0"/>
              </a:rPr>
              <a:t> </a:t>
            </a:r>
            <a:r>
              <a:rPr lang="ru-RU" sz="2000" i="1" dirty="0" err="1">
                <a:latin typeface="Cambria" pitchFamily="18" charset="0"/>
              </a:rPr>
              <a:t>Office</a:t>
            </a:r>
            <a:r>
              <a:rPr lang="ru-RU" sz="2000" i="1" dirty="0">
                <a:latin typeface="Cambria" pitchFamily="18" charset="0"/>
              </a:rPr>
              <a:t> </a:t>
            </a:r>
            <a:r>
              <a:rPr lang="ru-RU" sz="2000" i="1" dirty="0" err="1" smtClean="0">
                <a:latin typeface="Cambria" pitchFamily="18" charset="0"/>
              </a:rPr>
              <a:t>Protocol</a:t>
            </a:r>
            <a:r>
              <a:rPr lang="ru-RU" sz="2000" i="1" dirty="0" smtClean="0">
                <a:latin typeface="Cambria" pitchFamily="18" charset="0"/>
              </a:rPr>
              <a:t> 3) </a:t>
            </a:r>
            <a:r>
              <a:rPr lang="ru-RU" sz="2000" dirty="0">
                <a:latin typeface="Cambria" pitchFamily="18" charset="0"/>
              </a:rPr>
              <a:t>— протокол почтового отделения. Этот протокол используется </a:t>
            </a:r>
            <a:r>
              <a:rPr lang="ru-RU" sz="2000" dirty="0">
                <a:solidFill>
                  <a:srgbClr val="336699"/>
                </a:solidFill>
                <a:latin typeface="Cambria" pitchFamily="18" charset="0"/>
              </a:rPr>
              <a:t>для получения </a:t>
            </a:r>
            <a:r>
              <a:rPr lang="ru-RU" sz="2000" dirty="0">
                <a:latin typeface="Cambria" pitchFamily="18" charset="0"/>
              </a:rPr>
              <a:t>электронной почты с почтовых серверов. </a:t>
            </a:r>
            <a:r>
              <a:rPr lang="ru-RU" sz="2000" dirty="0" smtClean="0">
                <a:latin typeface="Cambria" pitchFamily="18" charset="0"/>
              </a:rPr>
              <a:t>В </a:t>
            </a:r>
            <a:r>
              <a:rPr lang="ru-RU" sz="2000" dirty="0">
                <a:latin typeface="Cambria" pitchFamily="18" charset="0"/>
              </a:rPr>
              <a:t>соответствии с ним почта принимается сервером и накапливается на нем. </a:t>
            </a:r>
          </a:p>
        </p:txBody>
      </p:sp>
      <p:sp>
        <p:nvSpPr>
          <p:cNvPr id="2" name="AutoShape 2" descr="http://www.myshared.ru/slide/381718/data/images/img15.png"/>
          <p:cNvSpPr>
            <a:spLocks noChangeAspect="1" noChangeArrowheads="1"/>
          </p:cNvSpPr>
          <p:nvPr/>
        </p:nvSpPr>
        <p:spPr bwMode="auto">
          <a:xfrm>
            <a:off x="155575" y="-2955925"/>
            <a:ext cx="6172200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 descr="http://www.myshared.ru/slide/381718/data/images/img15.png"/>
          <p:cNvSpPr>
            <a:spLocks noChangeAspect="1" noChangeArrowheads="1"/>
          </p:cNvSpPr>
          <p:nvPr/>
        </p:nvSpPr>
        <p:spPr bwMode="auto">
          <a:xfrm>
            <a:off x="307975" y="-2803525"/>
            <a:ext cx="6172200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611560" y="4285545"/>
            <a:ext cx="835150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kern="0" dirty="0">
                <a:solidFill>
                  <a:srgbClr val="336699"/>
                </a:solidFill>
                <a:latin typeface="Cambria" pitchFamily="18" charset="0"/>
                <a:cs typeface="Arial"/>
              </a:rPr>
              <a:t>Для передачи</a:t>
            </a: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 электронной почты служит протокол </a:t>
            </a:r>
            <a:r>
              <a:rPr lang="ru-RU" sz="2000" b="1" kern="0" dirty="0">
                <a:solidFill>
                  <a:srgbClr val="336699"/>
                </a:solidFill>
                <a:latin typeface="Cambria" pitchFamily="18" charset="0"/>
                <a:cs typeface="Arial"/>
              </a:rPr>
              <a:t>SMTP</a:t>
            </a: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 </a:t>
            </a:r>
            <a:r>
              <a:rPr lang="ru-RU" sz="2000" i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(</a:t>
            </a:r>
            <a:r>
              <a:rPr lang="ru-RU" sz="2000" i="1" kern="0" dirty="0" err="1">
                <a:solidFill>
                  <a:srgbClr val="000000"/>
                </a:solidFill>
                <a:latin typeface="Cambria" pitchFamily="18" charset="0"/>
                <a:cs typeface="Arial"/>
              </a:rPr>
              <a:t>Simple</a:t>
            </a:r>
            <a:r>
              <a:rPr lang="ru-RU" sz="2000" i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 </a:t>
            </a:r>
            <a:r>
              <a:rPr lang="ru-RU" sz="2000" i="1" kern="0" dirty="0" err="1">
                <a:solidFill>
                  <a:srgbClr val="000000"/>
                </a:solidFill>
                <a:latin typeface="Cambria" pitchFamily="18" charset="0"/>
                <a:cs typeface="Arial"/>
              </a:rPr>
              <a:t>Mail</a:t>
            </a:r>
            <a:r>
              <a:rPr lang="ru-RU" sz="2000" i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 </a:t>
            </a:r>
            <a:r>
              <a:rPr lang="ru-RU" sz="2000" i="1" kern="0" dirty="0" err="1">
                <a:solidFill>
                  <a:srgbClr val="000000"/>
                </a:solidFill>
                <a:latin typeface="Cambria" pitchFamily="18" charset="0"/>
                <a:cs typeface="Arial"/>
              </a:rPr>
              <a:t>Transfer</a:t>
            </a:r>
            <a:r>
              <a:rPr lang="ru-RU" sz="2000" i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 </a:t>
            </a:r>
            <a:r>
              <a:rPr lang="ru-RU" sz="2000" i="1" kern="0" dirty="0" err="1">
                <a:solidFill>
                  <a:srgbClr val="000000"/>
                </a:solidFill>
                <a:latin typeface="Cambria" pitchFamily="18" charset="0"/>
                <a:cs typeface="Arial"/>
              </a:rPr>
              <a:t>Protocol</a:t>
            </a:r>
            <a:r>
              <a:rPr lang="ru-RU" sz="2000" i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) </a:t>
            </a: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— протокол передачи сообщений электронной почты</a:t>
            </a:r>
            <a:endParaRPr lang="ru-RU" dirty="0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928" y="2553315"/>
            <a:ext cx="1714500" cy="13906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32" y="2443926"/>
            <a:ext cx="2362200" cy="19335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241674" y="2399179"/>
            <a:ext cx="29865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20000"/>
              </a:spcBef>
            </a:pPr>
            <a:r>
              <a:rPr lang="ru-RU" b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Программа — почтовый клиент — периодически </a:t>
            </a:r>
            <a:r>
              <a:rPr lang="ru-RU" b="1" kern="0" dirty="0">
                <a:latin typeface="Cambria" pitchFamily="18" charset="0"/>
                <a:cs typeface="Arial"/>
              </a:rPr>
              <a:t>проверяет почту на сервере и загружает сообщения на локальный компьютер.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195737" y="5301208"/>
            <a:ext cx="676732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spcBef>
                <a:spcPct val="20000"/>
              </a:spcBef>
            </a:pPr>
            <a:r>
              <a:rPr lang="ru-RU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Таким образом</a:t>
            </a:r>
            <a:r>
              <a:rPr lang="ru-RU" kern="0" dirty="0">
                <a:solidFill>
                  <a:srgbClr val="336699"/>
                </a:solidFill>
                <a:latin typeface="Cambria" pitchFamily="18" charset="0"/>
                <a:cs typeface="Arial"/>
              </a:rPr>
              <a:t>, </a:t>
            </a:r>
            <a:r>
              <a:rPr lang="ru-RU" i="1" kern="0" dirty="0">
                <a:solidFill>
                  <a:srgbClr val="336699"/>
                </a:solidFill>
                <a:latin typeface="Cambria" pitchFamily="18" charset="0"/>
                <a:cs typeface="Arial"/>
              </a:rPr>
              <a:t>отправление почты осуществляется с помощью SMTP, а прием с помощью РОРЗ</a:t>
            </a:r>
            <a:r>
              <a:rPr lang="ru-RU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. Вот почему в процессе создания учетной записи почты необходимо вводить названия как сервера SMTP, так и сервера РОРЗ</a:t>
            </a: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33893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4752776" cy="719807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Candara" pitchFamily="34" charset="0"/>
              </a:rPr>
              <a:t>Протокол </a:t>
            </a:r>
            <a:r>
              <a:rPr lang="en-US" dirty="0">
                <a:solidFill>
                  <a:schemeClr val="tx1"/>
                </a:solidFill>
                <a:latin typeface="Candara" pitchFamily="34" charset="0"/>
              </a:rPr>
              <a:t>HTTP</a:t>
            </a:r>
            <a:endParaRPr lang="ru-RU" dirty="0">
              <a:solidFill>
                <a:schemeClr val="tx1"/>
              </a:solidFill>
              <a:latin typeface="Candara" pitchFamily="34" charset="0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052736"/>
            <a:ext cx="7632848" cy="892696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rgbClr val="336699"/>
                </a:solidFill>
                <a:latin typeface="Cambria" pitchFamily="18" charset="0"/>
              </a:rPr>
              <a:t>Протокол HTTP </a:t>
            </a:r>
            <a:r>
              <a:rPr lang="ru-RU" sz="2000" i="1" dirty="0">
                <a:latin typeface="Cambria" pitchFamily="18" charset="0"/>
              </a:rPr>
              <a:t>(</a:t>
            </a:r>
            <a:r>
              <a:rPr lang="ru-RU" sz="2000" i="1" dirty="0" err="1">
                <a:latin typeface="Cambria" pitchFamily="18" charset="0"/>
              </a:rPr>
              <a:t>Hyper</a:t>
            </a:r>
            <a:r>
              <a:rPr lang="ru-RU" sz="2000" i="1" dirty="0">
                <a:latin typeface="Cambria" pitchFamily="18" charset="0"/>
              </a:rPr>
              <a:t> </a:t>
            </a:r>
            <a:r>
              <a:rPr lang="ru-RU" sz="2000" i="1" dirty="0" err="1">
                <a:latin typeface="Cambria" pitchFamily="18" charset="0"/>
              </a:rPr>
              <a:t>Text</a:t>
            </a:r>
            <a:r>
              <a:rPr lang="ru-RU" sz="2000" i="1" dirty="0">
                <a:latin typeface="Cambria" pitchFamily="18" charset="0"/>
              </a:rPr>
              <a:t> </a:t>
            </a:r>
            <a:r>
              <a:rPr lang="ru-RU" sz="2000" i="1" dirty="0" err="1">
                <a:latin typeface="Cambria" pitchFamily="18" charset="0"/>
              </a:rPr>
              <a:t>Transfer</a:t>
            </a:r>
            <a:r>
              <a:rPr lang="ru-RU" sz="2000" i="1" dirty="0">
                <a:latin typeface="Cambria" pitchFamily="18" charset="0"/>
              </a:rPr>
              <a:t> </a:t>
            </a:r>
            <a:r>
              <a:rPr lang="ru-RU" sz="2000" i="1" dirty="0" err="1">
                <a:latin typeface="Cambria" pitchFamily="18" charset="0"/>
              </a:rPr>
              <a:t>Protocol</a:t>
            </a:r>
            <a:r>
              <a:rPr lang="ru-RU" sz="2000" i="1" dirty="0">
                <a:latin typeface="Cambria" pitchFamily="18" charset="0"/>
              </a:rPr>
              <a:t>) </a:t>
            </a:r>
            <a:r>
              <a:rPr lang="ru-RU" sz="2000" dirty="0">
                <a:latin typeface="Cambria" pitchFamily="18" charset="0"/>
              </a:rPr>
              <a:t>— протокол обмена гипертекстовой информацией, то есть </a:t>
            </a:r>
            <a:r>
              <a:rPr lang="ru-RU" sz="2000" dirty="0">
                <a:solidFill>
                  <a:srgbClr val="336699"/>
                </a:solidFill>
                <a:latin typeface="Cambria" pitchFamily="18" charset="0"/>
              </a:rPr>
              <a:t>документами HTML</a:t>
            </a:r>
            <a:r>
              <a:rPr lang="ru-RU" sz="2000" dirty="0" smtClean="0">
                <a:latin typeface="Cambria" pitchFamily="18" charset="0"/>
              </a:rPr>
              <a:t>.</a:t>
            </a:r>
          </a:p>
          <a:p>
            <a:pPr marL="0" indent="0">
              <a:buNone/>
            </a:pPr>
            <a:endParaRPr lang="ru-RU" sz="2000" dirty="0">
              <a:latin typeface="Cambria" pitchFamily="18" charset="0"/>
            </a:endParaRPr>
          </a:p>
          <a:p>
            <a:pPr marL="0" indent="0">
              <a:buNone/>
            </a:pPr>
            <a:endParaRPr lang="ru-RU" sz="2000" dirty="0" smtClean="0">
              <a:latin typeface="Cambria" pitchFamily="18" charset="0"/>
            </a:endParaRPr>
          </a:p>
          <a:p>
            <a:pPr marL="0" indent="0">
              <a:buNone/>
            </a:pPr>
            <a:endParaRPr lang="ru-RU" sz="2000" dirty="0">
              <a:latin typeface="Cambria" pitchFamily="18" charset="0"/>
            </a:endParaRPr>
          </a:p>
          <a:p>
            <a:pPr marL="0" indent="0">
              <a:buNone/>
            </a:pPr>
            <a:r>
              <a:rPr lang="ru-RU" sz="2000" dirty="0" smtClean="0">
                <a:latin typeface="Cambria" pitchFamily="18" charset="0"/>
              </a:rPr>
              <a:t> </a:t>
            </a:r>
            <a:endParaRPr lang="ru-RU" sz="20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940152" y="1918828"/>
            <a:ext cx="293841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ru-RU" sz="2000" b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HTML </a:t>
            </a: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является базовым языком </a:t>
            </a:r>
            <a:r>
              <a:rPr lang="ru-RU" sz="2000" kern="0" dirty="0">
                <a:solidFill>
                  <a:srgbClr val="336699"/>
                </a:solidFill>
                <a:latin typeface="Cambria" pitchFamily="18" charset="0"/>
                <a:cs typeface="Arial"/>
              </a:rPr>
              <a:t>создания </a:t>
            </a:r>
            <a:r>
              <a:rPr lang="ru-RU" sz="2000" kern="0" dirty="0" err="1" smtClean="0">
                <a:solidFill>
                  <a:srgbClr val="336699"/>
                </a:solidFill>
                <a:latin typeface="Cambria" pitchFamily="18" charset="0"/>
                <a:cs typeface="Arial"/>
              </a:rPr>
              <a:t>Web</a:t>
            </a:r>
            <a:r>
              <a:rPr lang="ru-RU" sz="2000" kern="0" dirty="0" smtClean="0">
                <a:solidFill>
                  <a:srgbClr val="336699"/>
                </a:solidFill>
                <a:latin typeface="Cambria" pitchFamily="18" charset="0"/>
                <a:cs typeface="Arial"/>
              </a:rPr>
              <a:t>-страниц</a:t>
            </a:r>
            <a:r>
              <a:rPr lang="ru-RU" sz="2000" kern="0" dirty="0" smtClean="0">
                <a:solidFill>
                  <a:srgbClr val="000000"/>
                </a:solidFill>
                <a:latin typeface="Cambria" pitchFamily="18" charset="0"/>
                <a:cs typeface="Arial"/>
              </a:rPr>
              <a:t>, а HTTP </a:t>
            </a: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предназначен для их передачи в сети. Таким образом, </a:t>
            </a:r>
            <a:r>
              <a:rPr lang="ru-RU" sz="2000" kern="0" dirty="0" smtClean="0">
                <a:solidFill>
                  <a:srgbClr val="000000"/>
                </a:solidFill>
                <a:latin typeface="Cambria" pitchFamily="18" charset="0"/>
                <a:cs typeface="Arial"/>
              </a:rPr>
              <a:t>описываемый </a:t>
            </a:r>
            <a:r>
              <a:rPr lang="ru-RU" sz="2000" kern="0" dirty="0" smtClean="0">
                <a:solidFill>
                  <a:srgbClr val="336699"/>
                </a:solidFill>
                <a:latin typeface="Cambria" pitchFamily="18" charset="0"/>
                <a:cs typeface="Arial"/>
              </a:rPr>
              <a:t>протокол </a:t>
            </a:r>
            <a:r>
              <a:rPr lang="ru-RU" sz="2000" kern="0" dirty="0">
                <a:solidFill>
                  <a:srgbClr val="336699"/>
                </a:solidFill>
                <a:latin typeface="Cambria" pitchFamily="18" charset="0"/>
                <a:cs typeface="Arial"/>
              </a:rPr>
              <a:t>используется </a:t>
            </a:r>
            <a:r>
              <a:rPr lang="ru-RU" sz="2000" kern="0" dirty="0" err="1" smtClean="0">
                <a:solidFill>
                  <a:srgbClr val="336699"/>
                </a:solidFill>
                <a:latin typeface="Cambria" pitchFamily="18" charset="0"/>
                <a:cs typeface="Arial"/>
              </a:rPr>
              <a:t>Web</a:t>
            </a:r>
            <a:r>
              <a:rPr lang="ru-RU" sz="2000" kern="0" dirty="0" smtClean="0">
                <a:solidFill>
                  <a:srgbClr val="336699"/>
                </a:solidFill>
                <a:latin typeface="Cambria" pitchFamily="18" charset="0"/>
                <a:cs typeface="Arial"/>
              </a:rPr>
              <a:t>-серверами. </a:t>
            </a:r>
            <a:r>
              <a:rPr lang="ru-RU" sz="2000" kern="0" dirty="0" smtClean="0">
                <a:solidFill>
                  <a:srgbClr val="000000"/>
                </a:solidFill>
                <a:latin typeface="Cambria" pitchFamily="18" charset="0"/>
                <a:cs typeface="Arial"/>
              </a:rPr>
              <a:t>Соответственно</a:t>
            </a: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, браузеры, используемые для блуждания по Интернету, являются </a:t>
            </a:r>
            <a:r>
              <a:rPr lang="ru-RU" sz="2000" kern="0" dirty="0">
                <a:solidFill>
                  <a:srgbClr val="336699"/>
                </a:solidFill>
                <a:latin typeface="Cambria" pitchFamily="18" charset="0"/>
                <a:cs typeface="Arial"/>
              </a:rPr>
              <a:t>HTTP-клиентами</a:t>
            </a:r>
            <a:r>
              <a:rPr lang="ru-RU" sz="2000" kern="0" dirty="0">
                <a:solidFill>
                  <a:srgbClr val="336699"/>
                </a:solidFill>
                <a:latin typeface="Arial"/>
                <a:cs typeface="Arial"/>
              </a:rPr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26199"/>
            <a:ext cx="3096344" cy="2047119"/>
          </a:xfrm>
          <a:prstGeom prst="rect">
            <a:avLst/>
          </a:prstGeom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925192"/>
            <a:ext cx="3744416" cy="2058668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249758"/>
            <a:ext cx="2664296" cy="2771530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58050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404664"/>
            <a:ext cx="4104456" cy="576064"/>
          </a:xfrm>
        </p:spPr>
        <p:txBody>
          <a:bodyPr/>
          <a:lstStyle/>
          <a:p>
            <a:pPr algn="l"/>
            <a:r>
              <a:rPr lang="ru-RU" dirty="0">
                <a:solidFill>
                  <a:schemeClr val="tx1"/>
                </a:solidFill>
                <a:latin typeface="Candara" pitchFamily="34" charset="0"/>
              </a:rPr>
              <a:t>Протокол </a:t>
            </a:r>
            <a:r>
              <a:rPr lang="en-US" dirty="0">
                <a:solidFill>
                  <a:schemeClr val="tx1"/>
                </a:solidFill>
                <a:latin typeface="Candara" pitchFamily="34" charset="0"/>
              </a:rPr>
              <a:t>FTP</a:t>
            </a:r>
            <a:endParaRPr lang="ru-RU" dirty="0">
              <a:solidFill>
                <a:schemeClr val="tx1"/>
              </a:solidFill>
              <a:latin typeface="Candara" pitchFamily="34" charset="0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96752"/>
            <a:ext cx="6984776" cy="1036712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solidFill>
                  <a:srgbClr val="336699"/>
                </a:solidFill>
                <a:latin typeface="Cambria" pitchFamily="18" charset="0"/>
              </a:rPr>
              <a:t>Протокол FTP </a:t>
            </a:r>
            <a:r>
              <a:rPr lang="ru-RU" sz="2000" i="1" dirty="0">
                <a:latin typeface="Cambria" pitchFamily="18" charset="0"/>
              </a:rPr>
              <a:t>(</a:t>
            </a:r>
            <a:r>
              <a:rPr lang="ru-RU" sz="2000" i="1" dirty="0" err="1">
                <a:latin typeface="Cambria" pitchFamily="18" charset="0"/>
              </a:rPr>
              <a:t>File</a:t>
            </a:r>
            <a:r>
              <a:rPr lang="ru-RU" sz="2000" i="1" dirty="0">
                <a:latin typeface="Cambria" pitchFamily="18" charset="0"/>
              </a:rPr>
              <a:t> </a:t>
            </a:r>
            <a:r>
              <a:rPr lang="ru-RU" sz="2000" i="1" dirty="0" err="1">
                <a:latin typeface="Cambria" pitchFamily="18" charset="0"/>
              </a:rPr>
              <a:t>Transfer</a:t>
            </a:r>
            <a:r>
              <a:rPr lang="ru-RU" sz="2000" i="1" dirty="0">
                <a:latin typeface="Cambria" pitchFamily="18" charset="0"/>
              </a:rPr>
              <a:t> </a:t>
            </a:r>
            <a:r>
              <a:rPr lang="ru-RU" sz="2000" i="1" dirty="0" err="1">
                <a:latin typeface="Cambria" pitchFamily="18" charset="0"/>
              </a:rPr>
              <a:t>Protocol</a:t>
            </a:r>
            <a:r>
              <a:rPr lang="ru-RU" sz="2000" dirty="0">
                <a:latin typeface="Cambria" pitchFamily="18" charset="0"/>
              </a:rPr>
              <a:t>) — протокол передачи файлов. Служит для обмена файлами между компьютерами.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4716016" y="2204864"/>
            <a:ext cx="405293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spcBef>
                <a:spcPct val="20000"/>
              </a:spcBef>
            </a:pP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Например, вам нужно передать файл на сервер или, наоборот, скачать файл с сервера. Для этого вам нужно </a:t>
            </a:r>
            <a:r>
              <a:rPr lang="ru-RU" sz="2000" kern="0" dirty="0">
                <a:solidFill>
                  <a:srgbClr val="336699"/>
                </a:solidFill>
                <a:latin typeface="Cambria" pitchFamily="18" charset="0"/>
                <a:cs typeface="Arial"/>
              </a:rPr>
              <a:t>подключиться</a:t>
            </a: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 к </a:t>
            </a:r>
            <a:r>
              <a:rPr lang="ru-RU" sz="2000" b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файловому серверу </a:t>
            </a: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(он же FTP-сервер) и </a:t>
            </a:r>
            <a:r>
              <a:rPr lang="ru-RU" sz="2000" kern="0" dirty="0">
                <a:solidFill>
                  <a:srgbClr val="336699"/>
                </a:solidFill>
                <a:latin typeface="Cambria" pitchFamily="18" charset="0"/>
                <a:cs typeface="Arial"/>
              </a:rPr>
              <a:t>выполнить необходимую вам операцию </a:t>
            </a: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скачивания или закачки. Подключение к FTP-серверу обычно осуществляется с помощью </a:t>
            </a:r>
            <a:r>
              <a:rPr lang="ru-RU" sz="2000" b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FTP-клиента.</a:t>
            </a:r>
            <a:r>
              <a:rPr lang="ru-RU" sz="2000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 Простейший FTP-клиент входит в состав практически любой операционной системы.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716" y="2852936"/>
            <a:ext cx="2974404" cy="19857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48" y="2568689"/>
            <a:ext cx="4320480" cy="3673554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19785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shade val="30000"/>
                <a:satMod val="115000"/>
              </a:schemeClr>
            </a:gs>
            <a:gs pos="24000">
              <a:schemeClr val="accent1">
                <a:shade val="67500"/>
                <a:satMod val="115000"/>
              </a:schemeClr>
            </a:gs>
            <a:gs pos="100000">
              <a:schemeClr val="accent1">
                <a:shade val="100000"/>
                <a:satMod val="11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981075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 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826169"/>
              </p:ext>
            </p:extLst>
          </p:nvPr>
        </p:nvGraphicFramePr>
        <p:xfrm>
          <a:off x="0" y="116633"/>
          <a:ext cx="9144000" cy="6624736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13075"/>
                <a:gridCol w="7030925"/>
              </a:tblGrid>
              <a:tr h="969870">
                <a:tc>
                  <a:txBody>
                    <a:bodyPr/>
                    <a:lstStyle/>
                    <a:p>
                      <a:pPr algn="ctr"/>
                      <a:r>
                        <a:rPr lang="ru-RU" b="0" i="1" dirty="0" smtClean="0">
                          <a:latin typeface="Cambria" pitchFamily="18" charset="0"/>
                        </a:rPr>
                        <a:t>Транспортные</a:t>
                      </a:r>
                    </a:p>
                    <a:p>
                      <a:pPr algn="ctr"/>
                      <a:r>
                        <a:rPr lang="ru-RU" b="0" i="1" dirty="0" smtClean="0">
                          <a:latin typeface="Cambria" pitchFamily="18" charset="0"/>
                        </a:rPr>
                        <a:t>протоколы</a:t>
                      </a:r>
                      <a:endParaRPr lang="ru-RU" b="0" i="1" dirty="0"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latin typeface="Cambria" pitchFamily="18" charset="0"/>
                        </a:rPr>
                        <a:t>TCP – </a:t>
                      </a:r>
                      <a:r>
                        <a:rPr lang="ru-RU" b="1" i="1" dirty="0" err="1" smtClean="0">
                          <a:latin typeface="Cambria" pitchFamily="18" charset="0"/>
                        </a:rPr>
                        <a:t>Transmission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1" i="1" dirty="0" err="1" smtClean="0">
                          <a:latin typeface="Cambria" pitchFamily="18" charset="0"/>
                        </a:rPr>
                        <a:t>Control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1" i="1" dirty="0" err="1" smtClean="0">
                          <a:latin typeface="Cambria" pitchFamily="18" charset="0"/>
                        </a:rPr>
                        <a:t>Protocol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0" i="1" dirty="0" smtClean="0">
                          <a:latin typeface="Cambria" pitchFamily="18" charset="0"/>
                        </a:rPr>
                        <a:t>(протокол управления</a:t>
                      </a:r>
                    </a:p>
                    <a:p>
                      <a:pPr algn="ctr"/>
                      <a:r>
                        <a:rPr lang="ru-RU" b="0" i="1" dirty="0" smtClean="0">
                          <a:latin typeface="Cambria" pitchFamily="18" charset="0"/>
                        </a:rPr>
                        <a:t>передачей данных)</a:t>
                      </a:r>
                      <a:r>
                        <a:rPr lang="ru-RU" b="0" baseline="0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0" dirty="0" smtClean="0">
                          <a:latin typeface="Cambria" pitchFamily="18" charset="0"/>
                        </a:rPr>
                        <a:t>– управляет передачей данных между</a:t>
                      </a:r>
                    </a:p>
                    <a:p>
                      <a:pPr algn="ctr"/>
                      <a:r>
                        <a:rPr lang="ru-RU" b="0" dirty="0" smtClean="0">
                          <a:latin typeface="Cambria" pitchFamily="18" charset="0"/>
                        </a:rPr>
                        <a:t>компьютерами</a:t>
                      </a:r>
                      <a:endParaRPr lang="ru-RU" b="0" dirty="0">
                        <a:latin typeface="Cambria" pitchFamily="18" charset="0"/>
                      </a:endParaRPr>
                    </a:p>
                  </a:txBody>
                  <a:tcPr/>
                </a:tc>
              </a:tr>
              <a:tr h="1204156">
                <a:tc>
                  <a:txBody>
                    <a:bodyPr/>
                    <a:lstStyle/>
                    <a:p>
                      <a:pPr algn="ctr"/>
                      <a:r>
                        <a:rPr lang="ru-RU" b="0" i="1" dirty="0" smtClean="0">
                          <a:latin typeface="Cambria" pitchFamily="18" charset="0"/>
                        </a:rPr>
                        <a:t>Протоколы</a:t>
                      </a:r>
                    </a:p>
                    <a:p>
                      <a:pPr algn="ctr"/>
                      <a:r>
                        <a:rPr lang="ru-RU" b="0" i="1" dirty="0" smtClean="0">
                          <a:latin typeface="Cambria" pitchFamily="18" charset="0"/>
                        </a:rPr>
                        <a:t>маршрутизации</a:t>
                      </a:r>
                      <a:endParaRPr lang="ru-RU" b="0" i="1" dirty="0"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latin typeface="Cambria" pitchFamily="18" charset="0"/>
                        </a:rPr>
                        <a:t>IP 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– </a:t>
                      </a:r>
                      <a:r>
                        <a:rPr lang="ru-RU" b="1" i="1" dirty="0" err="1" smtClean="0">
                          <a:latin typeface="Cambria" pitchFamily="18" charset="0"/>
                        </a:rPr>
                        <a:t>Internet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1" i="1" dirty="0" err="1" smtClean="0">
                          <a:latin typeface="Cambria" pitchFamily="18" charset="0"/>
                        </a:rPr>
                        <a:t>Protocol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0" i="1" dirty="0" smtClean="0">
                          <a:latin typeface="Cambria" pitchFamily="18" charset="0"/>
                        </a:rPr>
                        <a:t>(протокол Интернета</a:t>
                      </a:r>
                      <a:r>
                        <a:rPr lang="ru-RU" b="0" dirty="0" smtClean="0">
                          <a:latin typeface="Cambria" pitchFamily="18" charset="0"/>
                        </a:rPr>
                        <a:t>)</a:t>
                      </a:r>
                      <a:r>
                        <a:rPr lang="ru-RU" b="0" baseline="0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0" dirty="0" smtClean="0">
                          <a:latin typeface="Cambria" pitchFamily="18" charset="0"/>
                        </a:rPr>
                        <a:t>– обеспечивает</a:t>
                      </a:r>
                      <a:r>
                        <a:rPr lang="ru-RU" b="0" baseline="0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0" dirty="0" smtClean="0">
                          <a:latin typeface="Cambria" pitchFamily="18" charset="0"/>
                        </a:rPr>
                        <a:t>фактическую передачу данных, обрабатывает адресацию</a:t>
                      </a:r>
                      <a:r>
                        <a:rPr lang="ru-RU" b="0" baseline="0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0" dirty="0" smtClean="0">
                          <a:latin typeface="Cambria" pitchFamily="18" charset="0"/>
                        </a:rPr>
                        <a:t>данных,</a:t>
                      </a:r>
                    </a:p>
                    <a:p>
                      <a:pPr algn="ctr"/>
                      <a:r>
                        <a:rPr lang="ru-RU" b="0" dirty="0" smtClean="0">
                          <a:latin typeface="Cambria" pitchFamily="18" charset="0"/>
                        </a:rPr>
                        <a:t>определяет наилучший путь к адресату</a:t>
                      </a:r>
                      <a:endParaRPr lang="ru-RU" b="0" dirty="0">
                        <a:latin typeface="Cambria" pitchFamily="18" charset="0"/>
                      </a:endParaRPr>
                    </a:p>
                  </a:txBody>
                  <a:tcPr/>
                </a:tc>
              </a:tr>
              <a:tr h="926274">
                <a:tc>
                  <a:txBody>
                    <a:bodyPr/>
                    <a:lstStyle/>
                    <a:p>
                      <a:pPr algn="ctr"/>
                      <a:r>
                        <a:rPr lang="ru-RU" b="0" i="1" dirty="0" smtClean="0">
                          <a:latin typeface="Cambria" pitchFamily="18" charset="0"/>
                        </a:rPr>
                        <a:t>Протоколы поддержки</a:t>
                      </a:r>
                      <a:r>
                        <a:rPr lang="ru-RU" b="0" i="1" baseline="0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0" i="1" dirty="0" smtClean="0">
                          <a:latin typeface="Cambria" pitchFamily="18" charset="0"/>
                        </a:rPr>
                        <a:t>сетевого адреса</a:t>
                      </a:r>
                      <a:endParaRPr lang="ru-RU" b="0" i="1" dirty="0"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latin typeface="Cambria" pitchFamily="18" charset="0"/>
                        </a:rPr>
                        <a:t>DSN 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– </a:t>
                      </a:r>
                      <a:r>
                        <a:rPr lang="ru-RU" b="1" i="1" dirty="0" err="1" smtClean="0">
                          <a:latin typeface="Cambria" pitchFamily="18" charset="0"/>
                        </a:rPr>
                        <a:t>Domain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1" i="1" dirty="0" err="1" smtClean="0">
                          <a:latin typeface="Cambria" pitchFamily="18" charset="0"/>
                        </a:rPr>
                        <a:t>Name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1" i="1" dirty="0" err="1" smtClean="0">
                          <a:latin typeface="Cambria" pitchFamily="18" charset="0"/>
                        </a:rPr>
                        <a:t>System</a:t>
                      </a:r>
                      <a:r>
                        <a:rPr lang="ru-RU" b="1" i="1" baseline="0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0" i="1" dirty="0" smtClean="0">
                          <a:latin typeface="Cambria" pitchFamily="18" charset="0"/>
                        </a:rPr>
                        <a:t>(доменная система имен)</a:t>
                      </a:r>
                      <a:r>
                        <a:rPr lang="ru-RU" b="0" dirty="0" smtClean="0">
                          <a:latin typeface="Cambria" pitchFamily="18" charset="0"/>
                        </a:rPr>
                        <a:t> –</a:t>
                      </a:r>
                    </a:p>
                    <a:p>
                      <a:pPr algn="ctr"/>
                      <a:r>
                        <a:rPr lang="ru-RU" b="0" dirty="0" smtClean="0">
                          <a:latin typeface="Cambria" pitchFamily="18" charset="0"/>
                        </a:rPr>
                        <a:t>обеспечивает определение уникального адреса компьютера</a:t>
                      </a:r>
                      <a:endParaRPr lang="ru-RU" b="0" dirty="0">
                        <a:latin typeface="Cambria" pitchFamily="18" charset="0"/>
                      </a:endParaRPr>
                    </a:p>
                  </a:txBody>
                  <a:tcPr/>
                </a:tc>
              </a:tr>
              <a:tr h="974018">
                <a:tc>
                  <a:txBody>
                    <a:bodyPr/>
                    <a:lstStyle/>
                    <a:p>
                      <a:pPr algn="ctr"/>
                      <a:r>
                        <a:rPr lang="ru-RU" b="0" i="1" dirty="0" smtClean="0">
                          <a:latin typeface="Cambria" pitchFamily="18" charset="0"/>
                        </a:rPr>
                        <a:t>Протоколы прикладных</a:t>
                      </a:r>
                    </a:p>
                    <a:p>
                      <a:pPr algn="ctr"/>
                      <a:r>
                        <a:rPr lang="ru-RU" b="0" i="1" dirty="0" smtClean="0">
                          <a:latin typeface="Cambria" pitchFamily="18" charset="0"/>
                        </a:rPr>
                        <a:t>серверов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Cambria" pitchFamily="18" charset="0"/>
                        </a:rPr>
                        <a:t>FTP </a:t>
                      </a:r>
                      <a:r>
                        <a:rPr lang="en-US" b="1" i="1" dirty="0" smtClean="0">
                          <a:latin typeface="Cambria" pitchFamily="18" charset="0"/>
                        </a:rPr>
                        <a:t>– File Transfer Protocol </a:t>
                      </a:r>
                      <a:r>
                        <a:rPr lang="en-US" b="0" i="1" dirty="0" smtClean="0">
                          <a:latin typeface="Cambria" pitchFamily="18" charset="0"/>
                        </a:rPr>
                        <a:t>(</a:t>
                      </a:r>
                      <a:r>
                        <a:rPr lang="ru-RU" b="0" i="1" dirty="0" smtClean="0">
                          <a:latin typeface="Cambria" pitchFamily="18" charset="0"/>
                        </a:rPr>
                        <a:t>протокол передачи данных);</a:t>
                      </a:r>
                      <a:endParaRPr lang="ru-RU" b="0" i="1" baseline="0" dirty="0" smtClean="0">
                        <a:latin typeface="Cambria" pitchFamily="18" charset="0"/>
                      </a:endParaRPr>
                    </a:p>
                    <a:p>
                      <a:pPr algn="ctr"/>
                      <a:r>
                        <a:rPr lang="en-US" b="1" dirty="0" smtClean="0">
                          <a:latin typeface="Cambria" pitchFamily="18" charset="0"/>
                        </a:rPr>
                        <a:t>HTTP – </a:t>
                      </a:r>
                      <a:r>
                        <a:rPr lang="en-US" b="1" i="1" dirty="0" smtClean="0">
                          <a:latin typeface="Cambria" pitchFamily="18" charset="0"/>
                        </a:rPr>
                        <a:t>Hyper Text Transfer Protocol</a:t>
                      </a:r>
                      <a:r>
                        <a:rPr lang="ru-RU" b="1" i="1" baseline="0" dirty="0" smtClean="0">
                          <a:latin typeface="Cambria" pitchFamily="18" charset="0"/>
                        </a:rPr>
                        <a:t> </a:t>
                      </a:r>
                      <a:r>
                        <a:rPr lang="en-US" b="0" i="1" dirty="0" smtClean="0">
                          <a:latin typeface="Cambria" pitchFamily="18" charset="0"/>
                        </a:rPr>
                        <a:t>(</a:t>
                      </a:r>
                      <a:r>
                        <a:rPr lang="ru-RU" b="0" i="1" dirty="0" smtClean="0">
                          <a:latin typeface="Cambria" pitchFamily="18" charset="0"/>
                        </a:rPr>
                        <a:t>протокол передачи</a:t>
                      </a:r>
                    </a:p>
                    <a:p>
                      <a:pPr algn="ctr"/>
                      <a:r>
                        <a:rPr lang="ru-RU" b="0" i="1" dirty="0" smtClean="0">
                          <a:latin typeface="Cambria" pitchFamily="18" charset="0"/>
                        </a:rPr>
                        <a:t>гипертекста)</a:t>
                      </a:r>
                    </a:p>
                  </a:txBody>
                  <a:tcPr/>
                </a:tc>
              </a:tr>
              <a:tr h="11432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1" dirty="0" smtClean="0">
                          <a:latin typeface="Cambria" pitchFamily="18" charset="0"/>
                        </a:rPr>
                        <a:t>Шлюзовые протоколы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latin typeface="Cambria" pitchFamily="18" charset="0"/>
                        </a:rPr>
                        <a:t>EGP – </a:t>
                      </a:r>
                      <a:r>
                        <a:rPr lang="ru-RU" b="1" i="1" dirty="0" err="1" smtClean="0">
                          <a:latin typeface="Cambria" pitchFamily="18" charset="0"/>
                        </a:rPr>
                        <a:t>Exterior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1" i="1" dirty="0" err="1" smtClean="0">
                          <a:latin typeface="Cambria" pitchFamily="18" charset="0"/>
                        </a:rPr>
                        <a:t>Gateway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1" i="1" dirty="0" err="1" smtClean="0">
                          <a:latin typeface="Cambria" pitchFamily="18" charset="0"/>
                        </a:rPr>
                        <a:t>Protocol</a:t>
                      </a:r>
                      <a:r>
                        <a:rPr lang="ru-RU" b="1" i="1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0" i="1" dirty="0" smtClean="0">
                          <a:latin typeface="Cambria" pitchFamily="18" charset="0"/>
                        </a:rPr>
                        <a:t>(внешний </a:t>
                      </a:r>
                      <a:r>
                        <a:rPr lang="ru-RU" b="0" i="1" dirty="0" err="1" smtClean="0">
                          <a:latin typeface="Cambria" pitchFamily="18" charset="0"/>
                        </a:rPr>
                        <a:t>шлюзовый</a:t>
                      </a:r>
                      <a:r>
                        <a:rPr lang="ru-RU" b="0" i="1" dirty="0" smtClean="0">
                          <a:latin typeface="Cambria" pitchFamily="18" charset="0"/>
                        </a:rPr>
                        <a:t> протокол) </a:t>
                      </a:r>
                      <a:r>
                        <a:rPr lang="ru-RU" b="0" dirty="0" smtClean="0">
                          <a:latin typeface="Cambria" pitchFamily="18" charset="0"/>
                        </a:rPr>
                        <a:t>–</a:t>
                      </a:r>
                      <a:r>
                        <a:rPr lang="ru-RU" b="0" baseline="0" dirty="0" smtClean="0">
                          <a:latin typeface="Cambria" pitchFamily="18" charset="0"/>
                        </a:rPr>
                        <a:t> </a:t>
                      </a:r>
                      <a:r>
                        <a:rPr lang="ru-RU" b="0" dirty="0" smtClean="0">
                          <a:latin typeface="Cambria" pitchFamily="18" charset="0"/>
                        </a:rPr>
                        <a:t>помогает передавать по сети, а также обрабатывать данные для</a:t>
                      </a:r>
                    </a:p>
                    <a:p>
                      <a:pPr algn="ctr"/>
                      <a:r>
                        <a:rPr lang="ru-RU" b="0" dirty="0" smtClean="0">
                          <a:latin typeface="Cambria" pitchFamily="18" charset="0"/>
                        </a:rPr>
                        <a:t>локальных сетей</a:t>
                      </a:r>
                      <a:endParaRPr lang="ru-RU" b="0" dirty="0">
                        <a:latin typeface="Cambria" pitchFamily="18" charset="0"/>
                      </a:endParaRPr>
                    </a:p>
                  </a:txBody>
                  <a:tcPr/>
                </a:tc>
              </a:tr>
              <a:tr h="14071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1" dirty="0" smtClean="0">
                          <a:latin typeface="Cambria" pitchFamily="18" charset="0"/>
                        </a:rPr>
                        <a:t>Почтовые протоколы</a:t>
                      </a:r>
                    </a:p>
                    <a:p>
                      <a:pPr algn="ctr"/>
                      <a:endParaRPr lang="ru-RU" b="0" i="1" dirty="0" smtClean="0">
                        <a:latin typeface="Cambria" pitchFamily="18" charset="0"/>
                      </a:endParaRPr>
                    </a:p>
                    <a:p>
                      <a:pPr algn="ctr"/>
                      <a:endParaRPr lang="ru-RU" b="0" i="1" dirty="0"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Cambria" pitchFamily="18" charset="0"/>
                        </a:rPr>
                        <a:t>POP – </a:t>
                      </a:r>
                      <a:r>
                        <a:rPr lang="en-US" b="1" i="1" dirty="0" smtClean="0">
                          <a:latin typeface="Cambria" pitchFamily="18" charset="0"/>
                        </a:rPr>
                        <a:t>Post Office Protocol</a:t>
                      </a:r>
                      <a:r>
                        <a:rPr lang="en-US" b="0" i="1" dirty="0" smtClean="0">
                          <a:latin typeface="Cambria" pitchFamily="18" charset="0"/>
                        </a:rPr>
                        <a:t> (</a:t>
                      </a:r>
                      <a:r>
                        <a:rPr lang="ru-RU" b="0" i="1" dirty="0" smtClean="0">
                          <a:latin typeface="Cambria" pitchFamily="18" charset="0"/>
                        </a:rPr>
                        <a:t>протокол приема почты);</a:t>
                      </a:r>
                    </a:p>
                    <a:p>
                      <a:pPr algn="ctr"/>
                      <a:r>
                        <a:rPr lang="en-US" b="1" dirty="0" smtClean="0">
                          <a:latin typeface="Cambria" pitchFamily="18" charset="0"/>
                        </a:rPr>
                        <a:t>SMTP</a:t>
                      </a:r>
                      <a:r>
                        <a:rPr lang="ru-RU" b="1" dirty="0" smtClean="0">
                          <a:latin typeface="Cambria" pitchFamily="18" charset="0"/>
                        </a:rPr>
                        <a:t>-</a:t>
                      </a:r>
                      <a:r>
                        <a:rPr lang="en-US" b="1" i="1" dirty="0" smtClean="0">
                          <a:latin typeface="Cambria" pitchFamily="18" charset="0"/>
                        </a:rPr>
                        <a:t>Simple Mail Transfer Protocol</a:t>
                      </a:r>
                      <a:r>
                        <a:rPr lang="en-US" b="0" i="1" dirty="0" smtClean="0">
                          <a:latin typeface="Cambria" pitchFamily="18" charset="0"/>
                        </a:rPr>
                        <a:t> (</a:t>
                      </a:r>
                      <a:r>
                        <a:rPr lang="ru-RU" b="0" i="1" dirty="0" smtClean="0">
                          <a:latin typeface="Cambria" pitchFamily="18" charset="0"/>
                        </a:rPr>
                        <a:t>протокол передачи почты)</a:t>
                      </a:r>
                    </a:p>
                    <a:p>
                      <a:pPr algn="ctr"/>
                      <a:r>
                        <a:rPr lang="ru-RU" b="0" dirty="0" smtClean="0">
                          <a:latin typeface="Cambria" pitchFamily="18" charset="0"/>
                        </a:rPr>
                        <a:t>используется для передачи почтовых сообщений</a:t>
                      </a:r>
                    </a:p>
                    <a:p>
                      <a:pPr algn="ctr"/>
                      <a:endParaRPr lang="ru-RU" b="0" dirty="0">
                        <a:latin typeface="Cambria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3006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6192688" cy="778098"/>
          </a:xfrm>
        </p:spPr>
        <p:txBody>
          <a:bodyPr/>
          <a:lstStyle/>
          <a:p>
            <a:r>
              <a:rPr lang="ru-RU" sz="4000" dirty="0" smtClean="0">
                <a:latin typeface="Candara" pitchFamily="34" charset="0"/>
              </a:rPr>
              <a:t>Взаимосвязь протоколов</a:t>
            </a:r>
            <a:endParaRPr lang="ru-RU" sz="4000" dirty="0">
              <a:latin typeface="Candara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935" y="1484784"/>
            <a:ext cx="6267450" cy="4600575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71727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32656"/>
            <a:ext cx="6876256" cy="922114"/>
          </a:xfrm>
        </p:spPr>
        <p:txBody>
          <a:bodyPr/>
          <a:lstStyle/>
          <a:p>
            <a:r>
              <a:rPr lang="ru-RU" sz="4000" dirty="0" smtClean="0">
                <a:latin typeface="Candara" pitchFamily="34" charset="0"/>
              </a:rPr>
              <a:t>Развитие </a:t>
            </a:r>
            <a:r>
              <a:rPr lang="en-US" sz="4000" dirty="0" smtClean="0">
                <a:latin typeface="Candara" pitchFamily="34" charset="0"/>
              </a:rPr>
              <a:t>IP </a:t>
            </a:r>
            <a:br>
              <a:rPr lang="en-US" sz="4000" dirty="0" smtClean="0">
                <a:latin typeface="Candara" pitchFamily="34" charset="0"/>
              </a:rPr>
            </a:br>
            <a:r>
              <a:rPr lang="en-US" sz="4000" dirty="0" smtClean="0">
                <a:latin typeface="Candara" pitchFamily="34" charset="0"/>
              </a:rPr>
              <a:t>(Internet </a:t>
            </a:r>
            <a:r>
              <a:rPr lang="ru-RU" sz="4000" dirty="0" smtClean="0">
                <a:latin typeface="Candara" pitchFamily="34" charset="0"/>
              </a:rPr>
              <a:t>протокола</a:t>
            </a:r>
            <a:r>
              <a:rPr lang="en-US" sz="4000" dirty="0" smtClean="0">
                <a:latin typeface="Candara" pitchFamily="34" charset="0"/>
              </a:rPr>
              <a:t>)</a:t>
            </a:r>
            <a:endParaRPr lang="ru-RU" sz="4000" dirty="0">
              <a:latin typeface="Candara" pitchFamily="34" charset="0"/>
            </a:endParaRPr>
          </a:p>
        </p:txBody>
      </p:sp>
      <p:graphicFrame>
        <p:nvGraphicFramePr>
          <p:cNvPr id="11" name="Объект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654649"/>
              </p:ext>
            </p:extLst>
          </p:nvPr>
        </p:nvGraphicFramePr>
        <p:xfrm>
          <a:off x="1259632" y="1988840"/>
          <a:ext cx="7272808" cy="396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868107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88913"/>
            <a:ext cx="5256584" cy="981075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Candara" pitchFamily="34" charset="0"/>
              </a:rPr>
              <a:t>Заключение</a:t>
            </a:r>
            <a:endParaRPr lang="ru-RU" dirty="0">
              <a:solidFill>
                <a:schemeClr val="tx1"/>
              </a:solidFill>
              <a:latin typeface="Candara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60" y="2852936"/>
            <a:ext cx="1956048" cy="21374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20" y="1196752"/>
            <a:ext cx="7056784" cy="1326356"/>
          </a:xfrm>
        </p:spPr>
        <p:txBody>
          <a:bodyPr/>
          <a:lstStyle/>
          <a:p>
            <a:pPr marL="0" indent="0">
              <a:buNone/>
            </a:pPr>
            <a:r>
              <a:rPr lang="ru-RU" sz="2000" b="1" i="1" dirty="0">
                <a:latin typeface="Cambria" pitchFamily="18" charset="0"/>
              </a:rPr>
              <a:t>Стандарты Интернета играют </a:t>
            </a:r>
            <a:r>
              <a:rPr lang="ru-RU" sz="2000" b="1" i="1" dirty="0">
                <a:solidFill>
                  <a:srgbClr val="336699"/>
                </a:solidFill>
                <a:latin typeface="Cambria" pitchFamily="18" charset="0"/>
              </a:rPr>
              <a:t>двоякую роль</a:t>
            </a:r>
            <a:r>
              <a:rPr lang="ru-RU" sz="2000" b="1" i="1" dirty="0">
                <a:latin typeface="Cambria" pitchFamily="18" charset="0"/>
              </a:rPr>
              <a:t>. </a:t>
            </a:r>
            <a:endParaRPr lang="en-US" sz="2000" b="1" i="1" dirty="0" smtClean="0">
              <a:latin typeface="Cambria" pitchFamily="18" charset="0"/>
            </a:endParaRPr>
          </a:p>
          <a:p>
            <a:pPr marL="0" indent="0">
              <a:buNone/>
            </a:pPr>
            <a:r>
              <a:rPr lang="ru-RU" sz="1800" i="1" dirty="0" smtClean="0">
                <a:latin typeface="Cambria" pitchFamily="18" charset="0"/>
              </a:rPr>
              <a:t>С </a:t>
            </a:r>
            <a:r>
              <a:rPr lang="ru-RU" sz="1800" i="1" dirty="0">
                <a:latin typeface="Cambria" pitchFamily="18" charset="0"/>
              </a:rPr>
              <a:t>одной стороны, они являются </a:t>
            </a:r>
            <a:r>
              <a:rPr lang="ru-RU" sz="1800" b="1" i="1" dirty="0">
                <a:latin typeface="Cambria" pitchFamily="18" charset="0"/>
              </a:rPr>
              <a:t>строительными блоками, </a:t>
            </a:r>
            <a:r>
              <a:rPr lang="ru-RU" sz="1800" i="1" dirty="0">
                <a:latin typeface="Cambria" pitchFamily="18" charset="0"/>
              </a:rPr>
              <a:t>на основе которых разработчики могут создавать приложения и распределенные системы. </a:t>
            </a:r>
            <a:r>
              <a:rPr lang="ru-RU" sz="1800" i="1" dirty="0" smtClean="0">
                <a:latin typeface="Cambria" pitchFamily="18" charset="0"/>
              </a:rPr>
              <a:t>. </a:t>
            </a:r>
            <a:endParaRPr lang="ru-RU" sz="1800" i="1" dirty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550196"/>
            <a:ext cx="2664296" cy="28803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6012160" y="3068960"/>
            <a:ext cx="288032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i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С другой стороны, стандарты Интернета </a:t>
            </a:r>
            <a:r>
              <a:rPr lang="ru-RU" b="1" i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обеспечивают взаимодействие между компонентами</a:t>
            </a:r>
            <a:r>
              <a:rPr lang="ru-RU" i="1" kern="0" dirty="0">
                <a:solidFill>
                  <a:srgbClr val="000000"/>
                </a:solidFill>
                <a:latin typeface="Cambria" pitchFamily="18" charset="0"/>
                <a:cs typeface="Arial"/>
              </a:rPr>
              <a:t>, созданными различными производителями. Это открывает широкие возможности для глобального объединения разобщенных </a:t>
            </a:r>
            <a:r>
              <a:rPr lang="ru-RU" i="1" kern="0" dirty="0" smtClean="0">
                <a:solidFill>
                  <a:srgbClr val="000000"/>
                </a:solidFill>
                <a:latin typeface="Cambria" pitchFamily="18" charset="0"/>
                <a:cs typeface="Arial"/>
              </a:rPr>
              <a:t>систем.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4930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5515</TotalTime>
  <Words>787</Words>
  <Application>Microsoft Office PowerPoint</Application>
  <PresentationFormat>Экран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Cambria</vt:lpstr>
      <vt:lpstr>Candara</vt:lpstr>
      <vt:lpstr>Segoe Print</vt:lpstr>
      <vt:lpstr>Diseño predeterminado</vt:lpstr>
      <vt:lpstr>Протоколы сети Internet</vt:lpstr>
      <vt:lpstr>Определение</vt:lpstr>
      <vt:lpstr>Базовый протокол</vt:lpstr>
      <vt:lpstr>Краткое описание</vt:lpstr>
      <vt:lpstr>Значение</vt:lpstr>
      <vt:lpstr>POP3/SMTP </vt:lpstr>
      <vt:lpstr>Протокол HTTP</vt:lpstr>
      <vt:lpstr>Протокол FTP</vt:lpstr>
      <vt:lpstr> </vt:lpstr>
      <vt:lpstr>Взаимосвязь протоколов</vt:lpstr>
      <vt:lpstr>Развитие IP  (Internet протокола)</vt:lpstr>
      <vt:lpstr>Заключение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Володин Сергей Михайлович</cp:lastModifiedBy>
  <cp:revision>735</cp:revision>
  <dcterms:created xsi:type="dcterms:W3CDTF">2010-05-23T14:28:12Z</dcterms:created>
  <dcterms:modified xsi:type="dcterms:W3CDTF">2019-04-08T13:53:57Z</dcterms:modified>
</cp:coreProperties>
</file>